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2ba9f1a0-3a8d-7e4f-1531-f0a8e39e82c2}">
          <p14:sldIdLst>
            <p14:sldId id="256"/>
            <p14:sldId id="257"/>
          </p14:sldIdLst>
        </p14:section>
        <p14:section name="0–5 · Open" id="{47fbdc69-00f0-12f7-aced-df1969dc9003}">
          <p14:sldIdLst>
            <p14:sldId id="258"/>
            <p14:sldId id="259"/>
          </p14:sldIdLst>
        </p14:section>
        <p14:section name="5–12 · Five words first" id="{4123f3bb-6dea-f456-6c09-0800519aef18}">
          <p14:sldIdLst>
            <p14:sldId id="260"/>
            <p14:sldId id="261"/>
          </p14:sldIdLst>
        </p14:section>
        <p14:section name="12–18 · Cognates" id="{2b5ce5c7-d2b3-5c51-1f5e-99fe924c034b}">
          <p14:sldIdLst>
            <p14:sldId id="262"/>
            <p14:sldId id="263"/>
          </p14:sldIdLst>
        </p14:section>
        <p14:section name="18–33 · Listening" id="{3fcae1e0-312e-c271-a361-2359241342db}">
          <p14:sldIdLst>
            <p14:sldId id="264"/>
            <p14:sldId id="265"/>
            <p14:sldId id="266"/>
            <p14:sldId id="267"/>
          </p14:sldIdLst>
        </p14:section>
        <p14:section name="33–50 · Reading" id="{e47de70b-68d3-32bf-d1c7-5e6178d4adae}">
          <p14:sldIdLst>
            <p14:sldId id="268"/>
            <p14:sldId id="269"/>
            <p14:sldId id="270"/>
          </p14:sldIdLst>
        </p14:section>
        <p14:section name="50–60 · Talk before writing" id="{cd071bcc-9f2b-6ce3-1854-7b9bddec90e3}">
          <p14:sldIdLst>
            <p14:sldId id="271"/>
            <p14:sldId id="272"/>
            <p14:sldId id="273"/>
          </p14:sldIdLst>
        </p14:section>
        <p14:section name="60–80 · Writing" id="{95590c67-5c4a-3e56-51a1-fbd1704f121b}">
          <p14:sldIdLst>
            <p14:sldId id="274"/>
            <p14:sldId id="275"/>
            <p14:sldId id="276"/>
          </p14:sldIdLst>
        </p14:section>
        <p14:section name="80–87 · S4 / S2" id="{344e37a6-98ab-21a9-3d2d-fe7c45d1c269}">
          <p14:sldIdLst>
            <p14:sldId id="277"/>
            <p14:sldId id="278"/>
          </p14:sldIdLst>
        </p14:section>
        <p14:section name="87–90 · Exit" id="{9918c45e-ea96-be2d-e271-55bd63099728}">
          <p14:sldIdLst>
            <p14:sldId id="279"/>
            <p14:sldId id="280"/>
          </p14:sldIdLst>
        </p14:section>
        <p14:section name="Teacher" id="{d013dfe0-7899-3767-d4e9-4f25daa3c680}">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this while students come in. The objective is in student words — read it with the class at minute 0. Timers: each section slide has a badge; click it to open a full-screen countdown in a new tab (radan55.github.io/everyteacher/timer.html). Keep the countdown on the projector and advance the slides on your laptop, or drag the timer window to a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plan with teacher moves is on the hub: six-pies-elpa21.html → 90-minute plan. Materials: student packets by lane, teacher pages, a device per Progressing/Challenge pair for the S4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pie 1 only. Take three answers; a single word counts. Then read the objective slide aloud with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each word; class echoes; pairs say it to each other. Point to crust and filling on the slice as you say them. Write ingrediente beside ingredient. Use the same five words the whole block — don't switch to 'pastry' or 'piece' later without saying they're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circle on the cover page of the packet; pairs compare; collect five on the board. Vietnamese, Arabic and Chinese speakers: ask which words sound like a word they know — 'lemon', 'coconut' and 'vanilla' travel across many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 (read twice): A1. This pie is made with nuts. The top is brown and sticky because of the corn syrup. (5) A2. This pie has a white topping and a yellow filling. The topping is whipped cream, and there is lemon zest on top. The crust is made of graham crackers. (6) A3. This pie is orange. It is made with a vegetable, brown sugar and cinnamon.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B (read twice; three times for Emerging): Maya: We need two pies for the bake sale on Friday. I was thinking pecan pie — everybody loves it. Daniel: Pecan is good, but pecans are expensive right now. Buttermilk pie costs almost nothing. It's just buttermilk, sugar, eggs and butter. Maya: True. But people don't always know what buttermilk pie is. Pecan sells itself. Daniel: Then let's do one of each. Maya: Deal. I'll buy the pecans tonight. Can you make the buttermilk pie Thursday after school? Daniel: Sure — it only takes an hour. KEY: bake sale · cheap to make · one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C (read twice): Three of these pies — buttermilk, chess and sweet potato — are called custard pies. A custard is a mixture of eggs, sugar and milk or cream. When you bake a custard, the proteins in the eggs change shape and link together. That is what turns a liquid into a soft solid. If the oven is too hot, the proteins tighten too much, and the pie cracks or turns watery. So custard pies are usually baked at a moderate temperature, and the center should still move a little — the cooks say it should jiggle — when you take the pie out. It finishes setting as it cools. KEY: egg proteins linking together · when the center still moves a little.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together (30 s): title, bold pie names, the picture. Give the reading job. Then unpack the sentence on the next slide before students read. Students read by lane; pairs compare before the class check with fingers a/b/c/d.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whole class, before they read. Rewrite together: Some people say 'chess' comes from 'chest.' A pie chest was a wooden cabinet. People used it before refrigerators.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A talks for a minute, B listens and says back one thing, switch. Count to five before calling on anyone. Pick who shares — you pick, not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then switch. Everyone writes one thing their partner said in the packet. Listen for 'because'.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up for the whole writing block. Model one W2 sentence on the board about two pies you did NOT assign. Pull Newcomers/Emerging to a table. Feedback on ONE thing today: both / only / unlike used correctly. By minute 70 every student has a sentence with 'both' or 'unlike' — read two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Newcomers: W1 — label the photos (pecan 5, lemon icebox 6, sweet potato 4) and complete the frames. Emerging: these four frames. Score the content fully; one language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Progressing/Challenge record on a device (phone voice memo or Chromebook). Newcomer/Emerging at the teacher table do S2 pointing at the ingredient list; two sequence words is the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Sort the tickets into lanes on your desk after class: who used a connector, who used a frame, who wrote a word. That sort is tomorrow's grouping.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Elena's session on Emerging and Progressing (pd-library.html) is the eight-minute PD that sits behind this lesson's design: five words first, frames in four lanes, check by showing, talk before writing, grade the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6583680"/>
            <a:ext cx="12188952" cy="274320"/>
          </a:xfrm>
          <a:prstGeom prst="rect">
            <a:avLst/>
          </a:prstGeom>
          <a:solidFill>
            <a:srgbClr val="C9A227"/>
          </a:solidFill>
          <a:ln/>
        </p:spPr>
      </p:sp>
      <p:sp>
        <p:nvSpPr>
          <p:cNvPr id="3" name="Text 1"/>
          <p:cNvSpPr/>
          <p:nvPr/>
        </p:nvSpPr>
        <p:spPr>
          <a:xfrm>
            <a:off x="457200" y="6263640"/>
            <a:ext cx="8229600" cy="274320"/>
          </a:xfrm>
          <a:prstGeom prst="rect">
            <a:avLst/>
          </a:prstGeom>
          <a:noFill/>
          <a:ln/>
        </p:spPr>
        <p:txBody>
          <a:bodyPr wrap="square" lIns="0" tIns="0" rIns="0" bIns="0" rtlCol="0" anchor="ctr"/>
          <a:lstStyle/>
          <a:p>
            <a:pPr indent="0" marL="0">
              <a:buNone/>
            </a:pPr>
            <a:r>
              <a:rPr lang="en-US" sz="1000" dirty="0">
                <a:solidFill>
                  <a:srgbClr val="AEB5DA"/>
                </a:solidFill>
              </a:rPr>
              <a:t>EL Publishing · Six Southern Pies · radan55.github.io/everyteacher</a:t>
            </a:r>
            <a:endParaRPr lang="en-US" sz="1000" dirty="0"/>
          </a:p>
        </p:txBody>
      </p:sp>
      <p:sp>
        <p:nvSpPr>
          <p:cNvPr id="4" name="Text 2"/>
          <p:cNvSpPr/>
          <p:nvPr>
            <p:ph idx="102" type="title" hasCustomPrompt="1"/>
          </p:nvPr>
        </p:nvSpPr>
        <p:spPr>
          <a:xfrm>
            <a:off x="548640" y="457200"/>
            <a:ext cx="11064240" cy="1005840"/>
          </a:xfrm>
          <a:prstGeom prst="rect">
            <a:avLst/>
          </a:prstGeom>
          <a:noFill/>
          <a:ln/>
        </p:spPr>
        <p:txBody>
          <a:bodyPr wrap="square" rtlCol="0"/>
          <a:lstStyle>
            <a:lvl1pPr indent="0" marL="0">
              <a:buNone/>
              <a:defRPr lang="en-US" sz="4000" b="1" dirty="0">
                <a:solidFill>
                  <a:srgbClr val="FFFFFF"/>
                </a:solidFill>
              </a:defRPr>
            </a:lvl1pPr>
          </a:lstStyle>
          <a:p>
            <a:pPr indent="0" marL="0">
              <a:buNone/>
            </a:pPr>
            <a:endParaRPr lang="en-US" sz="4000" dirty="0"/>
          </a:p>
        </p:txBody>
      </p:sp>
      <p:sp>
        <p:nvSpPr>
          <p:cNvPr id="5" name="Text 2"/>
          <p:cNvSpPr/>
          <p:nvPr>
            <p:ph idx="103" type="body" hasCustomPrompt="1"/>
          </p:nvPr>
        </p:nvSpPr>
        <p:spPr>
          <a:xfrm>
            <a:off x="548640" y="1554480"/>
            <a:ext cx="7498080" cy="4480560"/>
          </a:xfrm>
          <a:prstGeom prst="rect">
            <a:avLst/>
          </a:prstGeom>
          <a:noFill/>
          <a:ln/>
        </p:spPr>
        <p:txBody>
          <a:bodyPr wrap="square" rtlCol="0"/>
          <a:lstStyle>
            <a:lvl1pPr indent="0" marL="0">
              <a:buNone/>
              <a:defRPr lang="en-US" sz="2000" dirty="0">
                <a:solidFill>
                  <a:srgbClr val="FFFFFF"/>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5DA"/>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4F5FA"/>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2761"/>
          </a:solidFill>
          <a:ln/>
        </p:spPr>
      </p:sp>
      <p:sp>
        <p:nvSpPr>
          <p:cNvPr id="3" name="Shape 1"/>
          <p:cNvSpPr/>
          <p:nvPr/>
        </p:nvSpPr>
        <p:spPr>
          <a:xfrm>
            <a:off x="0" y="6583680"/>
            <a:ext cx="12188952" cy="274320"/>
          </a:xfrm>
          <a:prstGeom prst="rect">
            <a:avLst/>
          </a:prstGeom>
          <a:solidFill>
            <a:srgbClr val="C9A227"/>
          </a:solidFill>
          <a:ln/>
        </p:spPr>
      </p:sp>
      <p:sp>
        <p:nvSpPr>
          <p:cNvPr id="4" name="Text 2"/>
          <p:cNvSpPr/>
          <p:nvPr/>
        </p:nvSpPr>
        <p:spPr>
          <a:xfrm>
            <a:off x="457200" y="6263640"/>
            <a:ext cx="8229600" cy="274320"/>
          </a:xfrm>
          <a:prstGeom prst="rect">
            <a:avLst/>
          </a:prstGeom>
          <a:noFill/>
          <a:ln/>
        </p:spPr>
        <p:txBody>
          <a:bodyPr wrap="square" lIns="0" tIns="0" rIns="0" bIns="0" rtlCol="0" anchor="ctr"/>
          <a:lstStyle/>
          <a:p>
            <a:pPr indent="0" marL="0">
              <a:buNone/>
            </a:pPr>
            <a:r>
              <a:rPr lang="en-US" sz="1000" dirty="0">
                <a:solidFill>
                  <a:srgbClr val="5B6078"/>
                </a:solidFill>
              </a:rPr>
              <a:t>EL Publishing · Six Southern Pies · radan55.github.io/everyteacher</a:t>
            </a:r>
            <a:endParaRPr lang="en-US" sz="1000" dirty="0"/>
          </a:p>
        </p:txBody>
      </p:sp>
      <p:sp>
        <p:nvSpPr>
          <p:cNvPr id="5" name="Text 3"/>
          <p:cNvSpPr/>
          <p:nvPr>
            <p:ph idx="103" type="title" hasCustomPrompt="1"/>
          </p:nvPr>
        </p:nvSpPr>
        <p:spPr>
          <a:xfrm>
            <a:off x="548640" y="411480"/>
            <a:ext cx="11064240" cy="914400"/>
          </a:xfrm>
          <a:prstGeom prst="rect">
            <a:avLst/>
          </a:prstGeom>
          <a:noFill/>
          <a:ln/>
        </p:spPr>
        <p:txBody>
          <a:bodyPr wrap="square" rtlCol="0"/>
          <a:lstStyle>
            <a:lvl1pPr indent="0" marL="0">
              <a:buNone/>
              <a:defRPr lang="en-US" sz="3600" b="1" dirty="0">
                <a:solidFill>
                  <a:srgbClr val="1E2761"/>
                </a:solidFill>
              </a:defRPr>
            </a:lvl1pPr>
          </a:lstStyle>
          <a:p>
            <a:pPr indent="0" marL="0">
              <a:buNone/>
            </a:pPr>
            <a:endParaRPr lang="en-US" sz="3600" dirty="0"/>
          </a:p>
        </p:txBody>
      </p:sp>
      <p:sp>
        <p:nvSpPr>
          <p:cNvPr id="6" name="Text 3"/>
          <p:cNvSpPr/>
          <p:nvPr>
            <p:ph idx="104" type="body" hasCustomPrompt="1"/>
          </p:nvPr>
        </p:nvSpPr>
        <p:spPr>
          <a:xfrm>
            <a:off x="548640" y="1463040"/>
            <a:ext cx="7315200" cy="4572000"/>
          </a:xfrm>
          <a:prstGeom prst="rect">
            <a:avLst/>
          </a:prstGeom>
          <a:noFill/>
          <a:ln/>
        </p:spPr>
        <p:txBody>
          <a:bodyPr wrap="square" rtlCol="0"/>
          <a:lstStyle>
            <a:lvl1pPr indent="0" marL="0">
              <a:buNone/>
              <a:defRPr lang="en-US" sz="2000" dirty="0">
                <a:solidFill>
                  <a:srgbClr val="1F2340"/>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078"/>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5D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s://radan55.github.io/everyteacher/timer.html?m=5&amp;t=Open" TargetMode="External"/><Relationship Id="rId4" Type="http://schemas.openxmlformats.org/officeDocument/2006/relationships/hyperlink" Target="https://radan55.github.io/everyteacher/timer.html?m=5&amp;t=Open" TargetMode="External"/><Relationship Id="rId1" Type="http://schemas.openxmlformats.org/officeDocument/2006/relationships/image" Target="../media/image-3-1.png"/><Relationship Id="rId2" Type="http://schemas.openxmlformats.org/officeDocument/2006/relationships/image" Target="../media/image-3-2.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radan55.github.io/everyteacher/timer.html?m=5&amp;t=Open" TargetMode="External"/><Relationship Id="rId4" Type="http://schemas.openxmlformats.org/officeDocument/2006/relationships/hyperlink" Target="https://radan55.github.io/everyteacher/timer.html?m=5&amp;t=Open" TargetMode="External"/><Relationship Id="rId1" Type="http://schemas.openxmlformats.org/officeDocument/2006/relationships/image" Target="../media/image-4-1.jpg"/><Relationship Id="rId2" Type="http://schemas.openxmlformats.org/officeDocument/2006/relationships/image" Target="../media/image-4-2.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radan55.github.io/everyteacher/timer.html?m=7&amp;t=Five%20words%20first" TargetMode="External"/><Relationship Id="rId4" Type="http://schemas.openxmlformats.org/officeDocument/2006/relationships/hyperlink" Target="https://radan55.github.io/everyteacher/timer.html?m=7&amp;t=Five%20words%20first" TargetMode="External"/><Relationship Id="rId1" Type="http://schemas.openxmlformats.org/officeDocument/2006/relationships/image" Target="../media/image-5-1.png"/><Relationship Id="rId2" Type="http://schemas.openxmlformats.org/officeDocument/2006/relationships/image" Target="../media/image-5-2.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radan55.github.io/everyteacher/timer.html?m=6&amp;t=Cognates" TargetMode="External"/><Relationship Id="rId4" Type="http://schemas.openxmlformats.org/officeDocument/2006/relationships/hyperlink" Target="https://radan55.github.io/everyteacher/timer.html?m=6&amp;t=Cognates" TargetMode="External"/><Relationship Id="rId1" Type="http://schemas.openxmlformats.org/officeDocument/2006/relationships/image" Target="../media/image-7-1.png"/><Relationship Id="rId2" Type="http://schemas.openxmlformats.org/officeDocument/2006/relationships/image" Target="../media/image-7-2.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radan55.github.io/everyteacher/timer.html?m=6&amp;t=Cognates" TargetMode="External"/><Relationship Id="rId3" Type="http://schemas.openxmlformats.org/officeDocument/2006/relationships/hyperlink" Target="https://radan55.github.io/everyteacher/timer.html?m=6&amp;t=Cognates" TargetMode="External"/><Relationship Id="rId1" Type="http://schemas.openxmlformats.org/officeDocument/2006/relationships/image" Target="../media/image-8-1.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radan55.github.io/everyteacher/timer.html?m=15&amp;t=Listening" TargetMode="External"/><Relationship Id="rId4" Type="http://schemas.openxmlformats.org/officeDocument/2006/relationships/hyperlink" Target="https://radan55.github.io/everyteacher/timer.html?m=15&amp;t=Listening" TargetMode="External"/><Relationship Id="rId1" Type="http://schemas.openxmlformats.org/officeDocument/2006/relationships/image" Target="../media/image-9-1.png"/><Relationship Id="rId2" Type="http://schemas.openxmlformats.org/officeDocument/2006/relationships/image" Target="../media/image-9-2.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hyperlink" Target="https://radan55.github.io/everyteacher/timer.html?m=5&amp;t=Listening%20A" TargetMode="External"/><Relationship Id="rId9" Type="http://schemas.openxmlformats.org/officeDocument/2006/relationships/hyperlink" Target="https://radan55.github.io/everyteacher/timer.html?m=5&amp;t=Listening%20A" TargetMode="External"/><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image" Target="../media/image-10-6.jpg"/><Relationship Id="rId7" Type="http://schemas.openxmlformats.org/officeDocument/2006/relationships/image" Target="../media/image-10-7.png"/><Relationship Id="rId10" Type="http://schemas.openxmlformats.org/officeDocument/2006/relationships/slideLayout" Target="../slideLayouts/slideLayout3.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s://radan55.github.io/everyteacher/timer.html?m=5&amp;t=Listening%20B" TargetMode="External"/><Relationship Id="rId4" Type="http://schemas.openxmlformats.org/officeDocument/2006/relationships/hyperlink" Target="https://radan55.github.io/everyteacher/timer.html?m=5&amp;t=Listening%20B" TargetMode="External"/><Relationship Id="rId1" Type="http://schemas.openxmlformats.org/officeDocument/2006/relationships/image" Target="../media/image-11-1.png"/><Relationship Id="rId2" Type="http://schemas.openxmlformats.org/officeDocument/2006/relationships/image" Target="../media/image-11-2.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radan55.github.io/everyteacher/timer.html?m=5&amp;t=Listening%20C" TargetMode="External"/><Relationship Id="rId4" Type="http://schemas.openxmlformats.org/officeDocument/2006/relationships/hyperlink" Target="https://radan55.github.io/everyteacher/timer.html?m=5&amp;t=Listening%20C" TargetMode="External"/><Relationship Id="rId1" Type="http://schemas.openxmlformats.org/officeDocument/2006/relationships/image" Target="../media/image-12-1.jpg"/><Relationship Id="rId2" Type="http://schemas.openxmlformats.org/officeDocument/2006/relationships/image" Target="../media/image-12-2.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hyperlink" Target="https://radan55.github.io/everyteacher/timer.html?m=17&amp;t=Reading" TargetMode="External"/><Relationship Id="rId4" Type="http://schemas.openxmlformats.org/officeDocument/2006/relationships/hyperlink" Target="https://radan55.github.io/everyteacher/timer.html?m=17&amp;t=Reading" TargetMode="External"/><Relationship Id="rId1" Type="http://schemas.openxmlformats.org/officeDocument/2006/relationships/image" Target="../media/image-13-1.png"/><Relationship Id="rId2" Type="http://schemas.openxmlformats.org/officeDocument/2006/relationships/image" Target="../media/image-13-2.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radan55.github.io/everyteacher/timer.html?m=12&amp;t=Reading" TargetMode="External"/><Relationship Id="rId3" Type="http://schemas.openxmlformats.org/officeDocument/2006/relationships/hyperlink" Target="https://radan55.github.io/everyteacher/timer.html?m=12&amp;t=Reading" TargetMode="External"/><Relationship Id="rId1" Type="http://schemas.openxmlformats.org/officeDocument/2006/relationships/image" Target="../media/image-14-1.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hyperlink" Target="https://radan55.github.io/everyteacher/timer.html?m=10&amp;t=Talk%20before%20writing" TargetMode="External"/><Relationship Id="rId4" Type="http://schemas.openxmlformats.org/officeDocument/2006/relationships/hyperlink" Target="https://radan55.github.io/everyteacher/timer.html?m=10&amp;t=Talk%20before%20writing" TargetMode="External"/><Relationship Id="rId1" Type="http://schemas.openxmlformats.org/officeDocument/2006/relationships/image" Target="../media/image-16-1.png"/><Relationship Id="rId2" Type="http://schemas.openxmlformats.org/officeDocument/2006/relationships/image" Target="../media/image-16-2.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hyperlink" Target="https://radan55.github.io/everyteacher/timer.html?m=4&amp;t=S1%20Observe%20and%20report" TargetMode="External"/><Relationship Id="rId4" Type="http://schemas.openxmlformats.org/officeDocument/2006/relationships/hyperlink" Target="https://radan55.github.io/everyteacher/timer.html?m=4&amp;t=S1%20Observe%20and%20report" TargetMode="External"/><Relationship Id="rId1" Type="http://schemas.openxmlformats.org/officeDocument/2006/relationships/image" Target="../media/image-17-1.jpg"/><Relationship Id="rId2" Type="http://schemas.openxmlformats.org/officeDocument/2006/relationships/image" Target="../media/image-17-2.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https://radan55.github.io/everyteacher/timer.html?m=6&amp;t=S3%20Classroom%20chat" TargetMode="External"/><Relationship Id="rId3" Type="http://schemas.openxmlformats.org/officeDocument/2006/relationships/hyperlink" Target="https://radan55.github.io/everyteacher/timer.html?m=6&amp;t=S3%20Classroom%20chat" TargetMode="External"/><Relationship Id="rId1" Type="http://schemas.openxmlformats.org/officeDocument/2006/relationships/image" Target="../media/image-18-1.pn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hyperlink" Target="https://radan55.github.io/everyteacher/timer.html?m=20&amp;t=Writing" TargetMode="External"/><Relationship Id="rId4" Type="http://schemas.openxmlformats.org/officeDocument/2006/relationships/hyperlink" Target="https://radan55.github.io/everyteacher/timer.html?m=20&amp;t=Writing" TargetMode="External"/><Relationship Id="rId1" Type="http://schemas.openxmlformats.org/officeDocument/2006/relationships/image" Target="../media/image-19-1.png"/><Relationship Id="rId2" Type="http://schemas.openxmlformats.org/officeDocument/2006/relationships/image" Target="../media/image-19-2.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5" Type="http://schemas.openxmlformats.org/officeDocument/2006/relationships/hyperlink" Target="https://radan55.github.io/everyteacher/timer.html?m=20&amp;t=Writing" TargetMode="External"/><Relationship Id="rId6" Type="http://schemas.openxmlformats.org/officeDocument/2006/relationships/hyperlink" Target="https://radan55.github.io/everyteacher/timer.html?m=20&amp;t=Writing" TargetMode="External"/><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image" Target="../media/image-21-3.jpg"/><Relationship Id="rId4" Type="http://schemas.openxmlformats.org/officeDocument/2006/relationships/image" Target="../media/image-21-4.png"/><Relationship Id="rId7" Type="http://schemas.openxmlformats.org/officeDocument/2006/relationships/slideLayout" Target="../slideLayouts/slideLayout3.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hyperlink" Target="https://radan55.github.io/everyteacher/timer.html?m=7&amp;t=S4%20%2F%20S2" TargetMode="External"/><Relationship Id="rId4" Type="http://schemas.openxmlformats.org/officeDocument/2006/relationships/hyperlink" Target="https://radan55.github.io/everyteacher/timer.html?m=7&amp;t=S4%20%2F%20S2" TargetMode="External"/><Relationship Id="rId1" Type="http://schemas.openxmlformats.org/officeDocument/2006/relationships/image" Target="../media/image-22-1.png"/><Relationship Id="rId2" Type="http://schemas.openxmlformats.org/officeDocument/2006/relationships/image" Target="../media/image-22-2.png"/><Relationship Id="rId5" Type="http://schemas.openxmlformats.org/officeDocument/2006/relationships/slideLayout" Target="../slideLayouts/slideLayout2.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hyperlink" Target="https://radan55.github.io/everyteacher/timer.html?m=3&amp;t=Exit" TargetMode="External"/><Relationship Id="rId4" Type="http://schemas.openxmlformats.org/officeDocument/2006/relationships/hyperlink" Target="https://radan55.github.io/everyteacher/timer.html?m=3&amp;t=Exit" TargetMode="External"/><Relationship Id="rId1" Type="http://schemas.openxmlformats.org/officeDocument/2006/relationships/image" Target="../media/image-24-1.png"/><Relationship Id="rId2" Type="http://schemas.openxmlformats.org/officeDocument/2006/relationships/image" Target="../media/image-24-2.png"/><Relationship Id="rId5" Type="http://schemas.openxmlformats.org/officeDocument/2006/relationships/slideLayout" Target="../slideLayouts/slideLayout2.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hyperlink" Target="https://radan55.github.io/everyteacher/timer.html?m=3&amp;t=Exit%20ticket" TargetMode="External"/><Relationship Id="rId3" Type="http://schemas.openxmlformats.org/officeDocument/2006/relationships/hyperlink" Target="https://radan55.github.io/everyteacher/timer.html?m=3&amp;t=Exit%20ticket" TargetMode="External"/><Relationship Id="rId1" Type="http://schemas.openxmlformats.org/officeDocument/2006/relationships/image" Target="../media/image-25-1.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548640"/>
            <a:ext cx="7315200" cy="365760"/>
          </a:xfrm>
          <a:prstGeom prst="rect">
            <a:avLst/>
          </a:prstGeom>
          <a:noFill/>
          <a:ln/>
        </p:spPr>
        <p:txBody>
          <a:bodyPr wrap="square" lIns="0" tIns="0" rIns="0" bIns="0" rtlCol="0" anchor="ctr"/>
          <a:lstStyle/>
          <a:p>
            <a:pPr indent="0" marL="0">
              <a:buNone/>
            </a:pPr>
            <a:r>
              <a:rPr lang="en-US" sz="1200" b="1" spc="300" kern="0" dirty="0">
                <a:solidFill>
                  <a:srgbClr val="C9A227"/>
                </a:solidFill>
              </a:rPr>
              <a:t>EL PUBLISHING · A 90-MINUTE ELPA21 LESSON · GRADES 6–12</a:t>
            </a:r>
            <a:endParaRPr lang="en-US" sz="1200" dirty="0"/>
          </a:p>
        </p:txBody>
      </p:sp>
      <p:sp>
        <p:nvSpPr>
          <p:cNvPr id="3" name="title"/>
          <p:cNvSpPr txBox="1"/>
          <p:nvPr/>
        </p:nvSpPr>
        <p:spPr>
          <a:xfrm>
            <a:off x="548640" y="1097280"/>
            <a:ext cx="6583680" cy="201168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Six Southern pies, four domains.</a:t>
            </a:r>
            <a:endParaRPr lang="en-US" sz="5400" dirty="0"/>
          </a:p>
        </p:txBody>
      </p:sp>
      <p:sp>
        <p:nvSpPr>
          <p:cNvPr id="4" name="subtitle"/>
          <p:cNvSpPr txBox="1"/>
          <p:nvPr/>
        </p:nvSpPr>
        <p:spPr>
          <a:xfrm>
            <a:off x="548640" y="3291840"/>
            <a:ext cx="6400800" cy="1097280"/>
          </a:xfrm>
          <a:prstGeom prst="rect">
            <a:avLst/>
          </a:prstGeom>
          <a:noFill/>
          <a:ln/>
        </p:spPr>
        <p:txBody>
          <a:bodyPr wrap="square" lIns="0" tIns="0" rIns="0" bIns="0" rtlCol="0" anchor="ctr"/>
          <a:lstStyle/>
          <a:p>
            <a:pPr indent="0" marL="0">
              <a:buNone/>
            </a:pPr>
            <a:r>
              <a:rPr lang="en-US" sz="1800" dirty="0">
                <a:solidFill>
                  <a:srgbClr val="C9CEEA"/>
                </a:solidFill>
              </a:rPr>
              <a:t>Listening · Reading · Writing · Speaking — every task in four lanes.</a:t>
            </a:r>
            <a:endParaRPr lang="en-US" sz="1800" dirty="0"/>
          </a:p>
          <a:p>
            <a:pPr indent="0" marL="0">
              <a:buNone/>
            </a:pPr>
            <a:r>
              <a:rPr lang="en-US" sz="1800" dirty="0">
                <a:solidFill>
                  <a:srgbClr val="C9CEEA"/>
                </a:solidFill>
              </a:rPr>
              <a:t>One infographic. One block. A timer on every section.</a:t>
            </a:r>
            <a:endParaRPr lang="en-US" sz="1800" dirty="0"/>
          </a:p>
        </p:txBody>
      </p:sp>
      <p:sp>
        <p:nvSpPr>
          <p:cNvPr id="5" name="objective"/>
          <p:cNvSpPr txBox="1"/>
          <p:nvPr/>
        </p:nvSpPr>
        <p:spPr>
          <a:xfrm>
            <a:off x="548640" y="4572000"/>
            <a:ext cx="6766560" cy="1097280"/>
          </a:xfrm>
          <a:prstGeom prst="rect">
            <a:avLst/>
          </a:prstGeom>
          <a:noFill/>
          <a:ln/>
        </p:spPr>
        <p:txBody>
          <a:bodyPr wrap="square" lIns="0" tIns="0" rIns="0" bIns="0" rtlCol="0" anchor="ctr"/>
          <a:lstStyle/>
          <a:p>
            <a:pPr indent="0" marL="0">
              <a:buNone/>
            </a:pPr>
            <a:r>
              <a:rPr lang="en-US" sz="2200" dirty="0">
                <a:solidFill>
                  <a:srgbClr val="FFFFFF"/>
                </a:solidFill>
                <a:latin typeface="Georgia" pitchFamily="34" charset="0"/>
                <a:ea typeface="Georgia" pitchFamily="34" charset="-122"/>
                <a:cs typeface="Georgia" pitchFamily="34" charset="-120"/>
              </a:rPr>
              <a:t>Today I can </a:t>
            </a:r>
            <a:pPr indent="0" marL="0">
              <a:buNone/>
            </a:pPr>
            <a:r>
              <a:rPr lang="en-US" sz="2200" b="1" dirty="0">
                <a:solidFill>
                  <a:srgbClr val="C9A227"/>
                </a:solidFill>
                <a:latin typeface="Georgia" pitchFamily="34" charset="0"/>
                <a:ea typeface="Georgia" pitchFamily="34" charset="-122"/>
                <a:cs typeface="Georgia" pitchFamily="34" charset="-120"/>
              </a:rPr>
              <a:t>compare two pies</a:t>
            </a:r>
            <a:pPr indent="0" marL="0">
              <a:buNone/>
            </a:pPr>
            <a:r>
              <a:rPr lang="en-US" sz="2200" dirty="0">
                <a:solidFill>
                  <a:srgbClr val="FFFFFF"/>
                </a:solidFill>
                <a:latin typeface="Georgia" pitchFamily="34" charset="0"/>
                <a:ea typeface="Georgia" pitchFamily="34" charset="-122"/>
                <a:cs typeface="Georgia" pitchFamily="34" charset="-120"/>
              </a:rPr>
              <a:t> and say which one is better, </a:t>
            </a:r>
            <a:pPr indent="0" marL="0">
              <a:buNone/>
            </a:pPr>
            <a:r>
              <a:rPr lang="en-US" sz="2200" b="1" dirty="0">
                <a:solidFill>
                  <a:srgbClr val="C9A227"/>
                </a:solidFill>
                <a:latin typeface="Georgia" pitchFamily="34" charset="0"/>
                <a:ea typeface="Georgia" pitchFamily="34" charset="-122"/>
                <a:cs typeface="Georgia" pitchFamily="34" charset="-120"/>
              </a:rPr>
              <a:t>with a reason.</a:t>
            </a:r>
            <a:endParaRPr lang="en-US" sz="2200" dirty="0"/>
          </a:p>
        </p:txBody>
      </p:sp>
      <p:pic>
        <p:nvPicPr>
          <p:cNvPr id="6" name="infographic" descr="/home/claude/deck/info.jpg">    </p:cNvPr>
          <p:cNvPicPr>
            <a:picLocks noChangeAspect="1"/>
          </p:cNvPicPr>
          <p:nvPr/>
        </p:nvPicPr>
        <p:blipFill>
          <a:blip r:embed="rId1"/>
          <a:stretch>
            <a:fillRect/>
          </a:stretch>
        </p:blipFill>
        <p:spPr>
          <a:xfrm>
            <a:off x="7589520" y="502920"/>
            <a:ext cx="4114800" cy="4334256"/>
          </a:xfrm>
          <a:prstGeom prst="rect">
            <a:avLst/>
          </a:prstGeom>
        </p:spPr>
      </p:pic>
      <p:sp>
        <p:nvSpPr>
          <p:cNvPr id="8" name="Text 2"/>
          <p:cNvSpPr/>
          <p:nvPr>
            <p:ph idx="102" type="title" hasCustomPrompt="1"/>
          </p:nvPr>
        </p:nvSpPr>
        <p:spPr>
          <a:xfrm>
            <a:off x="548640" y="457200"/>
            <a:ext cx="11064240" cy="1005840"/>
          </a:xfrm>
          <a:prstGeom prst="rect">
            <a:avLst/>
          </a:prstGeom>
          <a:noFill/>
          <a:ln/>
        </p:spPr>
        <p:txBody>
          <a:bodyPr wrap="square" lIns="0" tIns="0" rIns="0" bIns="0" rtlCol="0"/>
          <a:lstStyle/>
          <a:p>
            <a:pPr indent="0" marL="0">
              <a:buNone/>
            </a:pPr>
            <a:endParaRPr lang="en-US" sz="4000" dirty="0"/>
          </a:p>
        </p:txBody>
      </p:sp>
      <p:sp>
        <p:nvSpPr>
          <p:cNvPr id="9" name="Text 2"/>
          <p:cNvSpPr/>
          <p:nvPr>
            <p:ph idx="103" type="body" hasCustomPrompt="1"/>
          </p:nvPr>
        </p:nvSpPr>
        <p:spPr>
          <a:xfrm>
            <a:off x="548640" y="1554480"/>
            <a:ext cx="7498080" cy="448056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5DA"/>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548640" y="411480"/>
            <a:ext cx="11064240" cy="914400"/>
          </a:xfrm>
          <a:prstGeom prst="rect">
            <a:avLst/>
          </a:prstGeom>
          <a:noFill/>
          <a:ln/>
        </p:spPr>
        <p:txBody>
          <a:bodyPr wrap="square" lIns="0" tIns="0" rIns="0" bIns="0" rtlCol="0"/>
          <a:lstStyle/>
          <a:p>
            <a:pPr indent="0" marL="0">
              <a:buNone/>
            </a:pPr>
            <a:r>
              <a:rPr lang="en-US" sz="3600" b="1" dirty="0">
                <a:solidFill>
                  <a:srgbClr val="1E2761"/>
                </a:solidFill>
              </a:rPr>
              <a:t>The block, minute by minute</a:t>
            </a:r>
            <a:endParaRPr lang="en-US" sz="3600" dirty="0"/>
          </a:p>
        </p:txBody>
      </p:sp>
      <p:graphicFrame>
        <p:nvGraphicFramePr>
          <p:cNvPr id="3" name="agenda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914400"/>
                <a:gridCol w="2194560"/>
                <a:gridCol w="5577840"/>
                <a:gridCol w="2377440"/>
              </a:tblGrid>
              <a:tr h="384048">
                <a:tc>
                  <a:txBody>
                    <a:bodyPr/>
                    <a:lstStyle/>
                    <a:p>
                      <a:pPr indent="0" marL="0">
                        <a:buNone/>
                      </a:pPr>
                      <a:r>
                        <a:rPr lang="en-US" sz="1200" b="1" dirty="0">
                          <a:solidFill>
                            <a:srgbClr val="FFFFFF"/>
                          </a:solidFill>
                        </a:rPr>
                        <a:t>Time</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Segment</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Students do</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Check</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1E2761"/>
                    </a:solidFill>
                  </a:tcPr>
                </a:tc>
              </a:tr>
              <a:tr h="384048">
                <a:tc>
                  <a:txBody>
                    <a:bodyPr/>
                    <a:lstStyle/>
                    <a:p>
                      <a:pPr indent="0" marL="0">
                        <a:buNone/>
                      </a:pPr>
                      <a:r>
                        <a:rPr lang="en-US" sz="1200" dirty="0">
                          <a:solidFill>
                            <a:srgbClr val="1F2340"/>
                          </a:solidFill>
                        </a:rPr>
                        <a:t>0–5</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FFFFFF"/>
                    </a:solidFill>
                  </a:tcPr>
                </a:tc>
                <a:tc>
                  <a:txBody>
                    <a:bodyPr/>
                    <a:lstStyle/>
                    <a:p>
                      <a:pPr indent="0" marL="0">
                        <a:buNone/>
                      </a:pPr>
                      <a:r>
                        <a:rPr lang="en-US" sz="1200" dirty="0">
                          <a:solidFill>
                            <a:srgbClr val="1F2340"/>
                          </a:solidFill>
                        </a:rPr>
                        <a:t>Open · one slice</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FFFFFF"/>
                    </a:solidFill>
                  </a:tcPr>
                </a:tc>
                <a:tc>
                  <a:txBody>
                    <a:bodyPr/>
                    <a:lstStyle/>
                    <a:p>
                      <a:pPr indent="0" marL="0">
                        <a:buNone/>
                      </a:pPr>
                      <a:r>
                        <a:rPr lang="en-US" sz="1200" dirty="0">
                          <a:solidFill>
                            <a:srgbClr val="1F2340"/>
                          </a:solidFill>
                        </a:rPr>
                        <a:t>Say one thing you see. Read the objective.</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FFFFFF"/>
                    </a:solidFill>
                  </a:tcPr>
                </a:tc>
                <a:tc>
                  <a:txBody>
                    <a:bodyPr/>
                    <a:lstStyle/>
                    <a:p>
                      <a:pPr indent="0" marL="0">
                        <a:buNone/>
                      </a:pPr>
                      <a:r>
                        <a:rPr lang="en-US" sz="1200" dirty="0">
                          <a:solidFill>
                            <a:srgbClr val="1F2340"/>
                          </a:solidFill>
                        </a:rPr>
                        <a:t>Thumbs</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340"/>
                          </a:solidFill>
                        </a:rPr>
                        <a:t>5–12</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EEF0F7"/>
                    </a:solidFill>
                  </a:tcPr>
                </a:tc>
                <a:tc>
                  <a:txBody>
                    <a:bodyPr/>
                    <a:lstStyle/>
                    <a:p>
                      <a:pPr indent="0" marL="0">
                        <a:buNone/>
                      </a:pPr>
                      <a:r>
                        <a:rPr lang="en-US" sz="1200" dirty="0">
                          <a:solidFill>
                            <a:srgbClr val="1F2340"/>
                          </a:solidFill>
                        </a:rPr>
                        <a:t>Five words first</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EEF0F7"/>
                    </a:solidFill>
                  </a:tcPr>
                </a:tc>
                <a:tc>
                  <a:txBody>
                    <a:bodyPr/>
                    <a:lstStyle/>
                    <a:p>
                      <a:pPr indent="0" marL="0">
                        <a:buNone/>
                      </a:pPr>
                      <a:r>
                        <a:rPr lang="en-US" sz="1200" dirty="0">
                          <a:solidFill>
                            <a:srgbClr val="1F2340"/>
                          </a:solidFill>
                        </a:rPr>
                        <a:t>Echo, point, say to a partner.</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EEF0F7"/>
                    </a:solidFill>
                  </a:tcPr>
                </a:tc>
                <a:tc>
                  <a:txBody>
                    <a:bodyPr/>
                    <a:lstStyle/>
                    <a:p>
                      <a:pPr indent="0" marL="0">
                        <a:buNone/>
                      </a:pPr>
                      <a:r>
                        <a:rPr lang="en-US" sz="1200" dirty="0">
                          <a:solidFill>
                            <a:srgbClr val="1F2340"/>
                          </a:solidFill>
                        </a:rPr>
                        <a:t>Point to the crust</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EEF0F7"/>
                    </a:solidFill>
                  </a:tcPr>
                </a:tc>
              </a:tr>
              <a:tr h="384048">
                <a:tc>
                  <a:txBody>
                    <a:bodyPr/>
                    <a:lstStyle/>
                    <a:p>
                      <a:pPr indent="0" marL="0">
                        <a:buNone/>
                      </a:pPr>
                      <a:r>
                        <a:rPr lang="en-US" sz="1200" dirty="0">
                          <a:solidFill>
                            <a:srgbClr val="1F2340"/>
                          </a:solidFill>
                        </a:rPr>
                        <a:t>12–18</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FFFFFF"/>
                    </a:solidFill>
                  </a:tcPr>
                </a:tc>
                <a:tc>
                  <a:txBody>
                    <a:bodyPr/>
                    <a:lstStyle/>
                    <a:p>
                      <a:pPr indent="0" marL="0">
                        <a:buNone/>
                      </a:pPr>
                      <a:r>
                        <a:rPr lang="en-US" sz="1200" dirty="0">
                          <a:solidFill>
                            <a:srgbClr val="1F2340"/>
                          </a:solidFill>
                        </a:rPr>
                        <a:t>Cognate hunt</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FFFFFF"/>
                    </a:solidFill>
                  </a:tcPr>
                </a:tc>
                <a:tc>
                  <a:txBody>
                    <a:bodyPr/>
                    <a:lstStyle/>
                    <a:p>
                      <a:pPr indent="0" marL="0">
                        <a:buNone/>
                      </a:pPr>
                      <a:r>
                        <a:rPr lang="en-US" sz="1200" dirty="0">
                          <a:solidFill>
                            <a:srgbClr val="1F2340"/>
                          </a:solidFill>
                        </a:rPr>
                        <a:t>Circle look-alike words; compare.</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FFFFFF"/>
                    </a:solidFill>
                  </a:tcPr>
                </a:tc>
                <a:tc>
                  <a:txBody>
                    <a:bodyPr/>
                    <a:lstStyle/>
                    <a:p>
                      <a:pPr indent="0" marL="0">
                        <a:buNone/>
                      </a:pPr>
                      <a:r>
                        <a:rPr lang="en-US" sz="1200" dirty="0">
                          <a:solidFill>
                            <a:srgbClr val="1F2340"/>
                          </a:solidFill>
                        </a:rPr>
                        <a:t>Fingers: how many?</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340"/>
                          </a:solidFill>
                        </a:rPr>
                        <a:t>18–33</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EEF0F7"/>
                    </a:solidFill>
                  </a:tcPr>
                </a:tc>
                <a:tc>
                  <a:txBody>
                    <a:bodyPr/>
                    <a:lstStyle/>
                    <a:p>
                      <a:pPr indent="0" marL="0">
                        <a:buNone/>
                      </a:pPr>
                      <a:r>
                        <a:rPr lang="en-US" sz="1200" dirty="0">
                          <a:solidFill>
                            <a:srgbClr val="1F2340"/>
                          </a:solidFill>
                        </a:rPr>
                        <a:t>Listening A → B → C</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EEF0F7"/>
                    </a:solidFill>
                  </a:tcPr>
                </a:tc>
                <a:tc>
                  <a:txBody>
                    <a:bodyPr/>
                    <a:lstStyle/>
                    <a:p>
                      <a:pPr indent="0" marL="0">
                        <a:buNone/>
                      </a:pPr>
                      <a:r>
                        <a:rPr lang="en-US" sz="1200" dirty="0">
                          <a:solidFill>
                            <a:srgbClr val="1F2340"/>
                          </a:solidFill>
                        </a:rPr>
                        <a:t>Pie number with fingers; answer; compare.</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EEF0F7"/>
                    </a:solidFill>
                  </a:tcPr>
                </a:tc>
                <a:tc>
                  <a:txBody>
                    <a:bodyPr/>
                    <a:lstStyle/>
                    <a:p>
                      <a:pPr indent="0" marL="0">
                        <a:buNone/>
                      </a:pPr>
                      <a:r>
                        <a:rPr lang="en-US" sz="1200" dirty="0">
                          <a:solidFill>
                            <a:srgbClr val="1F2340"/>
                          </a:solidFill>
                        </a:rPr>
                        <a:t>Fingers for A</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EEF0F7"/>
                    </a:solidFill>
                  </a:tcPr>
                </a:tc>
              </a:tr>
              <a:tr h="384048">
                <a:tc>
                  <a:txBody>
                    <a:bodyPr/>
                    <a:lstStyle/>
                    <a:p>
                      <a:pPr indent="0" marL="0">
                        <a:buNone/>
                      </a:pPr>
                      <a:r>
                        <a:rPr lang="en-US" sz="1200" dirty="0">
                          <a:solidFill>
                            <a:srgbClr val="1F2340"/>
                          </a:solidFill>
                        </a:rPr>
                        <a:t>33–50</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FFFFFF"/>
                    </a:solidFill>
                  </a:tcPr>
                </a:tc>
                <a:tc>
                  <a:txBody>
                    <a:bodyPr/>
                    <a:lstStyle/>
                    <a:p>
                      <a:pPr indent="0" marL="0">
                        <a:buNone/>
                      </a:pPr>
                      <a:r>
                        <a:rPr lang="en-US" sz="1200" dirty="0">
                          <a:solidFill>
                            <a:srgbClr val="1F2340"/>
                          </a:solidFill>
                        </a:rPr>
                        <a:t>Reading</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FFFFFF"/>
                    </a:solidFill>
                  </a:tcPr>
                </a:tc>
                <a:tc>
                  <a:txBody>
                    <a:bodyPr/>
                    <a:lstStyle/>
                    <a:p>
                      <a:pPr indent="0" marL="0">
                        <a:buNone/>
                      </a:pPr>
                      <a:r>
                        <a:rPr lang="en-US" sz="1200" dirty="0">
                          <a:solidFill>
                            <a:srgbClr val="1F2340"/>
                          </a:solidFill>
                        </a:rPr>
                        <a:t>Preview, reading job, one sentence unpacked, read by lane.</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FFFFFF"/>
                    </a:solidFill>
                  </a:tcPr>
                </a:tc>
                <a:tc>
                  <a:txBody>
                    <a:bodyPr/>
                    <a:lstStyle/>
                    <a:p>
                      <a:pPr indent="0" marL="0">
                        <a:buNone/>
                      </a:pPr>
                      <a:r>
                        <a:rPr lang="en-US" sz="1200" dirty="0">
                          <a:solidFill>
                            <a:srgbClr val="1F2340"/>
                          </a:solidFill>
                        </a:rPr>
                        <a:t>a/b/c/d fingers</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340"/>
                          </a:solidFill>
                        </a:rPr>
                        <a:t>50–60</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EEF0F7"/>
                    </a:solidFill>
                  </a:tcPr>
                </a:tc>
                <a:tc>
                  <a:txBody>
                    <a:bodyPr/>
                    <a:lstStyle/>
                    <a:p>
                      <a:pPr indent="0" marL="0">
                        <a:buNone/>
                      </a:pPr>
                      <a:r>
                        <a:rPr lang="en-US" sz="1200" dirty="0">
                          <a:solidFill>
                            <a:srgbClr val="1F2340"/>
                          </a:solidFill>
                        </a:rPr>
                        <a:t>Talk before writing</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EEF0F7"/>
                    </a:solidFill>
                  </a:tcPr>
                </a:tc>
                <a:tc>
                  <a:txBody>
                    <a:bodyPr/>
                    <a:lstStyle/>
                    <a:p>
                      <a:pPr indent="0" marL="0">
                        <a:buNone/>
                      </a:pPr>
                      <a:r>
                        <a:rPr lang="en-US" sz="1200" dirty="0">
                          <a:solidFill>
                            <a:srgbClr val="1F2340"/>
                          </a:solidFill>
                        </a:rPr>
                        <a:t>Describe pie 3; three partner questions.</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EEF0F7"/>
                    </a:solidFill>
                  </a:tcPr>
                </a:tc>
                <a:tc>
                  <a:txBody>
                    <a:bodyPr/>
                    <a:lstStyle/>
                    <a:p>
                      <a:pPr indent="0" marL="0">
                        <a:buNone/>
                      </a:pPr>
                      <a:r>
                        <a:rPr lang="en-US" sz="1200" dirty="0">
                          <a:solidFill>
                            <a:srgbClr val="1F2340"/>
                          </a:solidFill>
                        </a:rPr>
                        <a:t>Pick three</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EEF0F7"/>
                    </a:solidFill>
                  </a:tcPr>
                </a:tc>
              </a:tr>
              <a:tr h="384048">
                <a:tc>
                  <a:txBody>
                    <a:bodyPr/>
                    <a:lstStyle/>
                    <a:p>
                      <a:pPr indent="0" marL="0">
                        <a:buNone/>
                      </a:pPr>
                      <a:r>
                        <a:rPr lang="en-US" sz="1200" dirty="0">
                          <a:solidFill>
                            <a:srgbClr val="1F2340"/>
                          </a:solidFill>
                        </a:rPr>
                        <a:t>60–80</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FFFFFF"/>
                    </a:solidFill>
                  </a:tcPr>
                </a:tc>
                <a:tc>
                  <a:txBody>
                    <a:bodyPr/>
                    <a:lstStyle/>
                    <a:p>
                      <a:pPr indent="0" marL="0">
                        <a:buNone/>
                      </a:pPr>
                      <a:r>
                        <a:rPr lang="en-US" sz="1200" dirty="0">
                          <a:solidFill>
                            <a:srgbClr val="1F2340"/>
                          </a:solidFill>
                        </a:rPr>
                        <a:t>Writing by lane</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FFFFFF"/>
                    </a:solidFill>
                  </a:tcPr>
                </a:tc>
                <a:tc>
                  <a:txBody>
                    <a:bodyPr/>
                    <a:lstStyle/>
                    <a:p>
                      <a:pPr indent="0" marL="0">
                        <a:buNone/>
                      </a:pPr>
                      <a:r>
                        <a:rPr lang="en-US" sz="1200" dirty="0">
                          <a:solidFill>
                            <a:srgbClr val="1F2340"/>
                          </a:solidFill>
                        </a:rPr>
                        <a:t>W1 labels · W2 frames · W3 paragraph · W4 essay/email.</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FFFFFF"/>
                    </a:solidFill>
                  </a:tcPr>
                </a:tc>
                <a:tc>
                  <a:txBody>
                    <a:bodyPr/>
                    <a:lstStyle/>
                    <a:p>
                      <a:pPr indent="0" marL="0">
                        <a:buNone/>
                      </a:pPr>
                      <a:r>
                        <a:rPr lang="en-US" sz="1200" dirty="0">
                          <a:solidFill>
                            <a:srgbClr val="1F2340"/>
                          </a:solidFill>
                        </a:rPr>
                        <a:t>both / unlike by 70</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340"/>
                          </a:solidFill>
                        </a:rPr>
                        <a:t>80–87</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EEF0F7"/>
                    </a:solidFill>
                  </a:tcPr>
                </a:tc>
                <a:tc>
                  <a:txBody>
                    <a:bodyPr/>
                    <a:lstStyle/>
                    <a:p>
                      <a:pPr indent="0" marL="0">
                        <a:buNone/>
                      </a:pPr>
                      <a:r>
                        <a:rPr lang="en-US" sz="1200" dirty="0">
                          <a:solidFill>
                            <a:srgbClr val="1F2340"/>
                          </a:solidFill>
                        </a:rPr>
                        <a:t>S4 / S2</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EEF0F7"/>
                    </a:solidFill>
                  </a:tcPr>
                </a:tc>
                <a:tc>
                  <a:txBody>
                    <a:bodyPr/>
                    <a:lstStyle/>
                    <a:p>
                      <a:pPr indent="0" marL="0">
                        <a:buNone/>
                      </a:pPr>
                      <a:r>
                        <a:rPr lang="en-US" sz="1200" dirty="0">
                          <a:solidFill>
                            <a:srgbClr val="1F2340"/>
                          </a:solidFill>
                        </a:rPr>
                        <a:t>Record an opinion, or give the steps.</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EEF0F7"/>
                    </a:solidFill>
                  </a:tcPr>
                </a:tc>
                <a:tc>
                  <a:txBody>
                    <a:bodyPr/>
                    <a:lstStyle/>
                    <a:p>
                      <a:pPr indent="0" marL="0">
                        <a:buNone/>
                      </a:pPr>
                      <a:r>
                        <a:rPr lang="en-US" sz="1200" dirty="0">
                          <a:solidFill>
                            <a:srgbClr val="1F2340"/>
                          </a:solidFill>
                        </a:rPr>
                        <a:t>Recording exists</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EEF0F7"/>
                    </a:solidFill>
                  </a:tcPr>
                </a:tc>
              </a:tr>
              <a:tr h="384048">
                <a:tc>
                  <a:txBody>
                    <a:bodyPr/>
                    <a:lstStyle/>
                    <a:p>
                      <a:pPr indent="0" marL="0">
                        <a:buNone/>
                      </a:pPr>
                      <a:r>
                        <a:rPr lang="en-US" sz="1200" dirty="0">
                          <a:solidFill>
                            <a:srgbClr val="1F2340"/>
                          </a:solidFill>
                        </a:rPr>
                        <a:t>87–90</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FFFFFF"/>
                    </a:solidFill>
                  </a:tcPr>
                </a:tc>
                <a:tc>
                  <a:txBody>
                    <a:bodyPr/>
                    <a:lstStyle/>
                    <a:p>
                      <a:pPr indent="0" marL="0">
                        <a:buNone/>
                      </a:pPr>
                      <a:r>
                        <a:rPr lang="en-US" sz="1200" dirty="0">
                          <a:solidFill>
                            <a:srgbClr val="1F2340"/>
                          </a:solidFill>
                        </a:rPr>
                        <a:t>Exit ticket</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FFFFFF"/>
                    </a:solidFill>
                  </a:tcPr>
                </a:tc>
                <a:tc>
                  <a:txBody>
                    <a:bodyPr/>
                    <a:lstStyle/>
                    <a:p>
                      <a:pPr indent="0" marL="0">
                        <a:buNone/>
                      </a:pPr>
                      <a:r>
                        <a:rPr lang="en-US" sz="1200" dirty="0">
                          <a:solidFill>
                            <a:srgbClr val="1F2340"/>
                          </a:solidFill>
                        </a:rPr>
                        <a:t>Today I learned that ___ pie ___.</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FFFFFF"/>
                    </a:solidFill>
                  </a:tcPr>
                </a:tc>
                <a:tc>
                  <a:txBody>
                    <a:bodyPr/>
                    <a:lstStyle/>
                    <a:p>
                      <a:pPr indent="0" marL="0">
                        <a:buNone/>
                      </a:pPr>
                      <a:r>
                        <a:rPr lang="en-US" sz="1200" dirty="0">
                          <a:solidFill>
                            <a:srgbClr val="1F2340"/>
                          </a:solidFill>
                        </a:rPr>
                        <a:t>Sort by lane</a:t>
                      </a:r>
                      <a:endParaRPr lang="en-US" sz="1200" dirty="0"/>
                    </a:p>
                  </a:txBody>
                  <a:tcPr marL="91440" marR="91440" marT="45720" marB="45720">
                    <a:lnL w="12700" cap="flat" cmpd="sng" algn="ctr">
                      <a:solidFill>
                        <a:srgbClr val="E3E5EF"/>
                      </a:solidFill>
                      <a:prstDash val="solid"/>
                      <a:round/>
                      <a:headEnd type="none" w="med" len="med"/>
                      <a:tailEnd type="none" w="med" len="med"/>
                    </a:lnL>
                    <a:lnR w="12700" cap="flat" cmpd="sng" algn="ctr">
                      <a:solidFill>
                        <a:srgbClr val="E3E5EF"/>
                      </a:solidFill>
                      <a:prstDash val="solid"/>
                      <a:round/>
                      <a:headEnd type="none" w="med" len="med"/>
                      <a:tailEnd type="none" w="med" len="med"/>
                    </a:lnR>
                    <a:lnT w="12700" cap="flat" cmpd="sng" algn="ctr">
                      <a:solidFill>
                        <a:srgbClr val="E3E5EF"/>
                      </a:solidFill>
                      <a:prstDash val="solid"/>
                      <a:round/>
                      <a:headEnd type="none" w="med" len="med"/>
                      <a:tailEnd type="none" w="med" len="med"/>
                    </a:lnT>
                    <a:lnB w="12700" cap="flat" cmpd="sng" algn="ctr">
                      <a:solidFill>
                        <a:srgbClr val="E3E5EF"/>
                      </a:solidFill>
                      <a:prstDash val="solid"/>
                      <a:round/>
                      <a:headEnd type="none" w="med" len="med"/>
                      <a:tailEnd type="none" w="med" len="med"/>
                    </a:lnB>
                    <a:solidFill>
                      <a:srgbClr val="FFFFFF"/>
                    </a:solidFill>
                  </a:tcPr>
                </a:tc>
              </a:tr>
            </a:tbl>
          </a:graphicData>
        </a:graphic>
      </p:graphicFrame>
      <p:sp>
        <p:nvSpPr>
          <p:cNvPr id="5" name="Text 3"/>
          <p:cNvSpPr/>
          <p:nvPr>
            <p:ph idx="104" type="body" hasCustomPrompt="1"/>
          </p:nvPr>
        </p:nvSpPr>
        <p:spPr>
          <a:xfrm>
            <a:off x="548640" y="1463040"/>
            <a:ext cx="7315200" cy="457200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07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me range"/>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spc="300" kern="0" dirty="0">
                <a:solidFill>
                  <a:srgbClr val="C9A227"/>
                </a:solidFill>
              </a:rPr>
              <a:t>0–5 min</a:t>
            </a:r>
            <a:endParaRPr lang="en-US" sz="1400" dirty="0"/>
          </a:p>
        </p:txBody>
      </p:sp>
      <p:sp>
        <p:nvSpPr>
          <p:cNvPr id="3" name="segment title"/>
          <p:cNvSpPr txBox="1"/>
          <p:nvPr/>
        </p:nvSpPr>
        <p:spPr>
          <a:xfrm>
            <a:off x="548640" y="914400"/>
            <a:ext cx="8503920" cy="146304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One slice.</a:t>
            </a:r>
            <a:endParaRPr lang="en-US" sz="4800" dirty="0"/>
          </a:p>
        </p:txBody>
      </p:sp>
      <p:sp>
        <p:nvSpPr>
          <p:cNvPr id="4" name="segment sub"/>
          <p:cNvSpPr txBox="1"/>
          <p:nvPr/>
        </p:nvSpPr>
        <p:spPr>
          <a:xfrm>
            <a:off x="548640" y="2468880"/>
            <a:ext cx="8229600" cy="1097280"/>
          </a:xfrm>
          <a:prstGeom prst="rect">
            <a:avLst/>
          </a:prstGeom>
          <a:noFill/>
          <a:ln/>
        </p:spPr>
        <p:txBody>
          <a:bodyPr wrap="square" lIns="0" tIns="0" rIns="0" bIns="0" rtlCol="0" anchor="ctr"/>
          <a:lstStyle/>
          <a:p>
            <a:pPr indent="0" marL="0">
              <a:buNone/>
            </a:pPr>
            <a:r>
              <a:rPr lang="en-US" sz="2000" dirty="0">
                <a:solidFill>
                  <a:srgbClr val="C9CEEA"/>
                </a:solidFill>
              </a:rPr>
              <a:t>What do you see? A word counts. Three answers, any level.</a:t>
            </a:r>
            <a:endParaRPr lang="en-US" sz="2000" dirty="0"/>
          </a:p>
        </p:txBody>
      </p:sp>
      <p:pic>
        <p:nvPicPr>
          <p:cNvPr id="5" name="segment icon" descr="preencoded.png">    </p:cNvPr>
          <p:cNvPicPr>
            <a:picLocks noChangeAspect="1"/>
          </p:cNvPicPr>
          <p:nvPr/>
        </p:nvPicPr>
        <p:blipFill>
          <a:blip r:embed="rId1"/>
          <a:stretch>
            <a:fillRect/>
          </a:stretch>
        </p:blipFill>
        <p:spPr>
          <a:xfrm>
            <a:off x="548640" y="3931920"/>
            <a:ext cx="1188720" cy="1188720"/>
          </a:xfrm>
          <a:prstGeom prst="rect">
            <a:avLst/>
          </a:prstGeom>
        </p:spPr>
      </p:pic>
      <p:sp>
        <p:nvSpPr>
          <p:cNvPr id="6" name="timer badge"/>
          <p:cNvSpPr/>
          <p:nvPr/>
        </p:nvSpPr>
        <p:spPr>
          <a:xfrm>
            <a:off x="9235440" y="457200"/>
            <a:ext cx="2468880" cy="1051560"/>
          </a:xfrm>
          <a:prstGeom prst="roundRect">
            <a:avLst>
              <a:gd name="adj" fmla="val 13043"/>
            </a:avLst>
          </a:prstGeom>
          <a:solidFill>
            <a:srgbClr val="1E2761"/>
          </a:solidFill>
          <a:ln w="25400">
            <a:solidFill>
              <a:srgbClr val="C9A227"/>
            </a:solidFill>
            <a:prstDash val="solid"/>
          </a:ln>
        </p:spPr>
      </p:sp>
      <p:pic>
        <p:nvPicPr>
          <p:cNvPr id="7" name="clock" descr="preencoded.png">    </p:cNvPr>
          <p:cNvPicPr>
            <a:picLocks noChangeAspect="1"/>
          </p:cNvPicPr>
          <p:nvPr/>
        </p:nvPicPr>
        <p:blipFill>
          <a:blip r:embed="rId2"/>
          <a:stretch>
            <a:fillRect/>
          </a:stretch>
        </p:blipFill>
        <p:spPr>
          <a:xfrm>
            <a:off x="9372600" y="713232"/>
            <a:ext cx="548640" cy="548640"/>
          </a:xfrm>
          <a:prstGeom prst="rect">
            <a:avLst/>
          </a:prstGeom>
        </p:spPr>
      </p:pic>
      <p:sp>
        <p:nvSpPr>
          <p:cNvPr id="8" name="timer link"/>
          <p:cNvSpPr txBox="1"/>
          <p:nvPr/>
        </p:nvSpPr>
        <p:spPr>
          <a:xfrm>
            <a:off x="9966960" y="548640"/>
            <a:ext cx="1691640" cy="868680"/>
          </a:xfrm>
          <a:prstGeom prst="rect">
            <a:avLst/>
          </a:prstGeom>
          <a:noFill/>
          <a:ln/>
        </p:spPr>
        <p:txBody>
          <a:bodyPr wrap="square" lIns="0" tIns="0" rIns="0" bIns="0" rtlCol="0" anchor="ctr"/>
          <a:lstStyle/>
          <a:p>
            <a:pPr indent="0" marL="0">
              <a:buNone/>
            </a:pPr>
            <a:r>
              <a:rPr lang="en-US" sz="3000" b="1" u="sng" dirty="0">
                <a:solidFill>
                  <a:srgbClr val="FFFFFF"/>
                </a:solidFill>
                <a:hlinkClick r:id="rId3" invalidUrl="" action="" tgtFrame="" tooltip="" history="1" highlightClick="0" endSnd="0">
                  <a:extLst>
                    <a:ext uri="{A12FA001-AC4F-418D-AE19-62706E023703}">
                      <ahyp:hlinkClr xmlns:ahyp="http://schemas.microsoft.com/office/drawing/2018/hyperlinkcolor" val="tx"/>
                    </a:ext>
                  </a:extLst>
                </a:hlinkClick>
              </a:rPr>
              <a:t>5:00</a:t>
            </a:r>
            <a:endParaRPr lang="en-US" sz="3000" dirty="0"/>
          </a:p>
          <a:p>
            <a:pPr indent="0" marL="0">
              <a:buNone/>
            </a:pPr>
            <a:r>
              <a:rPr lang="en-US" sz="900" u="sng" dirty="0">
                <a:solidFill>
                  <a:srgbClr val="C9CEEA"/>
                </a:solidFill>
                <a:hlinkClick r:id="rId4" invalidUrl="" action="" tgtFrame="" tooltip="" history="1" highlightClick="0" endSnd="0">
                  <a:extLst>
                    <a:ext uri="{A12FA001-AC4F-418D-AE19-62706E023703}">
                      <ahyp:hlinkClr xmlns:ahyp="http://schemas.microsoft.com/office/drawing/2018/hyperlinkcolor" val="tx"/>
                    </a:ext>
                  </a:extLst>
                </a:hlinkClick>
              </a:rPr>
              <a:t>click to start timer</a:t>
            </a:r>
            <a:endParaRPr lang="en-US" sz="3000" dirty="0"/>
          </a:p>
        </p:txBody>
      </p:sp>
      <p:sp>
        <p:nvSpPr>
          <p:cNvPr id="9" name="agenda Open"/>
          <p:cNvSpPr/>
          <p:nvPr/>
        </p:nvSpPr>
        <p:spPr>
          <a:xfrm>
            <a:off x="548640" y="5577840"/>
            <a:ext cx="587248" cy="384048"/>
          </a:xfrm>
          <a:prstGeom prst="rect">
            <a:avLst/>
          </a:prstGeom>
          <a:solidFill>
            <a:srgbClr val="C9A227"/>
          </a:solidFill>
          <a:ln w="12700">
            <a:solidFill>
              <a:srgbClr val="1E2761"/>
            </a:solidFill>
            <a:prstDash val="solid"/>
          </a:ln>
        </p:spPr>
      </p:sp>
      <p:sp>
        <p:nvSpPr>
          <p:cNvPr id="10" name="agenda Five words"/>
          <p:cNvSpPr/>
          <p:nvPr/>
        </p:nvSpPr>
        <p:spPr>
          <a:xfrm>
            <a:off x="1163320" y="5577840"/>
            <a:ext cx="833120" cy="384048"/>
          </a:xfrm>
          <a:prstGeom prst="rect">
            <a:avLst/>
          </a:prstGeom>
          <a:solidFill>
            <a:srgbClr val="2B3470"/>
          </a:solidFill>
          <a:ln w="12700">
            <a:solidFill>
              <a:srgbClr val="1E2761"/>
            </a:solidFill>
            <a:prstDash val="solid"/>
          </a:ln>
        </p:spPr>
      </p:sp>
      <p:sp>
        <p:nvSpPr>
          <p:cNvPr id="11" name="agenda label Five words"/>
          <p:cNvSpPr txBox="1"/>
          <p:nvPr/>
        </p:nvSpPr>
        <p:spPr>
          <a:xfrm>
            <a:off x="1163320" y="5577840"/>
            <a:ext cx="833120" cy="384048"/>
          </a:xfrm>
          <a:prstGeom prst="rect">
            <a:avLst/>
          </a:prstGeom>
          <a:noFill/>
          <a:ln/>
        </p:spPr>
        <p:txBody>
          <a:bodyPr wrap="square" lIns="0" tIns="0" rIns="0" bIns="0" rtlCol="0" anchor="ctr"/>
          <a:lstStyle/>
          <a:p>
            <a:pPr algn="ctr" indent="0" marL="0">
              <a:buNone/>
            </a:pPr>
            <a:r>
              <a:rPr lang="en-US" sz="900" dirty="0">
                <a:solidFill>
                  <a:srgbClr val="AEB5DA"/>
                </a:solidFill>
              </a:rPr>
              <a:t>Five words</a:t>
            </a:r>
            <a:endParaRPr lang="en-US" sz="900" dirty="0"/>
          </a:p>
        </p:txBody>
      </p:sp>
      <p:sp>
        <p:nvSpPr>
          <p:cNvPr id="12" name="agenda Cognates"/>
          <p:cNvSpPr/>
          <p:nvPr/>
        </p:nvSpPr>
        <p:spPr>
          <a:xfrm>
            <a:off x="2023872" y="5577840"/>
            <a:ext cx="710184" cy="384048"/>
          </a:xfrm>
          <a:prstGeom prst="rect">
            <a:avLst/>
          </a:prstGeom>
          <a:solidFill>
            <a:srgbClr val="2B3470"/>
          </a:solidFill>
          <a:ln w="12700">
            <a:solidFill>
              <a:srgbClr val="1E2761"/>
            </a:solidFill>
            <a:prstDash val="solid"/>
          </a:ln>
        </p:spPr>
      </p:sp>
      <p:sp>
        <p:nvSpPr>
          <p:cNvPr id="13" name="agenda label Cognates"/>
          <p:cNvSpPr txBox="1"/>
          <p:nvPr/>
        </p:nvSpPr>
        <p:spPr>
          <a:xfrm>
            <a:off x="2023872" y="5577840"/>
            <a:ext cx="710184" cy="384048"/>
          </a:xfrm>
          <a:prstGeom prst="rect">
            <a:avLst/>
          </a:prstGeom>
          <a:noFill/>
          <a:ln/>
        </p:spPr>
        <p:txBody>
          <a:bodyPr wrap="square" lIns="0" tIns="0" rIns="0" bIns="0" rtlCol="0" anchor="ctr"/>
          <a:lstStyle/>
          <a:p>
            <a:pPr algn="ctr" indent="0" marL="0">
              <a:buNone/>
            </a:pPr>
            <a:r>
              <a:rPr lang="en-US" sz="900" dirty="0">
                <a:solidFill>
                  <a:srgbClr val="AEB5DA"/>
                </a:solidFill>
              </a:rPr>
              <a:t>Cognates</a:t>
            </a:r>
            <a:endParaRPr lang="en-US" sz="900" dirty="0"/>
          </a:p>
        </p:txBody>
      </p:sp>
      <p:sp>
        <p:nvSpPr>
          <p:cNvPr id="14" name="agenda Listening"/>
          <p:cNvSpPr/>
          <p:nvPr/>
        </p:nvSpPr>
        <p:spPr>
          <a:xfrm>
            <a:off x="2761488" y="5577840"/>
            <a:ext cx="1816608" cy="384048"/>
          </a:xfrm>
          <a:prstGeom prst="rect">
            <a:avLst/>
          </a:prstGeom>
          <a:solidFill>
            <a:srgbClr val="2B3470"/>
          </a:solidFill>
          <a:ln w="12700">
            <a:solidFill>
              <a:srgbClr val="1E2761"/>
            </a:solidFill>
            <a:prstDash val="solid"/>
          </a:ln>
        </p:spPr>
      </p:sp>
      <p:sp>
        <p:nvSpPr>
          <p:cNvPr id="15" name="agenda label Listening"/>
          <p:cNvSpPr txBox="1"/>
          <p:nvPr/>
        </p:nvSpPr>
        <p:spPr>
          <a:xfrm>
            <a:off x="2761488" y="5577840"/>
            <a:ext cx="1816608" cy="384048"/>
          </a:xfrm>
          <a:prstGeom prst="rect">
            <a:avLst/>
          </a:prstGeom>
          <a:noFill/>
          <a:ln/>
        </p:spPr>
        <p:txBody>
          <a:bodyPr wrap="square" lIns="0" tIns="0" rIns="0" bIns="0" rtlCol="0" anchor="ctr"/>
          <a:lstStyle/>
          <a:p>
            <a:pPr algn="ctr" indent="0" marL="0">
              <a:buNone/>
            </a:pPr>
            <a:r>
              <a:rPr lang="en-US" sz="900" dirty="0">
                <a:solidFill>
                  <a:srgbClr val="AEB5DA"/>
                </a:solidFill>
              </a:rPr>
              <a:t>Listening</a:t>
            </a:r>
            <a:endParaRPr lang="en-US" sz="900" dirty="0"/>
          </a:p>
        </p:txBody>
      </p:sp>
      <p:sp>
        <p:nvSpPr>
          <p:cNvPr id="16" name="agenda Reading"/>
          <p:cNvSpPr/>
          <p:nvPr/>
        </p:nvSpPr>
        <p:spPr>
          <a:xfrm>
            <a:off x="4605528" y="5577840"/>
            <a:ext cx="2062480" cy="384048"/>
          </a:xfrm>
          <a:prstGeom prst="rect">
            <a:avLst/>
          </a:prstGeom>
          <a:solidFill>
            <a:srgbClr val="2B3470"/>
          </a:solidFill>
          <a:ln w="12700">
            <a:solidFill>
              <a:srgbClr val="1E2761"/>
            </a:solidFill>
            <a:prstDash val="solid"/>
          </a:ln>
        </p:spPr>
      </p:sp>
      <p:sp>
        <p:nvSpPr>
          <p:cNvPr id="17" name="agenda label Reading"/>
          <p:cNvSpPr txBox="1"/>
          <p:nvPr/>
        </p:nvSpPr>
        <p:spPr>
          <a:xfrm>
            <a:off x="4605528" y="5577840"/>
            <a:ext cx="2062480" cy="384048"/>
          </a:xfrm>
          <a:prstGeom prst="rect">
            <a:avLst/>
          </a:prstGeom>
          <a:noFill/>
          <a:ln/>
        </p:spPr>
        <p:txBody>
          <a:bodyPr wrap="square" lIns="0" tIns="0" rIns="0" bIns="0" rtlCol="0" anchor="ctr"/>
          <a:lstStyle/>
          <a:p>
            <a:pPr algn="ctr" indent="0" marL="0">
              <a:buNone/>
            </a:pPr>
            <a:r>
              <a:rPr lang="en-US" sz="900" dirty="0">
                <a:solidFill>
                  <a:srgbClr val="AEB5DA"/>
                </a:solidFill>
              </a:rPr>
              <a:t>Reading</a:t>
            </a:r>
            <a:endParaRPr lang="en-US" sz="900" dirty="0"/>
          </a:p>
        </p:txBody>
      </p:sp>
      <p:sp>
        <p:nvSpPr>
          <p:cNvPr id="18" name="agenda Talk"/>
          <p:cNvSpPr/>
          <p:nvPr/>
        </p:nvSpPr>
        <p:spPr>
          <a:xfrm>
            <a:off x="6695440" y="5577840"/>
            <a:ext cx="1201928" cy="384048"/>
          </a:xfrm>
          <a:prstGeom prst="rect">
            <a:avLst/>
          </a:prstGeom>
          <a:solidFill>
            <a:srgbClr val="2B3470"/>
          </a:solidFill>
          <a:ln w="12700">
            <a:solidFill>
              <a:srgbClr val="1E2761"/>
            </a:solidFill>
            <a:prstDash val="solid"/>
          </a:ln>
        </p:spPr>
      </p:sp>
      <p:sp>
        <p:nvSpPr>
          <p:cNvPr id="19" name="agenda label Talk"/>
          <p:cNvSpPr txBox="1"/>
          <p:nvPr/>
        </p:nvSpPr>
        <p:spPr>
          <a:xfrm>
            <a:off x="6695440" y="5577840"/>
            <a:ext cx="1201928" cy="384048"/>
          </a:xfrm>
          <a:prstGeom prst="rect">
            <a:avLst/>
          </a:prstGeom>
          <a:noFill/>
          <a:ln/>
        </p:spPr>
        <p:txBody>
          <a:bodyPr wrap="square" lIns="0" tIns="0" rIns="0" bIns="0" rtlCol="0" anchor="ctr"/>
          <a:lstStyle/>
          <a:p>
            <a:pPr algn="ctr" indent="0" marL="0">
              <a:buNone/>
            </a:pPr>
            <a:r>
              <a:rPr lang="en-US" sz="900" dirty="0">
                <a:solidFill>
                  <a:srgbClr val="AEB5DA"/>
                </a:solidFill>
              </a:rPr>
              <a:t>Talk</a:t>
            </a:r>
            <a:endParaRPr lang="en-US" sz="900" dirty="0"/>
          </a:p>
        </p:txBody>
      </p:sp>
      <p:sp>
        <p:nvSpPr>
          <p:cNvPr id="20" name="agenda Writing"/>
          <p:cNvSpPr/>
          <p:nvPr/>
        </p:nvSpPr>
        <p:spPr>
          <a:xfrm>
            <a:off x="7924800" y="5577840"/>
            <a:ext cx="2431288" cy="384048"/>
          </a:xfrm>
          <a:prstGeom prst="rect">
            <a:avLst/>
          </a:prstGeom>
          <a:solidFill>
            <a:srgbClr val="2B3470"/>
          </a:solidFill>
          <a:ln w="12700">
            <a:solidFill>
              <a:srgbClr val="1E2761"/>
            </a:solidFill>
            <a:prstDash val="solid"/>
          </a:ln>
        </p:spPr>
      </p:sp>
      <p:sp>
        <p:nvSpPr>
          <p:cNvPr id="21" name="agenda label Writing"/>
          <p:cNvSpPr txBox="1"/>
          <p:nvPr/>
        </p:nvSpPr>
        <p:spPr>
          <a:xfrm>
            <a:off x="7924800" y="5577840"/>
            <a:ext cx="2431288" cy="384048"/>
          </a:xfrm>
          <a:prstGeom prst="rect">
            <a:avLst/>
          </a:prstGeom>
          <a:noFill/>
          <a:ln/>
        </p:spPr>
        <p:txBody>
          <a:bodyPr wrap="square" lIns="0" tIns="0" rIns="0" bIns="0" rtlCol="0" anchor="ctr"/>
          <a:lstStyle/>
          <a:p>
            <a:pPr algn="ctr" indent="0" marL="0">
              <a:buNone/>
            </a:pPr>
            <a:r>
              <a:rPr lang="en-US" sz="900" dirty="0">
                <a:solidFill>
                  <a:srgbClr val="AEB5DA"/>
                </a:solidFill>
              </a:rPr>
              <a:t>Writing</a:t>
            </a:r>
            <a:endParaRPr lang="en-US" sz="900" dirty="0"/>
          </a:p>
        </p:txBody>
      </p:sp>
      <p:sp>
        <p:nvSpPr>
          <p:cNvPr id="22" name="agenda S4 / S2"/>
          <p:cNvSpPr/>
          <p:nvPr/>
        </p:nvSpPr>
        <p:spPr>
          <a:xfrm>
            <a:off x="10383520" y="5577840"/>
            <a:ext cx="833120" cy="384048"/>
          </a:xfrm>
          <a:prstGeom prst="rect">
            <a:avLst/>
          </a:prstGeom>
          <a:solidFill>
            <a:srgbClr val="2B3470"/>
          </a:solidFill>
          <a:ln w="12700">
            <a:solidFill>
              <a:srgbClr val="1E2761"/>
            </a:solidFill>
            <a:prstDash val="solid"/>
          </a:ln>
        </p:spPr>
      </p:sp>
      <p:sp>
        <p:nvSpPr>
          <p:cNvPr id="23" name="agenda label S4 / S2"/>
          <p:cNvSpPr txBox="1"/>
          <p:nvPr/>
        </p:nvSpPr>
        <p:spPr>
          <a:xfrm>
            <a:off x="10383520" y="5577840"/>
            <a:ext cx="833120" cy="384048"/>
          </a:xfrm>
          <a:prstGeom prst="rect">
            <a:avLst/>
          </a:prstGeom>
          <a:noFill/>
          <a:ln/>
        </p:spPr>
        <p:txBody>
          <a:bodyPr wrap="square" lIns="0" tIns="0" rIns="0" bIns="0" rtlCol="0" anchor="ctr"/>
          <a:lstStyle/>
          <a:p>
            <a:pPr algn="ctr" indent="0" marL="0">
              <a:buNone/>
            </a:pPr>
            <a:r>
              <a:rPr lang="en-US" sz="900" dirty="0">
                <a:solidFill>
                  <a:srgbClr val="AEB5DA"/>
                </a:solidFill>
              </a:rPr>
              <a:t>S4 / S2</a:t>
            </a:r>
            <a:endParaRPr lang="en-US" sz="900" dirty="0"/>
          </a:p>
        </p:txBody>
      </p:sp>
      <p:sp>
        <p:nvSpPr>
          <p:cNvPr id="24" name="agenda Exit"/>
          <p:cNvSpPr/>
          <p:nvPr/>
        </p:nvSpPr>
        <p:spPr>
          <a:xfrm>
            <a:off x="11244072" y="5577840"/>
            <a:ext cx="341376" cy="384048"/>
          </a:xfrm>
          <a:prstGeom prst="rect">
            <a:avLst/>
          </a:prstGeom>
          <a:solidFill>
            <a:srgbClr val="2B3470"/>
          </a:solidFill>
          <a:ln w="12700">
            <a:solidFill>
              <a:srgbClr val="1E2761"/>
            </a:solidFill>
            <a:prstDash val="solid"/>
          </a:ln>
        </p:spPr>
      </p:sp>
      <p:sp>
        <p:nvSpPr>
          <p:cNvPr id="25" name="Text 2"/>
          <p:cNvSpPr/>
          <p:nvPr>
            <p:ph idx="102" type="title" hasCustomPrompt="1"/>
          </p:nvPr>
        </p:nvSpPr>
        <p:spPr>
          <a:xfrm>
            <a:off x="548640" y="457200"/>
            <a:ext cx="11064240" cy="1005840"/>
          </a:xfrm>
          <a:prstGeom prst="rect">
            <a:avLst/>
          </a:prstGeom>
          <a:noFill/>
          <a:ln/>
        </p:spPr>
        <p:txBody>
          <a:bodyPr wrap="square" lIns="0" tIns="0" rIns="0" bIns="0" rtlCol="0"/>
          <a:lstStyle/>
          <a:p>
            <a:pPr indent="0" marL="0">
              <a:buNone/>
            </a:pPr>
            <a:endParaRPr lang="en-US" sz="4000" dirty="0"/>
          </a:p>
        </p:txBody>
      </p:sp>
      <p:sp>
        <p:nvSpPr>
          <p:cNvPr id="26" name="Text 2"/>
          <p:cNvSpPr/>
          <p:nvPr>
            <p:ph idx="103" type="body" hasCustomPrompt="1"/>
          </p:nvPr>
        </p:nvSpPr>
        <p:spPr>
          <a:xfrm>
            <a:off x="548640" y="1554480"/>
            <a:ext cx="7498080" cy="448056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5DA"/>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548640" y="411480"/>
            <a:ext cx="11064240" cy="914400"/>
          </a:xfrm>
          <a:prstGeom prst="rect">
            <a:avLst/>
          </a:prstGeom>
          <a:noFill/>
          <a:ln/>
        </p:spPr>
        <p:txBody>
          <a:bodyPr wrap="square" lIns="0" tIns="0" rIns="0" bIns="0" rtlCol="0"/>
          <a:lstStyle/>
          <a:p>
            <a:pPr indent="0" marL="0">
              <a:buNone/>
            </a:pPr>
            <a:r>
              <a:rPr lang="en-US" sz="3600" b="1" dirty="0">
                <a:solidFill>
                  <a:srgbClr val="1E2761"/>
                </a:solidFill>
              </a:rPr>
              <a:t>What do you see?</a:t>
            </a:r>
            <a:endParaRPr lang="en-US" sz="3600" dirty="0"/>
          </a:p>
        </p:txBody>
      </p:sp>
      <p:pic>
        <p:nvPicPr>
          <p:cNvPr id="3" name="pie 1" descr="/home/claude/deck/buttermilk.jpg">    </p:cNvPr>
          <p:cNvPicPr>
            <a:picLocks noChangeAspect="1"/>
          </p:cNvPicPr>
          <p:nvPr/>
        </p:nvPicPr>
        <p:blipFill>
          <a:blip r:embed="rId1"/>
          <a:stretch>
            <a:fillRect/>
          </a:stretch>
        </p:blipFill>
        <p:spPr>
          <a:xfrm>
            <a:off x="548640" y="1371600"/>
            <a:ext cx="4937760" cy="4663440"/>
          </a:xfrm>
          <a:prstGeom prst="rect">
            <a:avLst/>
          </a:prstGeom>
        </p:spPr>
      </p:pic>
      <p:sp>
        <p:nvSpPr>
          <p:cNvPr id="4" name="frames"/>
          <p:cNvSpPr/>
          <p:nvPr/>
        </p:nvSpPr>
        <p:spPr>
          <a:xfrm>
            <a:off x="5943600" y="1463040"/>
            <a:ext cx="5669280" cy="1828800"/>
          </a:xfrm>
          <a:prstGeom prst="roundRect">
            <a:avLst>
              <a:gd name="adj" fmla="val 6000"/>
            </a:avLst>
          </a:prstGeom>
          <a:solidFill>
            <a:srgbClr val="FFFFFF"/>
          </a:solidFill>
          <a:ln w="19050">
            <a:solidFill>
              <a:srgbClr val="C9A227"/>
            </a:solidFill>
            <a:prstDash val="solid"/>
          </a:ln>
        </p:spPr>
      </p:sp>
      <p:sp>
        <p:nvSpPr>
          <p:cNvPr id="5" name="frame text"/>
          <p:cNvSpPr txBox="1"/>
          <p:nvPr/>
        </p:nvSpPr>
        <p:spPr>
          <a:xfrm>
            <a:off x="6172200" y="1645920"/>
            <a:ext cx="5212080" cy="1463040"/>
          </a:xfrm>
          <a:prstGeom prst="rect">
            <a:avLst/>
          </a:prstGeom>
          <a:noFill/>
          <a:ln/>
        </p:spPr>
        <p:txBody>
          <a:bodyPr wrap="square" lIns="0" tIns="0" rIns="0" bIns="0" rtlCol="0" anchor="t"/>
          <a:lstStyle/>
          <a:p>
            <a:pPr indent="0" marL="0">
              <a:spcAft>
                <a:spcPts val="600"/>
              </a:spcAft>
              <a:buNone/>
            </a:pPr>
            <a:r>
              <a:rPr lang="en-US" sz="2000" dirty="0">
                <a:solidFill>
                  <a:srgbClr val="1E2761"/>
                </a:solidFill>
                <a:latin typeface="Georgia" pitchFamily="34" charset="0"/>
                <a:ea typeface="Georgia" pitchFamily="34" charset="-122"/>
                <a:cs typeface="Georgia" pitchFamily="34" charset="-120"/>
              </a:rPr>
              <a:t>I see ______.</a:t>
            </a:r>
            <a:endParaRPr lang="en-US" sz="2000" dirty="0"/>
          </a:p>
          <a:p>
            <a:pPr indent="0" marL="0">
              <a:spcAft>
                <a:spcPts val="600"/>
              </a:spcAft>
              <a:buNone/>
            </a:pPr>
            <a:r>
              <a:rPr lang="en-US" sz="2000" dirty="0">
                <a:solidFill>
                  <a:srgbClr val="1E2761"/>
                </a:solidFill>
                <a:latin typeface="Georgia" pitchFamily="34" charset="0"/>
                <a:ea typeface="Georgia" pitchFamily="34" charset="-122"/>
                <a:cs typeface="Georgia" pitchFamily="34" charset="-120"/>
              </a:rPr>
              <a:t>It is ______.</a:t>
            </a:r>
            <a:endParaRPr lang="en-US" sz="2000" dirty="0"/>
          </a:p>
          <a:p>
            <a:pPr indent="0" marL="0">
              <a:spcAft>
                <a:spcPts val="600"/>
              </a:spcAft>
              <a:buNone/>
            </a:pPr>
            <a:r>
              <a:rPr lang="en-US" sz="2000" dirty="0">
                <a:solidFill>
                  <a:srgbClr val="1E2761"/>
                </a:solidFill>
                <a:latin typeface="Georgia" pitchFamily="34" charset="0"/>
                <a:ea typeface="Georgia" pitchFamily="34" charset="-122"/>
                <a:cs typeface="Georgia" pitchFamily="34" charset="-120"/>
              </a:rPr>
              <a:t>It looks ______.</a:t>
            </a:r>
            <a:endParaRPr lang="en-US" sz="2000" dirty="0"/>
          </a:p>
        </p:txBody>
      </p:sp>
      <p:sp>
        <p:nvSpPr>
          <p:cNvPr id="6" name="thumbs prompt"/>
          <p:cNvSpPr txBox="1"/>
          <p:nvPr/>
        </p:nvSpPr>
        <p:spPr>
          <a:xfrm>
            <a:off x="5943600" y="3566160"/>
            <a:ext cx="5669280" cy="914400"/>
          </a:xfrm>
          <a:prstGeom prst="rect">
            <a:avLst/>
          </a:prstGeom>
          <a:noFill/>
          <a:ln/>
        </p:spPr>
        <p:txBody>
          <a:bodyPr wrap="square" lIns="0" tIns="0" rIns="0" bIns="0" rtlCol="0" anchor="ctr"/>
          <a:lstStyle/>
          <a:p>
            <a:pPr indent="0" marL="0">
              <a:buNone/>
            </a:pPr>
            <a:r>
              <a:rPr lang="en-US" sz="1800" b="1" dirty="0">
                <a:solidFill>
                  <a:srgbClr val="1E2761"/>
                </a:solidFill>
              </a:rPr>
              <a:t>Thumbs up: </a:t>
            </a:r>
            <a:pPr indent="0" marL="0">
              <a:buNone/>
            </a:pPr>
            <a:r>
              <a:rPr lang="en-US" sz="1800" dirty="0">
                <a:solidFill>
                  <a:srgbClr val="1F2340"/>
                </a:solidFill>
              </a:rPr>
              <a:t>Have you eaten a pie like this? Is there a dessert like this at home?</a:t>
            </a:r>
            <a:endParaRPr lang="en-US" sz="1800" dirty="0"/>
          </a:p>
        </p:txBody>
      </p:sp>
      <p:sp>
        <p:nvSpPr>
          <p:cNvPr id="7" name="timer badge"/>
          <p:cNvSpPr/>
          <p:nvPr/>
        </p:nvSpPr>
        <p:spPr>
          <a:xfrm>
            <a:off x="9235440" y="4846320"/>
            <a:ext cx="2468880" cy="1051560"/>
          </a:xfrm>
          <a:prstGeom prst="roundRect">
            <a:avLst>
              <a:gd name="adj" fmla="val 13043"/>
            </a:avLst>
          </a:prstGeom>
          <a:solidFill>
            <a:srgbClr val="1E2761"/>
          </a:solidFill>
          <a:ln w="25400">
            <a:solidFill>
              <a:srgbClr val="C9A227"/>
            </a:solidFill>
            <a:prstDash val="solid"/>
          </a:ln>
        </p:spPr>
      </p:sp>
      <p:pic>
        <p:nvPicPr>
          <p:cNvPr id="8" name="clock" descr="preencoded.png">    </p:cNvPr>
          <p:cNvPicPr>
            <a:picLocks noChangeAspect="1"/>
          </p:cNvPicPr>
          <p:nvPr/>
        </p:nvPicPr>
        <p:blipFill>
          <a:blip r:embed="rId2"/>
          <a:stretch>
            <a:fillRect/>
          </a:stretch>
        </p:blipFill>
        <p:spPr>
          <a:xfrm>
            <a:off x="9372600" y="5102352"/>
            <a:ext cx="548640" cy="548640"/>
          </a:xfrm>
          <a:prstGeom prst="rect">
            <a:avLst/>
          </a:prstGeom>
        </p:spPr>
      </p:pic>
      <p:sp>
        <p:nvSpPr>
          <p:cNvPr id="9" name="timer link"/>
          <p:cNvSpPr txBox="1"/>
          <p:nvPr/>
        </p:nvSpPr>
        <p:spPr>
          <a:xfrm>
            <a:off x="9966960" y="4937760"/>
            <a:ext cx="1691640" cy="868680"/>
          </a:xfrm>
          <a:prstGeom prst="rect">
            <a:avLst/>
          </a:prstGeom>
          <a:noFill/>
          <a:ln/>
        </p:spPr>
        <p:txBody>
          <a:bodyPr wrap="square" lIns="0" tIns="0" rIns="0" bIns="0" rtlCol="0" anchor="ctr"/>
          <a:lstStyle/>
          <a:p>
            <a:pPr indent="0" marL="0">
              <a:buNone/>
            </a:pPr>
            <a:r>
              <a:rPr lang="en-US" sz="3000" b="1" u="sng" dirty="0">
                <a:solidFill>
                  <a:srgbClr val="FFFFFF"/>
                </a:solidFill>
                <a:hlinkClick r:id="rId3" invalidUrl="" action="" tgtFrame="" tooltip="" history="1" highlightClick="0" endSnd="0">
                  <a:extLst>
                    <a:ext uri="{A12FA001-AC4F-418D-AE19-62706E023703}">
                      <ahyp:hlinkClr xmlns:ahyp="http://schemas.microsoft.com/office/drawing/2018/hyperlinkcolor" val="tx"/>
                    </a:ext>
                  </a:extLst>
                </a:hlinkClick>
              </a:rPr>
              <a:t>5:00</a:t>
            </a:r>
            <a:endParaRPr lang="en-US" sz="3000" dirty="0"/>
          </a:p>
          <a:p>
            <a:pPr indent="0" marL="0">
              <a:buNone/>
            </a:pPr>
            <a:r>
              <a:rPr lang="en-US" sz="900" u="sng" dirty="0">
                <a:solidFill>
                  <a:srgbClr val="C9CEEA"/>
                </a:solidFill>
                <a:hlinkClick r:id="rId4" invalidUrl="" action="" tgtFrame="" tooltip="" history="1" highlightClick="0" endSnd="0">
                  <a:extLst>
                    <a:ext uri="{A12FA001-AC4F-418D-AE19-62706E023703}">
                      <ahyp:hlinkClr xmlns:ahyp="http://schemas.microsoft.com/office/drawing/2018/hyperlinkcolor" val="tx"/>
                    </a:ext>
                  </a:extLst>
                </a:hlinkClick>
              </a:rPr>
              <a:t>click to start timer</a:t>
            </a:r>
            <a:endParaRPr lang="en-US" sz="3000" dirty="0"/>
          </a:p>
        </p:txBody>
      </p:sp>
      <p:sp>
        <p:nvSpPr>
          <p:cNvPr id="11" name="Text 3"/>
          <p:cNvSpPr/>
          <p:nvPr>
            <p:ph idx="104" type="body" hasCustomPrompt="1"/>
          </p:nvPr>
        </p:nvSpPr>
        <p:spPr>
          <a:xfrm>
            <a:off x="548640" y="1463040"/>
            <a:ext cx="7315200" cy="457200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07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me range"/>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spc="300" kern="0" dirty="0">
                <a:solidFill>
                  <a:srgbClr val="C9A227"/>
                </a:solidFill>
              </a:rPr>
              <a:t>5–12 min</a:t>
            </a:r>
            <a:endParaRPr lang="en-US" sz="1400" dirty="0"/>
          </a:p>
        </p:txBody>
      </p:sp>
      <p:sp>
        <p:nvSpPr>
          <p:cNvPr id="3" name="segment title"/>
          <p:cNvSpPr txBox="1"/>
          <p:nvPr/>
        </p:nvSpPr>
        <p:spPr>
          <a:xfrm>
            <a:off x="548640" y="914400"/>
            <a:ext cx="8503920" cy="146304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Five words first.</a:t>
            </a:r>
            <a:endParaRPr lang="en-US" sz="4800" dirty="0"/>
          </a:p>
        </p:txBody>
      </p:sp>
      <p:sp>
        <p:nvSpPr>
          <p:cNvPr id="4" name="segment sub"/>
          <p:cNvSpPr txBox="1"/>
          <p:nvPr/>
        </p:nvSpPr>
        <p:spPr>
          <a:xfrm>
            <a:off x="548640" y="2468880"/>
            <a:ext cx="8229600" cy="1097280"/>
          </a:xfrm>
          <a:prstGeom prst="rect">
            <a:avLst/>
          </a:prstGeom>
          <a:noFill/>
          <a:ln/>
        </p:spPr>
        <p:txBody>
          <a:bodyPr wrap="square" lIns="0" tIns="0" rIns="0" bIns="0" rtlCol="0" anchor="ctr"/>
          <a:lstStyle/>
          <a:p>
            <a:pPr indent="0" marL="0">
              <a:buNone/>
            </a:pPr>
            <a:r>
              <a:rPr lang="en-US" sz="2000" dirty="0">
                <a:solidFill>
                  <a:srgbClr val="C9CEEA"/>
                </a:solidFill>
              </a:rPr>
              <a:t>Say → the class echoes → say it to a partner. Point to each one on the slice.</a:t>
            </a:r>
            <a:endParaRPr lang="en-US" sz="2000" dirty="0"/>
          </a:p>
        </p:txBody>
      </p:sp>
      <p:pic>
        <p:nvPicPr>
          <p:cNvPr id="5" name="segment icon" descr="preencoded.png">    </p:cNvPr>
          <p:cNvPicPr>
            <a:picLocks noChangeAspect="1"/>
          </p:cNvPicPr>
          <p:nvPr/>
        </p:nvPicPr>
        <p:blipFill>
          <a:blip r:embed="rId1"/>
          <a:stretch>
            <a:fillRect/>
          </a:stretch>
        </p:blipFill>
        <p:spPr>
          <a:xfrm>
            <a:off x="548640" y="3931920"/>
            <a:ext cx="1188720" cy="1188720"/>
          </a:xfrm>
          <a:prstGeom prst="rect">
            <a:avLst/>
          </a:prstGeom>
        </p:spPr>
      </p:pic>
      <p:sp>
        <p:nvSpPr>
          <p:cNvPr id="6" name="timer badge"/>
          <p:cNvSpPr/>
          <p:nvPr/>
        </p:nvSpPr>
        <p:spPr>
          <a:xfrm>
            <a:off x="9235440" y="457200"/>
            <a:ext cx="2468880" cy="1051560"/>
          </a:xfrm>
          <a:prstGeom prst="roundRect">
            <a:avLst>
              <a:gd name="adj" fmla="val 13043"/>
            </a:avLst>
          </a:prstGeom>
          <a:solidFill>
            <a:srgbClr val="1E2761"/>
          </a:solidFill>
          <a:ln w="25400">
            <a:solidFill>
              <a:srgbClr val="C9A227"/>
            </a:solidFill>
            <a:prstDash val="solid"/>
          </a:ln>
        </p:spPr>
      </p:sp>
      <p:pic>
        <p:nvPicPr>
          <p:cNvPr id="7" name="clock" descr="preencoded.png">    </p:cNvPr>
          <p:cNvPicPr>
            <a:picLocks noChangeAspect="1"/>
          </p:cNvPicPr>
          <p:nvPr/>
        </p:nvPicPr>
        <p:blipFill>
          <a:blip r:embed="rId2"/>
          <a:stretch>
            <a:fillRect/>
          </a:stretch>
        </p:blipFill>
        <p:spPr>
          <a:xfrm>
            <a:off x="9372600" y="713232"/>
            <a:ext cx="548640" cy="548640"/>
          </a:xfrm>
          <a:prstGeom prst="rect">
            <a:avLst/>
          </a:prstGeom>
        </p:spPr>
      </p:pic>
      <p:sp>
        <p:nvSpPr>
          <p:cNvPr id="8" name="timer link"/>
          <p:cNvSpPr txBox="1"/>
          <p:nvPr/>
        </p:nvSpPr>
        <p:spPr>
          <a:xfrm>
            <a:off x="9966960" y="548640"/>
            <a:ext cx="1691640" cy="868680"/>
          </a:xfrm>
          <a:prstGeom prst="rect">
            <a:avLst/>
          </a:prstGeom>
          <a:noFill/>
          <a:ln/>
        </p:spPr>
        <p:txBody>
          <a:bodyPr wrap="square" lIns="0" tIns="0" rIns="0" bIns="0" rtlCol="0" anchor="ctr"/>
          <a:lstStyle/>
          <a:p>
            <a:pPr indent="0" marL="0">
              <a:buNone/>
            </a:pPr>
            <a:r>
              <a:rPr lang="en-US" sz="3000" b="1" u="sng" dirty="0">
                <a:solidFill>
                  <a:srgbClr val="FFFFFF"/>
                </a:solidFill>
                <a:hlinkClick r:id="rId3" invalidUrl="" action="" tgtFrame="" tooltip="" history="1" highlightClick="0" endSnd="0">
                  <a:extLst>
                    <a:ext uri="{A12FA001-AC4F-418D-AE19-62706E023703}">
                      <ahyp:hlinkClr xmlns:ahyp="http://schemas.microsoft.com/office/drawing/2018/hyperlinkcolor" val="tx"/>
                    </a:ext>
                  </a:extLst>
                </a:hlinkClick>
              </a:rPr>
              <a:t>7:00</a:t>
            </a:r>
            <a:endParaRPr lang="en-US" sz="3000" dirty="0"/>
          </a:p>
          <a:p>
            <a:pPr indent="0" marL="0">
              <a:buNone/>
            </a:pPr>
            <a:r>
              <a:rPr lang="en-US" sz="900" u="sng" dirty="0">
                <a:solidFill>
                  <a:srgbClr val="C9CEEA"/>
                </a:solidFill>
                <a:hlinkClick r:id="rId4" invalidUrl="" action="" tgtFrame="" tooltip="" history="1" highlightClick="0" endSnd="0">
                  <a:extLst>
                    <a:ext uri="{A12FA001-AC4F-418D-AE19-62706E023703}">
                      <ahyp:hlinkClr xmlns:ahyp="http://schemas.microsoft.com/office/drawing/2018/hyperlinkcolor" val="tx"/>
                    </a:ext>
                  </a:extLst>
                </a:hlinkClick>
              </a:rPr>
              <a:t>click to start timer</a:t>
            </a:r>
            <a:endParaRPr lang="en-US" sz="3000" dirty="0"/>
          </a:p>
        </p:txBody>
      </p:sp>
      <p:sp>
        <p:nvSpPr>
          <p:cNvPr id="9" name="agenda Open"/>
          <p:cNvSpPr/>
          <p:nvPr/>
        </p:nvSpPr>
        <p:spPr>
          <a:xfrm>
            <a:off x="548640" y="5577840"/>
            <a:ext cx="587248" cy="384048"/>
          </a:xfrm>
          <a:prstGeom prst="rect">
            <a:avLst/>
          </a:prstGeom>
          <a:solidFill>
            <a:srgbClr val="2B3470"/>
          </a:solidFill>
          <a:ln w="12700">
            <a:solidFill>
              <a:srgbClr val="1E2761"/>
            </a:solidFill>
            <a:prstDash val="solid"/>
          </a:ln>
        </p:spPr>
      </p:sp>
      <p:sp>
        <p:nvSpPr>
          <p:cNvPr id="10" name="agenda Five words"/>
          <p:cNvSpPr/>
          <p:nvPr/>
        </p:nvSpPr>
        <p:spPr>
          <a:xfrm>
            <a:off x="1163320" y="5577840"/>
            <a:ext cx="833120" cy="384048"/>
          </a:xfrm>
          <a:prstGeom prst="rect">
            <a:avLst/>
          </a:prstGeom>
          <a:solidFill>
            <a:srgbClr val="C9A227"/>
          </a:solidFill>
          <a:ln w="12700">
            <a:solidFill>
              <a:srgbClr val="1E2761"/>
            </a:solidFill>
            <a:prstDash val="solid"/>
          </a:ln>
        </p:spPr>
      </p:sp>
      <p:sp>
        <p:nvSpPr>
          <p:cNvPr id="11" name="agenda label Five words"/>
          <p:cNvSpPr txBox="1"/>
          <p:nvPr/>
        </p:nvSpPr>
        <p:spPr>
          <a:xfrm>
            <a:off x="1163320" y="5577840"/>
            <a:ext cx="833120" cy="384048"/>
          </a:xfrm>
          <a:prstGeom prst="rect">
            <a:avLst/>
          </a:prstGeom>
          <a:noFill/>
          <a:ln/>
        </p:spPr>
        <p:txBody>
          <a:bodyPr wrap="square" lIns="0" tIns="0" rIns="0" bIns="0" rtlCol="0" anchor="ctr"/>
          <a:lstStyle/>
          <a:p>
            <a:pPr algn="ctr" indent="0" marL="0">
              <a:buNone/>
            </a:pPr>
            <a:r>
              <a:rPr lang="en-US" sz="900" dirty="0">
                <a:solidFill>
                  <a:srgbClr val="1E2761"/>
                </a:solidFill>
              </a:rPr>
              <a:t>Five words</a:t>
            </a:r>
            <a:endParaRPr lang="en-US" sz="900" dirty="0"/>
          </a:p>
        </p:txBody>
      </p:sp>
      <p:sp>
        <p:nvSpPr>
          <p:cNvPr id="12" name="agenda Cognates"/>
          <p:cNvSpPr/>
          <p:nvPr/>
        </p:nvSpPr>
        <p:spPr>
          <a:xfrm>
            <a:off x="2023872" y="5577840"/>
            <a:ext cx="710184" cy="384048"/>
          </a:xfrm>
          <a:prstGeom prst="rect">
            <a:avLst/>
          </a:prstGeom>
          <a:solidFill>
            <a:srgbClr val="2B3470"/>
          </a:solidFill>
          <a:ln w="12700">
            <a:solidFill>
              <a:srgbClr val="1E2761"/>
            </a:solidFill>
            <a:prstDash val="solid"/>
          </a:ln>
        </p:spPr>
      </p:sp>
      <p:sp>
        <p:nvSpPr>
          <p:cNvPr id="13" name="agenda label Cognates"/>
          <p:cNvSpPr txBox="1"/>
          <p:nvPr/>
        </p:nvSpPr>
        <p:spPr>
          <a:xfrm>
            <a:off x="2023872" y="5577840"/>
            <a:ext cx="710184" cy="384048"/>
          </a:xfrm>
          <a:prstGeom prst="rect">
            <a:avLst/>
          </a:prstGeom>
          <a:noFill/>
          <a:ln/>
        </p:spPr>
        <p:txBody>
          <a:bodyPr wrap="square" lIns="0" tIns="0" rIns="0" bIns="0" rtlCol="0" anchor="ctr"/>
          <a:lstStyle/>
          <a:p>
            <a:pPr algn="ctr" indent="0" marL="0">
              <a:buNone/>
            </a:pPr>
            <a:r>
              <a:rPr lang="en-US" sz="900" dirty="0">
                <a:solidFill>
                  <a:srgbClr val="AEB5DA"/>
                </a:solidFill>
              </a:rPr>
              <a:t>Cognates</a:t>
            </a:r>
            <a:endParaRPr lang="en-US" sz="900" dirty="0"/>
          </a:p>
        </p:txBody>
      </p:sp>
      <p:sp>
        <p:nvSpPr>
          <p:cNvPr id="14" name="agenda Listening"/>
          <p:cNvSpPr/>
          <p:nvPr/>
        </p:nvSpPr>
        <p:spPr>
          <a:xfrm>
            <a:off x="2761488" y="5577840"/>
            <a:ext cx="1816608" cy="384048"/>
          </a:xfrm>
          <a:prstGeom prst="rect">
            <a:avLst/>
          </a:prstGeom>
          <a:solidFill>
            <a:srgbClr val="2B3470"/>
          </a:solidFill>
          <a:ln w="12700">
            <a:solidFill>
              <a:srgbClr val="1E2761"/>
            </a:solidFill>
            <a:prstDash val="solid"/>
          </a:ln>
        </p:spPr>
      </p:sp>
      <p:sp>
        <p:nvSpPr>
          <p:cNvPr id="15" name="agenda label Listening"/>
          <p:cNvSpPr txBox="1"/>
          <p:nvPr/>
        </p:nvSpPr>
        <p:spPr>
          <a:xfrm>
            <a:off x="2761488" y="5577840"/>
            <a:ext cx="1816608" cy="384048"/>
          </a:xfrm>
          <a:prstGeom prst="rect">
            <a:avLst/>
          </a:prstGeom>
          <a:noFill/>
          <a:ln/>
        </p:spPr>
        <p:txBody>
          <a:bodyPr wrap="square" lIns="0" tIns="0" rIns="0" bIns="0" rtlCol="0" anchor="ctr"/>
          <a:lstStyle/>
          <a:p>
            <a:pPr algn="ctr" indent="0" marL="0">
              <a:buNone/>
            </a:pPr>
            <a:r>
              <a:rPr lang="en-US" sz="900" dirty="0">
                <a:solidFill>
                  <a:srgbClr val="AEB5DA"/>
                </a:solidFill>
              </a:rPr>
              <a:t>Listening</a:t>
            </a:r>
            <a:endParaRPr lang="en-US" sz="900" dirty="0"/>
          </a:p>
        </p:txBody>
      </p:sp>
      <p:sp>
        <p:nvSpPr>
          <p:cNvPr id="16" name="agenda Reading"/>
          <p:cNvSpPr/>
          <p:nvPr/>
        </p:nvSpPr>
        <p:spPr>
          <a:xfrm>
            <a:off x="4605528" y="5577840"/>
            <a:ext cx="2062480" cy="384048"/>
          </a:xfrm>
          <a:prstGeom prst="rect">
            <a:avLst/>
          </a:prstGeom>
          <a:solidFill>
            <a:srgbClr val="2B3470"/>
          </a:solidFill>
          <a:ln w="12700">
            <a:solidFill>
              <a:srgbClr val="1E2761"/>
            </a:solidFill>
            <a:prstDash val="solid"/>
          </a:ln>
        </p:spPr>
      </p:sp>
      <p:sp>
        <p:nvSpPr>
          <p:cNvPr id="17" name="agenda label Reading"/>
          <p:cNvSpPr txBox="1"/>
          <p:nvPr/>
        </p:nvSpPr>
        <p:spPr>
          <a:xfrm>
            <a:off x="4605528" y="5577840"/>
            <a:ext cx="2062480" cy="384048"/>
          </a:xfrm>
          <a:prstGeom prst="rect">
            <a:avLst/>
          </a:prstGeom>
          <a:noFill/>
          <a:ln/>
        </p:spPr>
        <p:txBody>
          <a:bodyPr wrap="square" lIns="0" tIns="0" rIns="0" bIns="0" rtlCol="0" anchor="ctr"/>
          <a:lstStyle/>
          <a:p>
            <a:pPr algn="ctr" indent="0" marL="0">
              <a:buNone/>
            </a:pPr>
            <a:r>
              <a:rPr lang="en-US" sz="900" dirty="0">
                <a:solidFill>
                  <a:srgbClr val="AEB5DA"/>
                </a:solidFill>
              </a:rPr>
              <a:t>Reading</a:t>
            </a:r>
            <a:endParaRPr lang="en-US" sz="900" dirty="0"/>
          </a:p>
        </p:txBody>
      </p:sp>
      <p:sp>
        <p:nvSpPr>
          <p:cNvPr id="18" name="agenda Talk"/>
          <p:cNvSpPr/>
          <p:nvPr/>
        </p:nvSpPr>
        <p:spPr>
          <a:xfrm>
            <a:off x="6695440" y="5577840"/>
            <a:ext cx="1201928" cy="384048"/>
          </a:xfrm>
          <a:prstGeom prst="rect">
            <a:avLst/>
          </a:prstGeom>
          <a:solidFill>
            <a:srgbClr val="2B3470"/>
          </a:solidFill>
          <a:ln w="12700">
            <a:solidFill>
              <a:srgbClr val="1E2761"/>
            </a:solidFill>
            <a:prstDash val="solid"/>
          </a:ln>
        </p:spPr>
      </p:sp>
      <p:sp>
        <p:nvSpPr>
          <p:cNvPr id="19" name="agenda label Talk"/>
          <p:cNvSpPr txBox="1"/>
          <p:nvPr/>
        </p:nvSpPr>
        <p:spPr>
          <a:xfrm>
            <a:off x="6695440" y="5577840"/>
            <a:ext cx="1201928" cy="384048"/>
          </a:xfrm>
          <a:prstGeom prst="rect">
            <a:avLst/>
          </a:prstGeom>
          <a:noFill/>
          <a:ln/>
        </p:spPr>
        <p:txBody>
          <a:bodyPr wrap="square" lIns="0" tIns="0" rIns="0" bIns="0" rtlCol="0" anchor="ctr"/>
          <a:lstStyle/>
          <a:p>
            <a:pPr algn="ctr" indent="0" marL="0">
              <a:buNone/>
            </a:pPr>
            <a:r>
              <a:rPr lang="en-US" sz="900" dirty="0">
                <a:solidFill>
                  <a:srgbClr val="AEB5DA"/>
                </a:solidFill>
              </a:rPr>
              <a:t>Talk</a:t>
            </a:r>
            <a:endParaRPr lang="en-US" sz="900" dirty="0"/>
          </a:p>
        </p:txBody>
      </p:sp>
      <p:sp>
        <p:nvSpPr>
          <p:cNvPr id="20" name="agenda Writing"/>
          <p:cNvSpPr/>
          <p:nvPr/>
        </p:nvSpPr>
        <p:spPr>
          <a:xfrm>
            <a:off x="7924800" y="5577840"/>
            <a:ext cx="2431288" cy="384048"/>
          </a:xfrm>
          <a:prstGeom prst="rect">
            <a:avLst/>
          </a:prstGeom>
          <a:solidFill>
            <a:srgbClr val="2B3470"/>
          </a:solidFill>
          <a:ln w="12700">
            <a:solidFill>
              <a:srgbClr val="1E2761"/>
            </a:solidFill>
            <a:prstDash val="solid"/>
          </a:ln>
        </p:spPr>
      </p:sp>
      <p:sp>
        <p:nvSpPr>
          <p:cNvPr id="21" name="agenda label Writing"/>
          <p:cNvSpPr txBox="1"/>
          <p:nvPr/>
        </p:nvSpPr>
        <p:spPr>
          <a:xfrm>
            <a:off x="7924800" y="5577840"/>
            <a:ext cx="2431288" cy="384048"/>
          </a:xfrm>
          <a:prstGeom prst="rect">
            <a:avLst/>
          </a:prstGeom>
          <a:noFill/>
          <a:ln/>
        </p:spPr>
        <p:txBody>
          <a:bodyPr wrap="square" lIns="0" tIns="0" rIns="0" bIns="0" rtlCol="0" anchor="ctr"/>
          <a:lstStyle/>
          <a:p>
            <a:pPr algn="ctr" indent="0" marL="0">
              <a:buNone/>
            </a:pPr>
            <a:r>
              <a:rPr lang="en-US" sz="900" dirty="0">
                <a:solidFill>
                  <a:srgbClr val="AEB5DA"/>
                </a:solidFill>
              </a:rPr>
              <a:t>Writing</a:t>
            </a:r>
            <a:endParaRPr lang="en-US" sz="900" dirty="0"/>
          </a:p>
        </p:txBody>
      </p:sp>
      <p:sp>
        <p:nvSpPr>
          <p:cNvPr id="22" name="agenda S4 / S2"/>
          <p:cNvSpPr/>
          <p:nvPr/>
        </p:nvSpPr>
        <p:spPr>
          <a:xfrm>
            <a:off x="10383520" y="5577840"/>
            <a:ext cx="833120" cy="384048"/>
          </a:xfrm>
          <a:prstGeom prst="rect">
            <a:avLst/>
          </a:prstGeom>
          <a:solidFill>
            <a:srgbClr val="2B3470"/>
          </a:solidFill>
          <a:ln w="12700">
            <a:solidFill>
              <a:srgbClr val="1E2761"/>
            </a:solidFill>
            <a:prstDash val="solid"/>
          </a:ln>
        </p:spPr>
      </p:sp>
      <p:sp>
        <p:nvSpPr>
          <p:cNvPr id="23" name="agenda label S4 / S2"/>
          <p:cNvSpPr txBox="1"/>
          <p:nvPr/>
        </p:nvSpPr>
        <p:spPr>
          <a:xfrm>
            <a:off x="10383520" y="5577840"/>
            <a:ext cx="833120" cy="384048"/>
          </a:xfrm>
          <a:prstGeom prst="rect">
            <a:avLst/>
          </a:prstGeom>
          <a:noFill/>
          <a:ln/>
        </p:spPr>
        <p:txBody>
          <a:bodyPr wrap="square" lIns="0" tIns="0" rIns="0" bIns="0" rtlCol="0" anchor="ctr"/>
          <a:lstStyle/>
          <a:p>
            <a:pPr algn="ctr" indent="0" marL="0">
              <a:buNone/>
            </a:pPr>
            <a:r>
              <a:rPr lang="en-US" sz="900" dirty="0">
                <a:solidFill>
                  <a:srgbClr val="AEB5DA"/>
                </a:solidFill>
              </a:rPr>
              <a:t>S4 / S2</a:t>
            </a:r>
            <a:endParaRPr lang="en-US" sz="900" dirty="0"/>
          </a:p>
        </p:txBody>
      </p:sp>
      <p:sp>
        <p:nvSpPr>
          <p:cNvPr id="24" name="agenda Exit"/>
          <p:cNvSpPr/>
          <p:nvPr/>
        </p:nvSpPr>
        <p:spPr>
          <a:xfrm>
            <a:off x="11244072" y="5577840"/>
            <a:ext cx="341376" cy="384048"/>
          </a:xfrm>
          <a:prstGeom prst="rect">
            <a:avLst/>
          </a:prstGeom>
          <a:solidFill>
            <a:srgbClr val="2B3470"/>
          </a:solidFill>
          <a:ln w="12700">
            <a:solidFill>
              <a:srgbClr val="1E2761"/>
            </a:solidFill>
            <a:prstDash val="solid"/>
          </a:ln>
        </p:spPr>
      </p:sp>
      <p:sp>
        <p:nvSpPr>
          <p:cNvPr id="25" name="Text 2"/>
          <p:cNvSpPr/>
          <p:nvPr>
            <p:ph idx="102" type="title" hasCustomPrompt="1"/>
          </p:nvPr>
        </p:nvSpPr>
        <p:spPr>
          <a:xfrm>
            <a:off x="548640" y="457200"/>
            <a:ext cx="11064240" cy="1005840"/>
          </a:xfrm>
          <a:prstGeom prst="rect">
            <a:avLst/>
          </a:prstGeom>
          <a:noFill/>
          <a:ln/>
        </p:spPr>
        <p:txBody>
          <a:bodyPr wrap="square" lIns="0" tIns="0" rIns="0" bIns="0" rtlCol="0"/>
          <a:lstStyle/>
          <a:p>
            <a:pPr indent="0" marL="0">
              <a:buNone/>
            </a:pPr>
            <a:endParaRPr lang="en-US" sz="4000" dirty="0"/>
          </a:p>
        </p:txBody>
      </p:sp>
      <p:sp>
        <p:nvSpPr>
          <p:cNvPr id="26" name="Text 2"/>
          <p:cNvSpPr/>
          <p:nvPr>
            <p:ph idx="103" type="body" hasCustomPrompt="1"/>
          </p:nvPr>
        </p:nvSpPr>
        <p:spPr>
          <a:xfrm>
            <a:off x="548640" y="1554480"/>
            <a:ext cx="7498080" cy="448056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5DA"/>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548640" y="411480"/>
            <a:ext cx="11064240" cy="914400"/>
          </a:xfrm>
          <a:prstGeom prst="rect">
            <a:avLst/>
          </a:prstGeom>
          <a:noFill/>
          <a:ln/>
        </p:spPr>
        <p:txBody>
          <a:bodyPr wrap="square" lIns="0" tIns="0" rIns="0" bIns="0" rtlCol="0"/>
          <a:lstStyle/>
          <a:p>
            <a:pPr indent="0" marL="0">
              <a:buNone/>
            </a:pPr>
            <a:r>
              <a:rPr lang="en-US" sz="3600" b="1" dirty="0">
                <a:solidFill>
                  <a:srgbClr val="1E2761"/>
                </a:solidFill>
              </a:rPr>
              <a:t>Five words first</a:t>
            </a:r>
            <a:endParaRPr lang="en-US" sz="3600" dirty="0"/>
          </a:p>
        </p:txBody>
      </p:sp>
      <p:sp>
        <p:nvSpPr>
          <p:cNvPr id="3" name="word ingredient"/>
          <p:cNvSpPr/>
          <p:nvPr/>
        </p:nvSpPr>
        <p:spPr>
          <a:xfrm>
            <a:off x="548640" y="1417320"/>
            <a:ext cx="6675120" cy="804672"/>
          </a:xfrm>
          <a:prstGeom prst="roundRect">
            <a:avLst>
              <a:gd name="adj" fmla="val 11364"/>
            </a:avLst>
          </a:prstGeom>
          <a:solidFill>
            <a:srgbClr val="FFFFFF"/>
          </a:solidFill>
          <a:ln w="12700">
            <a:solidFill>
              <a:srgbClr val="E3E5EF"/>
            </a:solidFill>
            <a:prstDash val="solid"/>
          </a:ln>
        </p:spPr>
      </p:sp>
      <p:sp>
        <p:nvSpPr>
          <p:cNvPr id="4" name="num ingredient"/>
          <p:cNvSpPr txBox="1"/>
          <p:nvPr/>
        </p:nvSpPr>
        <p:spPr>
          <a:xfrm>
            <a:off x="685800" y="1545336"/>
            <a:ext cx="548640" cy="548640"/>
          </a:xfrm>
          <a:prstGeom prst="rect">
            <a:avLst/>
          </a:prstGeom>
          <a:solidFill>
            <a:srgbClr val="C9A227"/>
          </a:solid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5" name="word text ingredient"/>
          <p:cNvSpPr txBox="1"/>
          <p:nvPr/>
        </p:nvSpPr>
        <p:spPr>
          <a:xfrm>
            <a:off x="1371600" y="1490472"/>
            <a:ext cx="4480560" cy="658368"/>
          </a:xfrm>
          <a:prstGeom prst="rect">
            <a:avLst/>
          </a:prstGeom>
          <a:noFill/>
          <a:ln/>
        </p:spPr>
        <p:txBody>
          <a:bodyPr wrap="square" lIns="0" tIns="0" rIns="0" bIns="0" rtlCol="0" anchor="ctr"/>
          <a:lstStyle/>
          <a:p>
            <a:pPr indent="0" marL="0">
              <a:buNone/>
            </a:pPr>
            <a:r>
              <a:rPr lang="en-US" sz="2400" b="1" dirty="0">
                <a:solidFill>
                  <a:srgbClr val="1E2761"/>
                </a:solidFill>
                <a:latin typeface="Georgia" pitchFamily="34" charset="0"/>
                <a:ea typeface="Georgia" pitchFamily="34" charset="-122"/>
                <a:cs typeface="Georgia" pitchFamily="34" charset="-120"/>
              </a:rPr>
              <a:t>ingredient</a:t>
            </a:r>
            <a:pPr indent="0" marL="0">
              <a:buNone/>
            </a:pPr>
            <a:r>
              <a:rPr lang="en-US" sz="1400" dirty="0">
                <a:solidFill>
                  <a:srgbClr val="5B6078"/>
                </a:solidFill>
              </a:rPr>
              <a:t>   a thing you need to make the food</a:t>
            </a:r>
            <a:endParaRPr lang="en-US" sz="2400" dirty="0"/>
          </a:p>
        </p:txBody>
      </p:sp>
      <p:sp>
        <p:nvSpPr>
          <p:cNvPr id="6" name="es ingredient"/>
          <p:cNvSpPr txBox="1"/>
          <p:nvPr/>
        </p:nvSpPr>
        <p:spPr>
          <a:xfrm>
            <a:off x="5852160" y="1490472"/>
            <a:ext cx="1280160" cy="658368"/>
          </a:xfrm>
          <a:prstGeom prst="rect">
            <a:avLst/>
          </a:prstGeom>
          <a:noFill/>
          <a:ln/>
        </p:spPr>
        <p:txBody>
          <a:bodyPr wrap="square" lIns="0" tIns="0" rIns="0" bIns="0" rtlCol="0" anchor="ctr"/>
          <a:lstStyle/>
          <a:p>
            <a:pPr algn="r" indent="0" marL="0">
              <a:buNone/>
            </a:pPr>
            <a:r>
              <a:rPr lang="en-US" sz="1400" i="1" dirty="0">
                <a:solidFill>
                  <a:srgbClr val="7A5F0E"/>
                </a:solidFill>
              </a:rPr>
              <a:t>ingrediente</a:t>
            </a:r>
            <a:endParaRPr lang="en-US" sz="1400" dirty="0"/>
          </a:p>
        </p:txBody>
      </p:sp>
      <p:sp>
        <p:nvSpPr>
          <p:cNvPr id="7" name="word crust"/>
          <p:cNvSpPr/>
          <p:nvPr/>
        </p:nvSpPr>
        <p:spPr>
          <a:xfrm>
            <a:off x="548640" y="2331720"/>
            <a:ext cx="6675120" cy="804672"/>
          </a:xfrm>
          <a:prstGeom prst="roundRect">
            <a:avLst>
              <a:gd name="adj" fmla="val 11364"/>
            </a:avLst>
          </a:prstGeom>
          <a:solidFill>
            <a:srgbClr val="FFFFFF"/>
          </a:solidFill>
          <a:ln w="12700">
            <a:solidFill>
              <a:srgbClr val="E3E5EF"/>
            </a:solidFill>
            <a:prstDash val="solid"/>
          </a:ln>
        </p:spPr>
      </p:sp>
      <p:sp>
        <p:nvSpPr>
          <p:cNvPr id="8" name="num crust"/>
          <p:cNvSpPr txBox="1"/>
          <p:nvPr/>
        </p:nvSpPr>
        <p:spPr>
          <a:xfrm>
            <a:off x="685800" y="2459736"/>
            <a:ext cx="548640" cy="548640"/>
          </a:xfrm>
          <a:prstGeom prst="rect">
            <a:avLst/>
          </a:prstGeom>
          <a:solidFill>
            <a:srgbClr val="C9A227"/>
          </a:solid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9" name="word text crust"/>
          <p:cNvSpPr txBox="1"/>
          <p:nvPr/>
        </p:nvSpPr>
        <p:spPr>
          <a:xfrm>
            <a:off x="1371600" y="2404872"/>
            <a:ext cx="4480560" cy="658368"/>
          </a:xfrm>
          <a:prstGeom prst="rect">
            <a:avLst/>
          </a:prstGeom>
          <a:noFill/>
          <a:ln/>
        </p:spPr>
        <p:txBody>
          <a:bodyPr wrap="square" lIns="0" tIns="0" rIns="0" bIns="0" rtlCol="0" anchor="ctr"/>
          <a:lstStyle/>
          <a:p>
            <a:pPr indent="0" marL="0">
              <a:buNone/>
            </a:pPr>
            <a:r>
              <a:rPr lang="en-US" sz="2400" b="1" dirty="0">
                <a:solidFill>
                  <a:srgbClr val="1E2761"/>
                </a:solidFill>
                <a:latin typeface="Georgia" pitchFamily="34" charset="0"/>
                <a:ea typeface="Georgia" pitchFamily="34" charset="-122"/>
                <a:cs typeface="Georgia" pitchFamily="34" charset="-120"/>
              </a:rPr>
              <a:t>crust</a:t>
            </a:r>
            <a:pPr indent="0" marL="0">
              <a:buNone/>
            </a:pPr>
            <a:r>
              <a:rPr lang="en-US" sz="1400" dirty="0">
                <a:solidFill>
                  <a:srgbClr val="5B6078"/>
                </a:solidFill>
              </a:rPr>
              <a:t>   the outside, made of flour and butter</a:t>
            </a:r>
            <a:endParaRPr lang="en-US" sz="2400" dirty="0"/>
          </a:p>
        </p:txBody>
      </p:sp>
      <p:sp>
        <p:nvSpPr>
          <p:cNvPr id="10" name="es crust"/>
          <p:cNvSpPr txBox="1"/>
          <p:nvPr/>
        </p:nvSpPr>
        <p:spPr>
          <a:xfrm>
            <a:off x="5852160" y="2404872"/>
            <a:ext cx="1280160" cy="658368"/>
          </a:xfrm>
          <a:prstGeom prst="rect">
            <a:avLst/>
          </a:prstGeom>
          <a:noFill/>
          <a:ln/>
        </p:spPr>
        <p:txBody>
          <a:bodyPr wrap="square" lIns="0" tIns="0" rIns="0" bIns="0" rtlCol="0" anchor="ctr"/>
          <a:lstStyle/>
          <a:p>
            <a:pPr algn="r" indent="0" marL="0">
              <a:buNone/>
            </a:pPr>
            <a:r>
              <a:rPr lang="en-US" sz="1400" i="1" dirty="0">
                <a:solidFill>
                  <a:srgbClr val="7A5F0E"/>
                </a:solidFill>
              </a:rPr>
              <a:t>—</a:t>
            </a:r>
            <a:endParaRPr lang="en-US" sz="1400" dirty="0"/>
          </a:p>
        </p:txBody>
      </p:sp>
      <p:sp>
        <p:nvSpPr>
          <p:cNvPr id="11" name="word filling"/>
          <p:cNvSpPr/>
          <p:nvPr/>
        </p:nvSpPr>
        <p:spPr>
          <a:xfrm>
            <a:off x="548640" y="3246120"/>
            <a:ext cx="6675120" cy="804672"/>
          </a:xfrm>
          <a:prstGeom prst="roundRect">
            <a:avLst>
              <a:gd name="adj" fmla="val 11364"/>
            </a:avLst>
          </a:prstGeom>
          <a:solidFill>
            <a:srgbClr val="FFFFFF"/>
          </a:solidFill>
          <a:ln w="12700">
            <a:solidFill>
              <a:srgbClr val="E3E5EF"/>
            </a:solidFill>
            <a:prstDash val="solid"/>
          </a:ln>
        </p:spPr>
      </p:sp>
      <p:sp>
        <p:nvSpPr>
          <p:cNvPr id="12" name="num filling"/>
          <p:cNvSpPr txBox="1"/>
          <p:nvPr/>
        </p:nvSpPr>
        <p:spPr>
          <a:xfrm>
            <a:off x="685800" y="3374136"/>
            <a:ext cx="548640" cy="548640"/>
          </a:xfrm>
          <a:prstGeom prst="rect">
            <a:avLst/>
          </a:prstGeom>
          <a:solidFill>
            <a:srgbClr val="C9A227"/>
          </a:solid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3" name="word text filling"/>
          <p:cNvSpPr txBox="1"/>
          <p:nvPr/>
        </p:nvSpPr>
        <p:spPr>
          <a:xfrm>
            <a:off x="1371600" y="3319272"/>
            <a:ext cx="4480560" cy="658368"/>
          </a:xfrm>
          <a:prstGeom prst="rect">
            <a:avLst/>
          </a:prstGeom>
          <a:noFill/>
          <a:ln/>
        </p:spPr>
        <p:txBody>
          <a:bodyPr wrap="square" lIns="0" tIns="0" rIns="0" bIns="0" rtlCol="0" anchor="ctr"/>
          <a:lstStyle/>
          <a:p>
            <a:pPr indent="0" marL="0">
              <a:buNone/>
            </a:pPr>
            <a:r>
              <a:rPr lang="en-US" sz="2400" b="1" dirty="0">
                <a:solidFill>
                  <a:srgbClr val="1E2761"/>
                </a:solidFill>
                <a:latin typeface="Georgia" pitchFamily="34" charset="0"/>
                <a:ea typeface="Georgia" pitchFamily="34" charset="-122"/>
                <a:cs typeface="Georgia" pitchFamily="34" charset="-120"/>
              </a:rPr>
              <a:t>filling</a:t>
            </a:r>
            <a:pPr indent="0" marL="0">
              <a:buNone/>
            </a:pPr>
            <a:r>
              <a:rPr lang="en-US" sz="1400" dirty="0">
                <a:solidFill>
                  <a:srgbClr val="5B6078"/>
                </a:solidFill>
              </a:rPr>
              <a:t>   the inside of the pie</a:t>
            </a:r>
            <a:endParaRPr lang="en-US" sz="2400" dirty="0"/>
          </a:p>
        </p:txBody>
      </p:sp>
      <p:sp>
        <p:nvSpPr>
          <p:cNvPr id="14" name="es filling"/>
          <p:cNvSpPr txBox="1"/>
          <p:nvPr/>
        </p:nvSpPr>
        <p:spPr>
          <a:xfrm>
            <a:off x="5852160" y="3319272"/>
            <a:ext cx="1280160" cy="658368"/>
          </a:xfrm>
          <a:prstGeom prst="rect">
            <a:avLst/>
          </a:prstGeom>
          <a:noFill/>
          <a:ln/>
        </p:spPr>
        <p:txBody>
          <a:bodyPr wrap="square" lIns="0" tIns="0" rIns="0" bIns="0" rtlCol="0" anchor="ctr"/>
          <a:lstStyle/>
          <a:p>
            <a:pPr algn="r" indent="0" marL="0">
              <a:buNone/>
            </a:pPr>
            <a:r>
              <a:rPr lang="en-US" sz="1400" i="1" dirty="0">
                <a:solidFill>
                  <a:srgbClr val="7A5F0E"/>
                </a:solidFill>
              </a:rPr>
              <a:t>relleno</a:t>
            </a:r>
            <a:endParaRPr lang="en-US" sz="1400" dirty="0"/>
          </a:p>
        </p:txBody>
      </p:sp>
      <p:sp>
        <p:nvSpPr>
          <p:cNvPr id="15" name="word bake"/>
          <p:cNvSpPr/>
          <p:nvPr/>
        </p:nvSpPr>
        <p:spPr>
          <a:xfrm>
            <a:off x="548640" y="4160520"/>
            <a:ext cx="6675120" cy="804672"/>
          </a:xfrm>
          <a:prstGeom prst="roundRect">
            <a:avLst>
              <a:gd name="adj" fmla="val 11364"/>
            </a:avLst>
          </a:prstGeom>
          <a:solidFill>
            <a:srgbClr val="FFFFFF"/>
          </a:solidFill>
          <a:ln w="12700">
            <a:solidFill>
              <a:srgbClr val="E3E5EF"/>
            </a:solidFill>
            <a:prstDash val="solid"/>
          </a:ln>
        </p:spPr>
      </p:sp>
      <p:sp>
        <p:nvSpPr>
          <p:cNvPr id="16" name="num bake"/>
          <p:cNvSpPr txBox="1"/>
          <p:nvPr/>
        </p:nvSpPr>
        <p:spPr>
          <a:xfrm>
            <a:off x="685800" y="4288536"/>
            <a:ext cx="548640" cy="548640"/>
          </a:xfrm>
          <a:prstGeom prst="rect">
            <a:avLst/>
          </a:prstGeom>
          <a:solidFill>
            <a:srgbClr val="C9A227"/>
          </a:solid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17" name="word text bake"/>
          <p:cNvSpPr txBox="1"/>
          <p:nvPr/>
        </p:nvSpPr>
        <p:spPr>
          <a:xfrm>
            <a:off x="1371600" y="4233672"/>
            <a:ext cx="4480560" cy="658368"/>
          </a:xfrm>
          <a:prstGeom prst="rect">
            <a:avLst/>
          </a:prstGeom>
          <a:noFill/>
          <a:ln/>
        </p:spPr>
        <p:txBody>
          <a:bodyPr wrap="square" lIns="0" tIns="0" rIns="0" bIns="0" rtlCol="0" anchor="ctr"/>
          <a:lstStyle/>
          <a:p>
            <a:pPr indent="0" marL="0">
              <a:buNone/>
            </a:pPr>
            <a:r>
              <a:rPr lang="en-US" sz="2400" b="1" dirty="0">
                <a:solidFill>
                  <a:srgbClr val="1E2761"/>
                </a:solidFill>
                <a:latin typeface="Georgia" pitchFamily="34" charset="0"/>
                <a:ea typeface="Georgia" pitchFamily="34" charset="-122"/>
                <a:cs typeface="Georgia" pitchFamily="34" charset="-120"/>
              </a:rPr>
              <a:t>bake</a:t>
            </a:r>
            <a:pPr indent="0" marL="0">
              <a:buNone/>
            </a:pPr>
            <a:r>
              <a:rPr lang="en-US" sz="1400" dirty="0">
                <a:solidFill>
                  <a:srgbClr val="5B6078"/>
                </a:solidFill>
              </a:rPr>
              <a:t>   to cook in the oven</a:t>
            </a:r>
            <a:endParaRPr lang="en-US" sz="2400" dirty="0"/>
          </a:p>
        </p:txBody>
      </p:sp>
      <p:sp>
        <p:nvSpPr>
          <p:cNvPr id="18" name="es bake"/>
          <p:cNvSpPr txBox="1"/>
          <p:nvPr/>
        </p:nvSpPr>
        <p:spPr>
          <a:xfrm>
            <a:off x="5852160" y="4233672"/>
            <a:ext cx="1280160" cy="658368"/>
          </a:xfrm>
          <a:prstGeom prst="rect">
            <a:avLst/>
          </a:prstGeom>
          <a:noFill/>
          <a:ln/>
        </p:spPr>
        <p:txBody>
          <a:bodyPr wrap="square" lIns="0" tIns="0" rIns="0" bIns="0" rtlCol="0" anchor="ctr"/>
          <a:lstStyle/>
          <a:p>
            <a:pPr algn="r" indent="0" marL="0">
              <a:buNone/>
            </a:pPr>
            <a:r>
              <a:rPr lang="en-US" sz="1400" i="1" dirty="0">
                <a:solidFill>
                  <a:srgbClr val="7A5F0E"/>
                </a:solidFill>
              </a:rPr>
              <a:t>hornear</a:t>
            </a:r>
            <a:endParaRPr lang="en-US" sz="1400" dirty="0"/>
          </a:p>
        </p:txBody>
      </p:sp>
      <p:sp>
        <p:nvSpPr>
          <p:cNvPr id="19" name="word slice"/>
          <p:cNvSpPr/>
          <p:nvPr/>
        </p:nvSpPr>
        <p:spPr>
          <a:xfrm>
            <a:off x="548640" y="5074920"/>
            <a:ext cx="6675120" cy="804672"/>
          </a:xfrm>
          <a:prstGeom prst="roundRect">
            <a:avLst>
              <a:gd name="adj" fmla="val 11364"/>
            </a:avLst>
          </a:prstGeom>
          <a:solidFill>
            <a:srgbClr val="FFFFFF"/>
          </a:solidFill>
          <a:ln w="12700">
            <a:solidFill>
              <a:srgbClr val="E3E5EF"/>
            </a:solidFill>
            <a:prstDash val="solid"/>
          </a:ln>
        </p:spPr>
      </p:sp>
      <p:sp>
        <p:nvSpPr>
          <p:cNvPr id="20" name="num slice"/>
          <p:cNvSpPr txBox="1"/>
          <p:nvPr/>
        </p:nvSpPr>
        <p:spPr>
          <a:xfrm>
            <a:off x="685800" y="5202936"/>
            <a:ext cx="548640" cy="548640"/>
          </a:xfrm>
          <a:prstGeom prst="rect">
            <a:avLst/>
          </a:prstGeom>
          <a:solidFill>
            <a:srgbClr val="C9A227"/>
          </a:solidFill>
          <a:ln/>
        </p:spPr>
        <p:txBody>
          <a:bodyPr wrap="square" lIns="0" tIns="0" rIns="0" bIns="0" rtlCol="0" anchor="ctr"/>
          <a:lstStyle/>
          <a:p>
            <a:pPr algn="ctr" indent="0" marL="0">
              <a:buNone/>
            </a:pPr>
            <a:r>
              <a:rPr lang="en-US" sz="2200" b="1" dirty="0">
                <a:solidFill>
                  <a:srgbClr val="FFFFFF"/>
                </a:solidFill>
              </a:rPr>
              <a:t>5</a:t>
            </a:r>
            <a:endParaRPr lang="en-US" sz="2200" dirty="0"/>
          </a:p>
        </p:txBody>
      </p:sp>
      <p:sp>
        <p:nvSpPr>
          <p:cNvPr id="21" name="word text slice"/>
          <p:cNvSpPr txBox="1"/>
          <p:nvPr/>
        </p:nvSpPr>
        <p:spPr>
          <a:xfrm>
            <a:off x="1371600" y="5148072"/>
            <a:ext cx="4480560" cy="658368"/>
          </a:xfrm>
          <a:prstGeom prst="rect">
            <a:avLst/>
          </a:prstGeom>
          <a:noFill/>
          <a:ln/>
        </p:spPr>
        <p:txBody>
          <a:bodyPr wrap="square" lIns="0" tIns="0" rIns="0" bIns="0" rtlCol="0" anchor="ctr"/>
          <a:lstStyle/>
          <a:p>
            <a:pPr indent="0" marL="0">
              <a:buNone/>
            </a:pPr>
            <a:r>
              <a:rPr lang="en-US" sz="2400" b="1" dirty="0">
                <a:solidFill>
                  <a:srgbClr val="1E2761"/>
                </a:solidFill>
                <a:latin typeface="Georgia" pitchFamily="34" charset="0"/>
                <a:ea typeface="Georgia" pitchFamily="34" charset="-122"/>
                <a:cs typeface="Georgia" pitchFamily="34" charset="-120"/>
              </a:rPr>
              <a:t>slice</a:t>
            </a:r>
            <a:pPr indent="0" marL="0">
              <a:buNone/>
            </a:pPr>
            <a:r>
              <a:rPr lang="en-US" sz="1400" dirty="0">
                <a:solidFill>
                  <a:srgbClr val="5B6078"/>
                </a:solidFill>
              </a:rPr>
              <a:t>   one piece of the pie</a:t>
            </a:r>
            <a:endParaRPr lang="en-US" sz="2400" dirty="0"/>
          </a:p>
        </p:txBody>
      </p:sp>
      <p:sp>
        <p:nvSpPr>
          <p:cNvPr id="22" name="es slice"/>
          <p:cNvSpPr txBox="1"/>
          <p:nvPr/>
        </p:nvSpPr>
        <p:spPr>
          <a:xfrm>
            <a:off x="5852160" y="5148072"/>
            <a:ext cx="1280160" cy="658368"/>
          </a:xfrm>
          <a:prstGeom prst="rect">
            <a:avLst/>
          </a:prstGeom>
          <a:noFill/>
          <a:ln/>
        </p:spPr>
        <p:txBody>
          <a:bodyPr wrap="square" lIns="0" tIns="0" rIns="0" bIns="0" rtlCol="0" anchor="ctr"/>
          <a:lstStyle/>
          <a:p>
            <a:pPr algn="r" indent="0" marL="0">
              <a:buNone/>
            </a:pPr>
            <a:r>
              <a:rPr lang="en-US" sz="1400" i="1" dirty="0">
                <a:solidFill>
                  <a:srgbClr val="7A5F0E"/>
                </a:solidFill>
              </a:rPr>
              <a:t>rebanada</a:t>
            </a:r>
            <a:endParaRPr lang="en-US" sz="1400" dirty="0"/>
          </a:p>
        </p:txBody>
      </p:sp>
      <p:pic>
        <p:nvPicPr>
          <p:cNvPr id="23" name="slice" descr="/home/claude/deck/chess.jpg">    </p:cNvPr>
          <p:cNvPicPr>
            <a:picLocks noChangeAspect="1"/>
          </p:cNvPicPr>
          <p:nvPr/>
        </p:nvPicPr>
        <p:blipFill>
          <a:blip r:embed="rId1"/>
          <a:stretch>
            <a:fillRect/>
          </a:stretch>
        </p:blipFill>
        <p:spPr>
          <a:xfrm>
            <a:off x="7589520" y="1417320"/>
            <a:ext cx="4023360" cy="3794760"/>
          </a:xfrm>
          <a:prstGeom prst="rect">
            <a:avLst/>
          </a:prstGeom>
        </p:spPr>
      </p:pic>
      <p:sp>
        <p:nvSpPr>
          <p:cNvPr id="24" name="label crust"/>
          <p:cNvSpPr/>
          <p:nvPr/>
        </p:nvSpPr>
        <p:spPr>
          <a:xfrm>
            <a:off x="8778240" y="1600200"/>
            <a:ext cx="1097280" cy="384048"/>
          </a:xfrm>
          <a:prstGeom prst="roundRect">
            <a:avLst>
              <a:gd name="adj" fmla="val 47619"/>
            </a:avLst>
          </a:prstGeom>
          <a:solidFill>
            <a:srgbClr val="C9A227"/>
          </a:solidFill>
          <a:ln w="12700">
            <a:solidFill>
              <a:srgbClr val="C9A227"/>
            </a:solidFill>
            <a:prstDash val="solid"/>
          </a:ln>
        </p:spPr>
      </p:sp>
      <p:sp>
        <p:nvSpPr>
          <p:cNvPr id="25" name="label crust text"/>
          <p:cNvSpPr txBox="1"/>
          <p:nvPr/>
        </p:nvSpPr>
        <p:spPr>
          <a:xfrm>
            <a:off x="8778240" y="1600200"/>
            <a:ext cx="1097280" cy="384048"/>
          </a:xfrm>
          <a:prstGeom prst="rect">
            <a:avLst/>
          </a:prstGeom>
          <a:noFill/>
          <a:ln/>
        </p:spPr>
        <p:txBody>
          <a:bodyPr wrap="square" lIns="0" tIns="0" rIns="0" bIns="0" rtlCol="0" anchor="ctr"/>
          <a:lstStyle/>
          <a:p>
            <a:pPr algn="ctr" indent="0" marL="0">
              <a:buNone/>
            </a:pPr>
            <a:r>
              <a:rPr lang="en-US" sz="1400" b="1" dirty="0">
                <a:solidFill>
                  <a:srgbClr val="1E2761"/>
                </a:solidFill>
              </a:rPr>
              <a:t>crust</a:t>
            </a:r>
            <a:endParaRPr lang="en-US" sz="1400" dirty="0"/>
          </a:p>
        </p:txBody>
      </p:sp>
      <p:sp>
        <p:nvSpPr>
          <p:cNvPr id="26" name="label filling"/>
          <p:cNvSpPr/>
          <p:nvPr/>
        </p:nvSpPr>
        <p:spPr>
          <a:xfrm>
            <a:off x="8229600" y="3566160"/>
            <a:ext cx="1188720" cy="384048"/>
          </a:xfrm>
          <a:prstGeom prst="roundRect">
            <a:avLst>
              <a:gd name="adj" fmla="val 47619"/>
            </a:avLst>
          </a:prstGeom>
          <a:solidFill>
            <a:srgbClr val="C9A227"/>
          </a:solidFill>
          <a:ln w="12700">
            <a:solidFill>
              <a:srgbClr val="C9A227"/>
            </a:solidFill>
            <a:prstDash val="solid"/>
          </a:ln>
        </p:spPr>
      </p:sp>
      <p:sp>
        <p:nvSpPr>
          <p:cNvPr id="27" name="label filling text"/>
          <p:cNvSpPr txBox="1"/>
          <p:nvPr/>
        </p:nvSpPr>
        <p:spPr>
          <a:xfrm>
            <a:off x="8229600" y="3566160"/>
            <a:ext cx="1188720" cy="384048"/>
          </a:xfrm>
          <a:prstGeom prst="rect">
            <a:avLst/>
          </a:prstGeom>
          <a:noFill/>
          <a:ln/>
        </p:spPr>
        <p:txBody>
          <a:bodyPr wrap="square" lIns="0" tIns="0" rIns="0" bIns="0" rtlCol="0" anchor="ctr"/>
          <a:lstStyle/>
          <a:p>
            <a:pPr algn="ctr" indent="0" marL="0">
              <a:buNone/>
            </a:pPr>
            <a:r>
              <a:rPr lang="en-US" sz="1400" b="1" dirty="0">
                <a:solidFill>
                  <a:srgbClr val="1E2761"/>
                </a:solidFill>
              </a:rPr>
              <a:t>filling</a:t>
            </a:r>
            <a:endParaRPr lang="en-US" sz="1400" dirty="0"/>
          </a:p>
        </p:txBody>
      </p:sp>
      <p:sp>
        <p:nvSpPr>
          <p:cNvPr id="28" name="check"/>
          <p:cNvSpPr txBox="1"/>
          <p:nvPr/>
        </p:nvSpPr>
        <p:spPr>
          <a:xfrm>
            <a:off x="7589520" y="5349240"/>
            <a:ext cx="4023360" cy="731520"/>
          </a:xfrm>
          <a:prstGeom prst="rect">
            <a:avLst/>
          </a:prstGeom>
          <a:noFill/>
          <a:ln/>
        </p:spPr>
        <p:txBody>
          <a:bodyPr wrap="square" lIns="0" tIns="0" rIns="0" bIns="0" rtlCol="0" anchor="ctr"/>
          <a:lstStyle/>
          <a:p>
            <a:pPr indent="0" marL="0">
              <a:buNone/>
            </a:pPr>
            <a:r>
              <a:rPr lang="en-US" sz="1300" dirty="0">
                <a:solidFill>
                  <a:srgbClr val="1F2340"/>
                </a:solidFill>
              </a:rPr>
              <a:t>Check: point to the crust. Point to the filling. One finger = ingredient, two = slice.</a:t>
            </a:r>
            <a:endParaRPr lang="en-US" sz="1300" dirty="0"/>
          </a:p>
        </p:txBody>
      </p:sp>
      <p:sp>
        <p:nvSpPr>
          <p:cNvPr id="30" name="Text 3"/>
          <p:cNvSpPr/>
          <p:nvPr>
            <p:ph idx="104" type="body" hasCustomPrompt="1"/>
          </p:nvPr>
        </p:nvSpPr>
        <p:spPr>
          <a:xfrm>
            <a:off x="548640" y="1463040"/>
            <a:ext cx="7315200" cy="457200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07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me range"/>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spc="300" kern="0" dirty="0">
                <a:solidFill>
                  <a:srgbClr val="C9A227"/>
                </a:solidFill>
              </a:rPr>
              <a:t>12–18 min</a:t>
            </a:r>
            <a:endParaRPr lang="en-US" sz="1400" dirty="0"/>
          </a:p>
        </p:txBody>
      </p:sp>
      <p:sp>
        <p:nvSpPr>
          <p:cNvPr id="3" name="segment title"/>
          <p:cNvSpPr txBox="1"/>
          <p:nvPr/>
        </p:nvSpPr>
        <p:spPr>
          <a:xfrm>
            <a:off x="548640" y="914400"/>
            <a:ext cx="8503920" cy="146304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Cognate hunt.</a:t>
            </a:r>
            <a:endParaRPr lang="en-US" sz="4800" dirty="0"/>
          </a:p>
        </p:txBody>
      </p:sp>
      <p:sp>
        <p:nvSpPr>
          <p:cNvPr id="4" name="segment sub"/>
          <p:cNvSpPr txBox="1"/>
          <p:nvPr/>
        </p:nvSpPr>
        <p:spPr>
          <a:xfrm>
            <a:off x="548640" y="2468880"/>
            <a:ext cx="8229600" cy="1097280"/>
          </a:xfrm>
          <a:prstGeom prst="rect">
            <a:avLst/>
          </a:prstGeom>
          <a:noFill/>
          <a:ln/>
        </p:spPr>
        <p:txBody>
          <a:bodyPr wrap="square" lIns="0" tIns="0" rIns="0" bIns="0" rtlCol="0" anchor="ctr"/>
          <a:lstStyle/>
          <a:p>
            <a:pPr indent="0" marL="0">
              <a:buNone/>
            </a:pPr>
            <a:r>
              <a:rPr lang="en-US" sz="2000" dirty="0">
                <a:solidFill>
                  <a:srgbClr val="C9CEEA"/>
                </a:solidFill>
              </a:rPr>
              <a:t>Circle every word that looks like a word in your language. Compare with a partner.</a:t>
            </a:r>
            <a:endParaRPr lang="en-US" sz="2000" dirty="0"/>
          </a:p>
        </p:txBody>
      </p:sp>
      <p:pic>
        <p:nvPicPr>
          <p:cNvPr id="5" name="segment icon" descr="preencoded.png">    </p:cNvPr>
          <p:cNvPicPr>
            <a:picLocks noChangeAspect="1"/>
          </p:cNvPicPr>
          <p:nvPr/>
        </p:nvPicPr>
        <p:blipFill>
          <a:blip r:embed="rId1"/>
          <a:stretch>
            <a:fillRect/>
          </a:stretch>
        </p:blipFill>
        <p:spPr>
          <a:xfrm>
            <a:off x="548640" y="3931920"/>
            <a:ext cx="1188720" cy="1188720"/>
          </a:xfrm>
          <a:prstGeom prst="rect">
            <a:avLst/>
          </a:prstGeom>
        </p:spPr>
      </p:pic>
      <p:sp>
        <p:nvSpPr>
          <p:cNvPr id="6" name="timer badge"/>
          <p:cNvSpPr/>
          <p:nvPr/>
        </p:nvSpPr>
        <p:spPr>
          <a:xfrm>
            <a:off x="9235440" y="457200"/>
            <a:ext cx="2468880" cy="1051560"/>
          </a:xfrm>
          <a:prstGeom prst="roundRect">
            <a:avLst>
              <a:gd name="adj" fmla="val 13043"/>
            </a:avLst>
          </a:prstGeom>
          <a:solidFill>
            <a:srgbClr val="1E2761"/>
          </a:solidFill>
          <a:ln w="25400">
            <a:solidFill>
              <a:srgbClr val="C9A227"/>
            </a:solidFill>
            <a:prstDash val="solid"/>
          </a:ln>
        </p:spPr>
      </p:sp>
      <p:pic>
        <p:nvPicPr>
          <p:cNvPr id="7" name="clock" descr="preencoded.png">    </p:cNvPr>
          <p:cNvPicPr>
            <a:picLocks noChangeAspect="1"/>
          </p:cNvPicPr>
          <p:nvPr/>
        </p:nvPicPr>
        <p:blipFill>
          <a:blip r:embed="rId2"/>
          <a:stretch>
            <a:fillRect/>
          </a:stretch>
        </p:blipFill>
        <p:spPr>
          <a:xfrm>
            <a:off x="9372600" y="713232"/>
            <a:ext cx="548640" cy="548640"/>
          </a:xfrm>
          <a:prstGeom prst="rect">
            <a:avLst/>
          </a:prstGeom>
        </p:spPr>
      </p:pic>
      <p:sp>
        <p:nvSpPr>
          <p:cNvPr id="8" name="timer link"/>
          <p:cNvSpPr txBox="1"/>
          <p:nvPr/>
        </p:nvSpPr>
        <p:spPr>
          <a:xfrm>
            <a:off x="9966960" y="548640"/>
            <a:ext cx="1691640" cy="868680"/>
          </a:xfrm>
          <a:prstGeom prst="rect">
            <a:avLst/>
          </a:prstGeom>
          <a:noFill/>
          <a:ln/>
        </p:spPr>
        <p:txBody>
          <a:bodyPr wrap="square" lIns="0" tIns="0" rIns="0" bIns="0" rtlCol="0" anchor="ctr"/>
          <a:lstStyle/>
          <a:p>
            <a:pPr indent="0" marL="0">
              <a:buNone/>
            </a:pPr>
            <a:r>
              <a:rPr lang="en-US" sz="3000" b="1" u="sng" dirty="0">
                <a:solidFill>
                  <a:srgbClr val="FFFFFF"/>
                </a:solidFill>
                <a:hlinkClick r:id="rId3" invalidUrl="" action="" tgtFrame="" tooltip="" history="1" highlightClick="0" endSnd="0">
                  <a:extLst>
                    <a:ext uri="{A12FA001-AC4F-418D-AE19-62706E023703}">
                      <ahyp:hlinkClr xmlns:ahyp="http://schemas.microsoft.com/office/drawing/2018/hyperlinkcolor" val="tx"/>
                    </a:ext>
                  </a:extLst>
                </a:hlinkClick>
              </a:rPr>
              <a:t>6:00</a:t>
            </a:r>
            <a:endParaRPr lang="en-US" sz="3000" dirty="0"/>
          </a:p>
          <a:p>
            <a:pPr indent="0" marL="0">
              <a:buNone/>
            </a:pPr>
            <a:r>
              <a:rPr lang="en-US" sz="900" u="sng" dirty="0">
                <a:solidFill>
                  <a:srgbClr val="C9CEEA"/>
                </a:solidFill>
                <a:hlinkClick r:id="rId4" invalidUrl="" action="" tgtFrame="" tooltip="" history="1" highlightClick="0" endSnd="0">
                  <a:extLst>
                    <a:ext uri="{A12FA001-AC4F-418D-AE19-62706E023703}">
                      <ahyp:hlinkClr xmlns:ahyp="http://schemas.microsoft.com/office/drawing/2018/hyperlinkcolor" val="tx"/>
                    </a:ext>
                  </a:extLst>
                </a:hlinkClick>
              </a:rPr>
              <a:t>click to start timer</a:t>
            </a:r>
            <a:endParaRPr lang="en-US" sz="3000" dirty="0"/>
          </a:p>
        </p:txBody>
      </p:sp>
      <p:sp>
        <p:nvSpPr>
          <p:cNvPr id="9" name="agenda Open"/>
          <p:cNvSpPr/>
          <p:nvPr/>
        </p:nvSpPr>
        <p:spPr>
          <a:xfrm>
            <a:off x="548640" y="5577840"/>
            <a:ext cx="587248" cy="384048"/>
          </a:xfrm>
          <a:prstGeom prst="rect">
            <a:avLst/>
          </a:prstGeom>
          <a:solidFill>
            <a:srgbClr val="2B3470"/>
          </a:solidFill>
          <a:ln w="12700">
            <a:solidFill>
              <a:srgbClr val="1E2761"/>
            </a:solidFill>
            <a:prstDash val="solid"/>
          </a:ln>
        </p:spPr>
      </p:sp>
      <p:sp>
        <p:nvSpPr>
          <p:cNvPr id="10" name="agenda Five words"/>
          <p:cNvSpPr/>
          <p:nvPr/>
        </p:nvSpPr>
        <p:spPr>
          <a:xfrm>
            <a:off x="1163320" y="5577840"/>
            <a:ext cx="833120" cy="384048"/>
          </a:xfrm>
          <a:prstGeom prst="rect">
            <a:avLst/>
          </a:prstGeom>
          <a:solidFill>
            <a:srgbClr val="2B3470"/>
          </a:solidFill>
          <a:ln w="12700">
            <a:solidFill>
              <a:srgbClr val="1E2761"/>
            </a:solidFill>
            <a:prstDash val="solid"/>
          </a:ln>
        </p:spPr>
      </p:sp>
      <p:sp>
        <p:nvSpPr>
          <p:cNvPr id="11" name="agenda label Five words"/>
          <p:cNvSpPr txBox="1"/>
          <p:nvPr/>
        </p:nvSpPr>
        <p:spPr>
          <a:xfrm>
            <a:off x="1163320" y="5577840"/>
            <a:ext cx="833120" cy="384048"/>
          </a:xfrm>
          <a:prstGeom prst="rect">
            <a:avLst/>
          </a:prstGeom>
          <a:noFill/>
          <a:ln/>
        </p:spPr>
        <p:txBody>
          <a:bodyPr wrap="square" lIns="0" tIns="0" rIns="0" bIns="0" rtlCol="0" anchor="ctr"/>
          <a:lstStyle/>
          <a:p>
            <a:pPr algn="ctr" indent="0" marL="0">
              <a:buNone/>
            </a:pPr>
            <a:r>
              <a:rPr lang="en-US" sz="900" dirty="0">
                <a:solidFill>
                  <a:srgbClr val="AEB5DA"/>
                </a:solidFill>
              </a:rPr>
              <a:t>Five words</a:t>
            </a:r>
            <a:endParaRPr lang="en-US" sz="900" dirty="0"/>
          </a:p>
        </p:txBody>
      </p:sp>
      <p:sp>
        <p:nvSpPr>
          <p:cNvPr id="12" name="agenda Cognates"/>
          <p:cNvSpPr/>
          <p:nvPr/>
        </p:nvSpPr>
        <p:spPr>
          <a:xfrm>
            <a:off x="2023872" y="5577840"/>
            <a:ext cx="710184" cy="384048"/>
          </a:xfrm>
          <a:prstGeom prst="rect">
            <a:avLst/>
          </a:prstGeom>
          <a:solidFill>
            <a:srgbClr val="C9A227"/>
          </a:solidFill>
          <a:ln w="12700">
            <a:solidFill>
              <a:srgbClr val="1E2761"/>
            </a:solidFill>
            <a:prstDash val="solid"/>
          </a:ln>
        </p:spPr>
      </p:sp>
      <p:sp>
        <p:nvSpPr>
          <p:cNvPr id="13" name="agenda label Cognates"/>
          <p:cNvSpPr txBox="1"/>
          <p:nvPr/>
        </p:nvSpPr>
        <p:spPr>
          <a:xfrm>
            <a:off x="2023872" y="5577840"/>
            <a:ext cx="710184" cy="384048"/>
          </a:xfrm>
          <a:prstGeom prst="rect">
            <a:avLst/>
          </a:prstGeom>
          <a:noFill/>
          <a:ln/>
        </p:spPr>
        <p:txBody>
          <a:bodyPr wrap="square" lIns="0" tIns="0" rIns="0" bIns="0" rtlCol="0" anchor="ctr"/>
          <a:lstStyle/>
          <a:p>
            <a:pPr algn="ctr" indent="0" marL="0">
              <a:buNone/>
            </a:pPr>
            <a:r>
              <a:rPr lang="en-US" sz="900" dirty="0">
                <a:solidFill>
                  <a:srgbClr val="1E2761"/>
                </a:solidFill>
              </a:rPr>
              <a:t>Cognates</a:t>
            </a:r>
            <a:endParaRPr lang="en-US" sz="900" dirty="0"/>
          </a:p>
        </p:txBody>
      </p:sp>
      <p:sp>
        <p:nvSpPr>
          <p:cNvPr id="14" name="agenda Listening"/>
          <p:cNvSpPr/>
          <p:nvPr/>
        </p:nvSpPr>
        <p:spPr>
          <a:xfrm>
            <a:off x="2761488" y="5577840"/>
            <a:ext cx="1816608" cy="384048"/>
          </a:xfrm>
          <a:prstGeom prst="rect">
            <a:avLst/>
          </a:prstGeom>
          <a:solidFill>
            <a:srgbClr val="2B3470"/>
          </a:solidFill>
          <a:ln w="12700">
            <a:solidFill>
              <a:srgbClr val="1E2761"/>
            </a:solidFill>
            <a:prstDash val="solid"/>
          </a:ln>
        </p:spPr>
      </p:sp>
      <p:sp>
        <p:nvSpPr>
          <p:cNvPr id="15" name="agenda label Listening"/>
          <p:cNvSpPr txBox="1"/>
          <p:nvPr/>
        </p:nvSpPr>
        <p:spPr>
          <a:xfrm>
            <a:off x="2761488" y="5577840"/>
            <a:ext cx="1816608" cy="384048"/>
          </a:xfrm>
          <a:prstGeom prst="rect">
            <a:avLst/>
          </a:prstGeom>
          <a:noFill/>
          <a:ln/>
        </p:spPr>
        <p:txBody>
          <a:bodyPr wrap="square" lIns="0" tIns="0" rIns="0" bIns="0" rtlCol="0" anchor="ctr"/>
          <a:lstStyle/>
          <a:p>
            <a:pPr algn="ctr" indent="0" marL="0">
              <a:buNone/>
            </a:pPr>
            <a:r>
              <a:rPr lang="en-US" sz="900" dirty="0">
                <a:solidFill>
                  <a:srgbClr val="AEB5DA"/>
                </a:solidFill>
              </a:rPr>
              <a:t>Listening</a:t>
            </a:r>
            <a:endParaRPr lang="en-US" sz="900" dirty="0"/>
          </a:p>
        </p:txBody>
      </p:sp>
      <p:sp>
        <p:nvSpPr>
          <p:cNvPr id="16" name="agenda Reading"/>
          <p:cNvSpPr/>
          <p:nvPr/>
        </p:nvSpPr>
        <p:spPr>
          <a:xfrm>
            <a:off x="4605528" y="5577840"/>
            <a:ext cx="2062480" cy="384048"/>
          </a:xfrm>
          <a:prstGeom prst="rect">
            <a:avLst/>
          </a:prstGeom>
          <a:solidFill>
            <a:srgbClr val="2B3470"/>
          </a:solidFill>
          <a:ln w="12700">
            <a:solidFill>
              <a:srgbClr val="1E2761"/>
            </a:solidFill>
            <a:prstDash val="solid"/>
          </a:ln>
        </p:spPr>
      </p:sp>
      <p:sp>
        <p:nvSpPr>
          <p:cNvPr id="17" name="agenda label Reading"/>
          <p:cNvSpPr txBox="1"/>
          <p:nvPr/>
        </p:nvSpPr>
        <p:spPr>
          <a:xfrm>
            <a:off x="4605528" y="5577840"/>
            <a:ext cx="2062480" cy="384048"/>
          </a:xfrm>
          <a:prstGeom prst="rect">
            <a:avLst/>
          </a:prstGeom>
          <a:noFill/>
          <a:ln/>
        </p:spPr>
        <p:txBody>
          <a:bodyPr wrap="square" lIns="0" tIns="0" rIns="0" bIns="0" rtlCol="0" anchor="ctr"/>
          <a:lstStyle/>
          <a:p>
            <a:pPr algn="ctr" indent="0" marL="0">
              <a:buNone/>
            </a:pPr>
            <a:r>
              <a:rPr lang="en-US" sz="900" dirty="0">
                <a:solidFill>
                  <a:srgbClr val="AEB5DA"/>
                </a:solidFill>
              </a:rPr>
              <a:t>Reading</a:t>
            </a:r>
            <a:endParaRPr lang="en-US" sz="900" dirty="0"/>
          </a:p>
        </p:txBody>
      </p:sp>
      <p:sp>
        <p:nvSpPr>
          <p:cNvPr id="18" name="agenda Talk"/>
          <p:cNvSpPr/>
          <p:nvPr/>
        </p:nvSpPr>
        <p:spPr>
          <a:xfrm>
            <a:off x="6695440" y="5577840"/>
            <a:ext cx="1201928" cy="384048"/>
          </a:xfrm>
          <a:prstGeom prst="rect">
            <a:avLst/>
          </a:prstGeom>
          <a:solidFill>
            <a:srgbClr val="2B3470"/>
          </a:solidFill>
          <a:ln w="12700">
            <a:solidFill>
              <a:srgbClr val="1E2761"/>
            </a:solidFill>
            <a:prstDash val="solid"/>
          </a:ln>
        </p:spPr>
      </p:sp>
      <p:sp>
        <p:nvSpPr>
          <p:cNvPr id="19" name="agenda label Talk"/>
          <p:cNvSpPr txBox="1"/>
          <p:nvPr/>
        </p:nvSpPr>
        <p:spPr>
          <a:xfrm>
            <a:off x="6695440" y="5577840"/>
            <a:ext cx="1201928" cy="384048"/>
          </a:xfrm>
          <a:prstGeom prst="rect">
            <a:avLst/>
          </a:prstGeom>
          <a:noFill/>
          <a:ln/>
        </p:spPr>
        <p:txBody>
          <a:bodyPr wrap="square" lIns="0" tIns="0" rIns="0" bIns="0" rtlCol="0" anchor="ctr"/>
          <a:lstStyle/>
          <a:p>
            <a:pPr algn="ctr" indent="0" marL="0">
              <a:buNone/>
            </a:pPr>
            <a:r>
              <a:rPr lang="en-US" sz="900" dirty="0">
                <a:solidFill>
                  <a:srgbClr val="AEB5DA"/>
                </a:solidFill>
              </a:rPr>
              <a:t>Talk</a:t>
            </a:r>
            <a:endParaRPr lang="en-US" sz="900" dirty="0"/>
          </a:p>
        </p:txBody>
      </p:sp>
      <p:sp>
        <p:nvSpPr>
          <p:cNvPr id="20" name="agenda Writing"/>
          <p:cNvSpPr/>
          <p:nvPr/>
        </p:nvSpPr>
        <p:spPr>
          <a:xfrm>
            <a:off x="7924800" y="5577840"/>
            <a:ext cx="2431288" cy="384048"/>
          </a:xfrm>
          <a:prstGeom prst="rect">
            <a:avLst/>
          </a:prstGeom>
          <a:solidFill>
            <a:srgbClr val="2B3470"/>
          </a:solidFill>
          <a:ln w="12700">
            <a:solidFill>
              <a:srgbClr val="1E2761"/>
            </a:solidFill>
            <a:prstDash val="solid"/>
          </a:ln>
        </p:spPr>
      </p:sp>
      <p:sp>
        <p:nvSpPr>
          <p:cNvPr id="21" name="agenda label Writing"/>
          <p:cNvSpPr txBox="1"/>
          <p:nvPr/>
        </p:nvSpPr>
        <p:spPr>
          <a:xfrm>
            <a:off x="7924800" y="5577840"/>
            <a:ext cx="2431288" cy="384048"/>
          </a:xfrm>
          <a:prstGeom prst="rect">
            <a:avLst/>
          </a:prstGeom>
          <a:noFill/>
          <a:ln/>
        </p:spPr>
        <p:txBody>
          <a:bodyPr wrap="square" lIns="0" tIns="0" rIns="0" bIns="0" rtlCol="0" anchor="ctr"/>
          <a:lstStyle/>
          <a:p>
            <a:pPr algn="ctr" indent="0" marL="0">
              <a:buNone/>
            </a:pPr>
            <a:r>
              <a:rPr lang="en-US" sz="900" dirty="0">
                <a:solidFill>
                  <a:srgbClr val="AEB5DA"/>
                </a:solidFill>
              </a:rPr>
              <a:t>Writing</a:t>
            </a:r>
            <a:endParaRPr lang="en-US" sz="900" dirty="0"/>
          </a:p>
        </p:txBody>
      </p:sp>
      <p:sp>
        <p:nvSpPr>
          <p:cNvPr id="22" name="agenda S4 / S2"/>
          <p:cNvSpPr/>
          <p:nvPr/>
        </p:nvSpPr>
        <p:spPr>
          <a:xfrm>
            <a:off x="10383520" y="5577840"/>
            <a:ext cx="833120" cy="384048"/>
          </a:xfrm>
          <a:prstGeom prst="rect">
            <a:avLst/>
          </a:prstGeom>
          <a:solidFill>
            <a:srgbClr val="2B3470"/>
          </a:solidFill>
          <a:ln w="12700">
            <a:solidFill>
              <a:srgbClr val="1E2761"/>
            </a:solidFill>
            <a:prstDash val="solid"/>
          </a:ln>
        </p:spPr>
      </p:sp>
      <p:sp>
        <p:nvSpPr>
          <p:cNvPr id="23" name="agenda label S4 / S2"/>
          <p:cNvSpPr txBox="1"/>
          <p:nvPr/>
        </p:nvSpPr>
        <p:spPr>
          <a:xfrm>
            <a:off x="10383520" y="5577840"/>
            <a:ext cx="833120" cy="384048"/>
          </a:xfrm>
          <a:prstGeom prst="rect">
            <a:avLst/>
          </a:prstGeom>
          <a:noFill/>
          <a:ln/>
        </p:spPr>
        <p:txBody>
          <a:bodyPr wrap="square" lIns="0" tIns="0" rIns="0" bIns="0" rtlCol="0" anchor="ctr"/>
          <a:lstStyle/>
          <a:p>
            <a:pPr algn="ctr" indent="0" marL="0">
              <a:buNone/>
            </a:pPr>
            <a:r>
              <a:rPr lang="en-US" sz="900" dirty="0">
                <a:solidFill>
                  <a:srgbClr val="AEB5DA"/>
                </a:solidFill>
              </a:rPr>
              <a:t>S4 / S2</a:t>
            </a:r>
            <a:endParaRPr lang="en-US" sz="900" dirty="0"/>
          </a:p>
        </p:txBody>
      </p:sp>
      <p:sp>
        <p:nvSpPr>
          <p:cNvPr id="24" name="agenda Exit"/>
          <p:cNvSpPr/>
          <p:nvPr/>
        </p:nvSpPr>
        <p:spPr>
          <a:xfrm>
            <a:off x="11244072" y="5577840"/>
            <a:ext cx="341376" cy="384048"/>
          </a:xfrm>
          <a:prstGeom prst="rect">
            <a:avLst/>
          </a:prstGeom>
          <a:solidFill>
            <a:srgbClr val="2B3470"/>
          </a:solidFill>
          <a:ln w="12700">
            <a:solidFill>
              <a:srgbClr val="1E2761"/>
            </a:solidFill>
            <a:prstDash val="solid"/>
          </a:ln>
        </p:spPr>
      </p:sp>
      <p:sp>
        <p:nvSpPr>
          <p:cNvPr id="25" name="Text 2"/>
          <p:cNvSpPr/>
          <p:nvPr>
            <p:ph idx="102" type="title" hasCustomPrompt="1"/>
          </p:nvPr>
        </p:nvSpPr>
        <p:spPr>
          <a:xfrm>
            <a:off x="548640" y="457200"/>
            <a:ext cx="11064240" cy="1005840"/>
          </a:xfrm>
          <a:prstGeom prst="rect">
            <a:avLst/>
          </a:prstGeom>
          <a:noFill/>
          <a:ln/>
        </p:spPr>
        <p:txBody>
          <a:bodyPr wrap="square" lIns="0" tIns="0" rIns="0" bIns="0" rtlCol="0"/>
          <a:lstStyle/>
          <a:p>
            <a:pPr indent="0" marL="0">
              <a:buNone/>
            </a:pPr>
            <a:endParaRPr lang="en-US" sz="4000" dirty="0"/>
          </a:p>
        </p:txBody>
      </p:sp>
      <p:sp>
        <p:nvSpPr>
          <p:cNvPr id="26" name="Text 2"/>
          <p:cNvSpPr/>
          <p:nvPr>
            <p:ph idx="103" type="body" hasCustomPrompt="1"/>
          </p:nvPr>
        </p:nvSpPr>
        <p:spPr>
          <a:xfrm>
            <a:off x="548640" y="1554480"/>
            <a:ext cx="7498080" cy="448056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5DA"/>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548640" y="411480"/>
            <a:ext cx="11064240" cy="914400"/>
          </a:xfrm>
          <a:prstGeom prst="rect">
            <a:avLst/>
          </a:prstGeom>
          <a:noFill/>
          <a:ln/>
        </p:spPr>
        <p:txBody>
          <a:bodyPr wrap="square" lIns="0" tIns="0" rIns="0" bIns="0" rtlCol="0"/>
          <a:lstStyle/>
          <a:p>
            <a:pPr indent="0" marL="0">
              <a:buNone/>
            </a:pPr>
            <a:r>
              <a:rPr lang="en-US" sz="3600" b="1" dirty="0">
                <a:solidFill>
                  <a:srgbClr val="1E2761"/>
                </a:solidFill>
              </a:rPr>
              <a:t>Which words do you already know?</a:t>
            </a:r>
            <a:endParaRPr lang="en-US" sz="3600" dirty="0"/>
          </a:p>
        </p:txBody>
      </p:sp>
      <p:sp>
        <p:nvSpPr>
          <p:cNvPr id="3" name="cog 0"/>
          <p:cNvSpPr txBox="1"/>
          <p:nvPr/>
        </p:nvSpPr>
        <p:spPr>
          <a:xfrm>
            <a:off x="548640" y="1463040"/>
            <a:ext cx="3566160" cy="502920"/>
          </a:xfrm>
          <a:prstGeom prst="rect">
            <a:avLst/>
          </a:prstGeom>
          <a:solidFill>
            <a:srgbClr val="FFFFFF"/>
          </a:solidFill>
          <a:ln/>
        </p:spPr>
        <p:txBody>
          <a:bodyPr wrap="square" lIns="0" tIns="0" rIns="0" bIns="0" rtlCol="0" anchor="ctr"/>
          <a:lstStyle/>
          <a:p>
            <a:pPr indent="0" marL="0">
              <a:buNone/>
            </a:pPr>
            <a:r>
              <a:rPr lang="en-US" sz="1700" b="1" dirty="0">
                <a:solidFill>
                  <a:srgbClr val="1E2761"/>
                </a:solidFill>
              </a:rPr>
              <a:t>ingredient</a:t>
            </a:r>
            <a:pPr indent="0" marL="0">
              <a:buNone/>
            </a:pPr>
            <a:r>
              <a:rPr lang="en-US" sz="1700" i="1" dirty="0">
                <a:solidFill>
                  <a:srgbClr val="7A5F0E"/>
                </a:solidFill>
              </a:rPr>
              <a:t>  ingrediente</a:t>
            </a:r>
            <a:endParaRPr lang="en-US" sz="1700" dirty="0"/>
          </a:p>
        </p:txBody>
      </p:sp>
      <p:sp>
        <p:nvSpPr>
          <p:cNvPr id="4" name="cog 1"/>
          <p:cNvSpPr txBox="1"/>
          <p:nvPr/>
        </p:nvSpPr>
        <p:spPr>
          <a:xfrm>
            <a:off x="4251960" y="1463040"/>
            <a:ext cx="3566160" cy="502920"/>
          </a:xfrm>
          <a:prstGeom prst="rect">
            <a:avLst/>
          </a:prstGeom>
          <a:solidFill>
            <a:srgbClr val="FFFFFF"/>
          </a:solidFill>
          <a:ln/>
        </p:spPr>
        <p:txBody>
          <a:bodyPr wrap="square" lIns="0" tIns="0" rIns="0" bIns="0" rtlCol="0" anchor="ctr"/>
          <a:lstStyle/>
          <a:p>
            <a:pPr indent="0" marL="0">
              <a:buNone/>
            </a:pPr>
            <a:r>
              <a:rPr lang="en-US" sz="1700" b="1" dirty="0">
                <a:solidFill>
                  <a:srgbClr val="1E2761"/>
                </a:solidFill>
              </a:rPr>
              <a:t>cream</a:t>
            </a:r>
            <a:pPr indent="0" marL="0">
              <a:buNone/>
            </a:pPr>
            <a:r>
              <a:rPr lang="en-US" sz="1700" i="1" dirty="0">
                <a:solidFill>
                  <a:srgbClr val="7A5F0E"/>
                </a:solidFill>
              </a:rPr>
              <a:t>  crema</a:t>
            </a:r>
            <a:endParaRPr lang="en-US" sz="1700" dirty="0"/>
          </a:p>
        </p:txBody>
      </p:sp>
      <p:sp>
        <p:nvSpPr>
          <p:cNvPr id="5" name="cog 2"/>
          <p:cNvSpPr txBox="1"/>
          <p:nvPr/>
        </p:nvSpPr>
        <p:spPr>
          <a:xfrm>
            <a:off x="7955280" y="1463040"/>
            <a:ext cx="3566160" cy="502920"/>
          </a:xfrm>
          <a:prstGeom prst="rect">
            <a:avLst/>
          </a:prstGeom>
          <a:solidFill>
            <a:srgbClr val="FFFFFF"/>
          </a:solidFill>
          <a:ln/>
        </p:spPr>
        <p:txBody>
          <a:bodyPr wrap="square" lIns="0" tIns="0" rIns="0" bIns="0" rtlCol="0" anchor="ctr"/>
          <a:lstStyle/>
          <a:p>
            <a:pPr indent="0" marL="0">
              <a:buNone/>
            </a:pPr>
            <a:r>
              <a:rPr lang="en-US" sz="1700" b="1" dirty="0">
                <a:solidFill>
                  <a:srgbClr val="1E2761"/>
                </a:solidFill>
              </a:rPr>
              <a:t>sugar</a:t>
            </a:r>
            <a:pPr indent="0" marL="0">
              <a:buNone/>
            </a:pPr>
            <a:r>
              <a:rPr lang="en-US" sz="1700" i="1" dirty="0">
                <a:solidFill>
                  <a:srgbClr val="7A5F0E"/>
                </a:solidFill>
              </a:rPr>
              <a:t>  azúcar</a:t>
            </a:r>
            <a:endParaRPr lang="en-US" sz="1700" dirty="0"/>
          </a:p>
        </p:txBody>
      </p:sp>
      <p:sp>
        <p:nvSpPr>
          <p:cNvPr id="6" name="cog 3"/>
          <p:cNvSpPr txBox="1"/>
          <p:nvPr/>
        </p:nvSpPr>
        <p:spPr>
          <a:xfrm>
            <a:off x="548640" y="2029968"/>
            <a:ext cx="3566160" cy="502920"/>
          </a:xfrm>
          <a:prstGeom prst="rect">
            <a:avLst/>
          </a:prstGeom>
          <a:solidFill>
            <a:srgbClr val="FFFFFF"/>
          </a:solidFill>
          <a:ln/>
        </p:spPr>
        <p:txBody>
          <a:bodyPr wrap="square" lIns="0" tIns="0" rIns="0" bIns="0" rtlCol="0" anchor="ctr"/>
          <a:lstStyle/>
          <a:p>
            <a:pPr indent="0" marL="0">
              <a:buNone/>
            </a:pPr>
            <a:r>
              <a:rPr lang="en-US" sz="1700" b="1" dirty="0">
                <a:solidFill>
                  <a:srgbClr val="1E2761"/>
                </a:solidFill>
              </a:rPr>
              <a:t>vanilla extract</a:t>
            </a:r>
            <a:pPr indent="0" marL="0">
              <a:buNone/>
            </a:pPr>
            <a:r>
              <a:rPr lang="en-US" sz="1700" i="1" dirty="0">
                <a:solidFill>
                  <a:srgbClr val="7A5F0E"/>
                </a:solidFill>
              </a:rPr>
              <a:t>  extracto de vainilla</a:t>
            </a:r>
            <a:endParaRPr lang="en-US" sz="1700" dirty="0"/>
          </a:p>
        </p:txBody>
      </p:sp>
      <p:sp>
        <p:nvSpPr>
          <p:cNvPr id="7" name="cog 4"/>
          <p:cNvSpPr txBox="1"/>
          <p:nvPr/>
        </p:nvSpPr>
        <p:spPr>
          <a:xfrm>
            <a:off x="4251960" y="2029968"/>
            <a:ext cx="3566160" cy="502920"/>
          </a:xfrm>
          <a:prstGeom prst="rect">
            <a:avLst/>
          </a:prstGeom>
          <a:solidFill>
            <a:srgbClr val="FFFFFF"/>
          </a:solidFill>
          <a:ln/>
        </p:spPr>
        <p:txBody>
          <a:bodyPr wrap="square" lIns="0" tIns="0" rIns="0" bIns="0" rtlCol="0" anchor="ctr"/>
          <a:lstStyle/>
          <a:p>
            <a:pPr indent="0" marL="0">
              <a:buNone/>
            </a:pPr>
            <a:r>
              <a:rPr lang="en-US" sz="1700" b="1" dirty="0">
                <a:solidFill>
                  <a:srgbClr val="1E2761"/>
                </a:solidFill>
              </a:rPr>
              <a:t>cinnamon</a:t>
            </a:r>
            <a:pPr indent="0" marL="0">
              <a:buNone/>
            </a:pPr>
            <a:r>
              <a:rPr lang="en-US" sz="1700" i="1" dirty="0">
                <a:solidFill>
                  <a:srgbClr val="7A5F0E"/>
                </a:solidFill>
              </a:rPr>
              <a:t>  canela</a:t>
            </a:r>
            <a:endParaRPr lang="en-US" sz="1700" dirty="0"/>
          </a:p>
        </p:txBody>
      </p:sp>
      <p:sp>
        <p:nvSpPr>
          <p:cNvPr id="8" name="cog 5"/>
          <p:cNvSpPr txBox="1"/>
          <p:nvPr/>
        </p:nvSpPr>
        <p:spPr>
          <a:xfrm>
            <a:off x="7955280" y="2029968"/>
            <a:ext cx="3566160" cy="502920"/>
          </a:xfrm>
          <a:prstGeom prst="rect">
            <a:avLst/>
          </a:prstGeom>
          <a:solidFill>
            <a:srgbClr val="FFFFFF"/>
          </a:solidFill>
          <a:ln/>
        </p:spPr>
        <p:txBody>
          <a:bodyPr wrap="square" lIns="0" tIns="0" rIns="0" bIns="0" rtlCol="0" anchor="ctr"/>
          <a:lstStyle/>
          <a:p>
            <a:pPr indent="0" marL="0">
              <a:buNone/>
            </a:pPr>
            <a:r>
              <a:rPr lang="en-US" sz="1700" b="1" dirty="0">
                <a:solidFill>
                  <a:srgbClr val="1E2761"/>
                </a:solidFill>
              </a:rPr>
              <a:t>lemon</a:t>
            </a:r>
            <a:pPr indent="0" marL="0">
              <a:buNone/>
            </a:pPr>
            <a:r>
              <a:rPr lang="en-US" sz="1700" i="1" dirty="0">
                <a:solidFill>
                  <a:srgbClr val="7A5F0E"/>
                </a:solidFill>
              </a:rPr>
              <a:t>  limón</a:t>
            </a:r>
            <a:endParaRPr lang="en-US" sz="1700" dirty="0"/>
          </a:p>
        </p:txBody>
      </p:sp>
      <p:sp>
        <p:nvSpPr>
          <p:cNvPr id="9" name="cog 6"/>
          <p:cNvSpPr txBox="1"/>
          <p:nvPr/>
        </p:nvSpPr>
        <p:spPr>
          <a:xfrm>
            <a:off x="548640" y="2596896"/>
            <a:ext cx="3566160" cy="502920"/>
          </a:xfrm>
          <a:prstGeom prst="rect">
            <a:avLst/>
          </a:prstGeom>
          <a:solidFill>
            <a:srgbClr val="FFFFFF"/>
          </a:solidFill>
          <a:ln/>
        </p:spPr>
        <p:txBody>
          <a:bodyPr wrap="square" lIns="0" tIns="0" rIns="0" bIns="0" rtlCol="0" anchor="ctr"/>
          <a:lstStyle/>
          <a:p>
            <a:pPr indent="0" marL="0">
              <a:buNone/>
            </a:pPr>
            <a:r>
              <a:rPr lang="en-US" sz="1700" b="1" dirty="0">
                <a:solidFill>
                  <a:srgbClr val="1E2761"/>
                </a:solidFill>
              </a:rPr>
              <a:t>coconut</a:t>
            </a:r>
            <a:pPr indent="0" marL="0">
              <a:buNone/>
            </a:pPr>
            <a:r>
              <a:rPr lang="en-US" sz="1700" i="1" dirty="0">
                <a:solidFill>
                  <a:srgbClr val="7A5F0E"/>
                </a:solidFill>
              </a:rPr>
              <a:t>  coco</a:t>
            </a:r>
            <a:endParaRPr lang="en-US" sz="1700" dirty="0"/>
          </a:p>
        </p:txBody>
      </p:sp>
      <p:sp>
        <p:nvSpPr>
          <p:cNvPr id="10" name="cog 7"/>
          <p:cNvSpPr txBox="1"/>
          <p:nvPr/>
        </p:nvSpPr>
        <p:spPr>
          <a:xfrm>
            <a:off x="4251960" y="2596896"/>
            <a:ext cx="3566160" cy="502920"/>
          </a:xfrm>
          <a:prstGeom prst="rect">
            <a:avLst/>
          </a:prstGeom>
          <a:solidFill>
            <a:srgbClr val="FFFFFF"/>
          </a:solidFill>
          <a:ln/>
        </p:spPr>
        <p:txBody>
          <a:bodyPr wrap="square" lIns="0" tIns="0" rIns="0" bIns="0" rtlCol="0" anchor="ctr"/>
          <a:lstStyle/>
          <a:p>
            <a:pPr indent="0" marL="0">
              <a:buNone/>
            </a:pPr>
            <a:r>
              <a:rPr lang="en-US" sz="1700" b="1" dirty="0">
                <a:solidFill>
                  <a:srgbClr val="1E2761"/>
                </a:solidFill>
              </a:rPr>
              <a:t>condensed milk</a:t>
            </a:r>
            <a:pPr indent="0" marL="0">
              <a:buNone/>
            </a:pPr>
            <a:r>
              <a:rPr lang="en-US" sz="1700" i="1" dirty="0">
                <a:solidFill>
                  <a:srgbClr val="7A5F0E"/>
                </a:solidFill>
              </a:rPr>
              <a:t>  leche condensada</a:t>
            </a:r>
            <a:endParaRPr lang="en-US" sz="1700" dirty="0"/>
          </a:p>
        </p:txBody>
      </p:sp>
      <p:sp>
        <p:nvSpPr>
          <p:cNvPr id="11" name="cog 8"/>
          <p:cNvSpPr txBox="1"/>
          <p:nvPr/>
        </p:nvSpPr>
        <p:spPr>
          <a:xfrm>
            <a:off x="7955280" y="2596896"/>
            <a:ext cx="3566160" cy="502920"/>
          </a:xfrm>
          <a:prstGeom prst="rect">
            <a:avLst/>
          </a:prstGeom>
          <a:solidFill>
            <a:srgbClr val="FFFFFF"/>
          </a:solidFill>
          <a:ln/>
        </p:spPr>
        <p:txBody>
          <a:bodyPr wrap="square" lIns="0" tIns="0" rIns="0" bIns="0" rtlCol="0" anchor="ctr"/>
          <a:lstStyle/>
          <a:p>
            <a:pPr indent="0" marL="0">
              <a:buNone/>
            </a:pPr>
            <a:r>
              <a:rPr lang="en-US" sz="1700" b="1" dirty="0">
                <a:solidFill>
                  <a:srgbClr val="1E2761"/>
                </a:solidFill>
              </a:rPr>
              <a:t>evaporated milk</a:t>
            </a:r>
            <a:pPr indent="0" marL="0">
              <a:buNone/>
            </a:pPr>
            <a:r>
              <a:rPr lang="en-US" sz="1700" i="1" dirty="0">
                <a:solidFill>
                  <a:srgbClr val="7A5F0E"/>
                </a:solidFill>
              </a:rPr>
              <a:t>  leche evaporada</a:t>
            </a:r>
            <a:endParaRPr lang="en-US" sz="1700" dirty="0"/>
          </a:p>
        </p:txBody>
      </p:sp>
      <p:sp>
        <p:nvSpPr>
          <p:cNvPr id="12" name="cog 9"/>
          <p:cNvSpPr txBox="1"/>
          <p:nvPr/>
        </p:nvSpPr>
        <p:spPr>
          <a:xfrm>
            <a:off x="548640" y="3163824"/>
            <a:ext cx="3566160" cy="502920"/>
          </a:xfrm>
          <a:prstGeom prst="rect">
            <a:avLst/>
          </a:prstGeom>
          <a:solidFill>
            <a:srgbClr val="FFFFFF"/>
          </a:solidFill>
          <a:ln/>
        </p:spPr>
        <p:txBody>
          <a:bodyPr wrap="square" lIns="0" tIns="0" rIns="0" bIns="0" rtlCol="0" anchor="ctr"/>
          <a:lstStyle/>
          <a:p>
            <a:pPr indent="0" marL="0">
              <a:buNone/>
            </a:pPr>
            <a:r>
              <a:rPr lang="en-US" sz="1700" b="1" dirty="0">
                <a:solidFill>
                  <a:srgbClr val="1E2761"/>
                </a:solidFill>
              </a:rPr>
              <a:t>traditional</a:t>
            </a:r>
            <a:pPr indent="0" marL="0">
              <a:buNone/>
            </a:pPr>
            <a:r>
              <a:rPr lang="en-US" sz="1700" i="1" dirty="0">
                <a:solidFill>
                  <a:srgbClr val="7A5F0E"/>
                </a:solidFill>
              </a:rPr>
              <a:t>  tradicional</a:t>
            </a:r>
            <a:endParaRPr lang="en-US" sz="1700" dirty="0"/>
          </a:p>
        </p:txBody>
      </p:sp>
      <p:sp>
        <p:nvSpPr>
          <p:cNvPr id="13" name="cog 10"/>
          <p:cNvSpPr txBox="1"/>
          <p:nvPr/>
        </p:nvSpPr>
        <p:spPr>
          <a:xfrm>
            <a:off x="4251960" y="3163824"/>
            <a:ext cx="3566160" cy="502920"/>
          </a:xfrm>
          <a:prstGeom prst="rect">
            <a:avLst/>
          </a:prstGeom>
          <a:solidFill>
            <a:srgbClr val="FFFFFF"/>
          </a:solidFill>
          <a:ln/>
        </p:spPr>
        <p:txBody>
          <a:bodyPr wrap="square" lIns="0" tIns="0" rIns="0" bIns="0" rtlCol="0" anchor="ctr"/>
          <a:lstStyle/>
          <a:p>
            <a:pPr indent="0" marL="0">
              <a:buNone/>
            </a:pPr>
            <a:r>
              <a:rPr lang="en-US" sz="1700" b="1" dirty="0">
                <a:solidFill>
                  <a:srgbClr val="1E2761"/>
                </a:solidFill>
              </a:rPr>
              <a:t>similar</a:t>
            </a:r>
            <a:pPr indent="0" marL="0">
              <a:buNone/>
            </a:pPr>
            <a:r>
              <a:rPr lang="en-US" sz="1700" i="1" dirty="0">
                <a:solidFill>
                  <a:srgbClr val="7A5F0E"/>
                </a:solidFill>
              </a:rPr>
              <a:t>  similar</a:t>
            </a:r>
            <a:endParaRPr lang="en-US" sz="1700" dirty="0"/>
          </a:p>
        </p:txBody>
      </p:sp>
      <p:sp>
        <p:nvSpPr>
          <p:cNvPr id="14" name="cog 11"/>
          <p:cNvSpPr txBox="1"/>
          <p:nvPr/>
        </p:nvSpPr>
        <p:spPr>
          <a:xfrm>
            <a:off x="7955280" y="3163824"/>
            <a:ext cx="3566160" cy="502920"/>
          </a:xfrm>
          <a:prstGeom prst="rect">
            <a:avLst/>
          </a:prstGeom>
          <a:solidFill>
            <a:srgbClr val="FFFFFF"/>
          </a:solidFill>
          <a:ln/>
        </p:spPr>
        <p:txBody>
          <a:bodyPr wrap="square" lIns="0" tIns="0" rIns="0" bIns="0" rtlCol="0" anchor="ctr"/>
          <a:lstStyle/>
          <a:p>
            <a:pPr indent="0" marL="0">
              <a:buNone/>
            </a:pPr>
            <a:r>
              <a:rPr lang="en-US" sz="1700" b="1" dirty="0">
                <a:solidFill>
                  <a:srgbClr val="1E2761"/>
                </a:solidFill>
              </a:rPr>
              <a:t>different</a:t>
            </a:r>
            <a:pPr indent="0" marL="0">
              <a:buNone/>
            </a:pPr>
            <a:r>
              <a:rPr lang="en-US" sz="1700" i="1" dirty="0">
                <a:solidFill>
                  <a:srgbClr val="7A5F0E"/>
                </a:solidFill>
              </a:rPr>
              <a:t>  diferente</a:t>
            </a:r>
            <a:endParaRPr lang="en-US" sz="1700" dirty="0"/>
          </a:p>
        </p:txBody>
      </p:sp>
      <p:sp>
        <p:nvSpPr>
          <p:cNvPr id="15" name="cog 12"/>
          <p:cNvSpPr txBox="1"/>
          <p:nvPr/>
        </p:nvSpPr>
        <p:spPr>
          <a:xfrm>
            <a:off x="548640" y="3730752"/>
            <a:ext cx="3566160" cy="502920"/>
          </a:xfrm>
          <a:prstGeom prst="rect">
            <a:avLst/>
          </a:prstGeom>
          <a:solidFill>
            <a:srgbClr val="FFFFFF"/>
          </a:solidFill>
          <a:ln/>
        </p:spPr>
        <p:txBody>
          <a:bodyPr wrap="square" lIns="0" tIns="0" rIns="0" bIns="0" rtlCol="0" anchor="ctr"/>
          <a:lstStyle/>
          <a:p>
            <a:pPr indent="0" marL="0">
              <a:buNone/>
            </a:pPr>
            <a:r>
              <a:rPr lang="en-US" sz="1700" b="1" dirty="0">
                <a:solidFill>
                  <a:srgbClr val="1E2761"/>
                </a:solidFill>
              </a:rPr>
              <a:t>recipe</a:t>
            </a:r>
            <a:pPr indent="0" marL="0">
              <a:buNone/>
            </a:pPr>
            <a:r>
              <a:rPr lang="en-US" sz="1700" i="1" dirty="0">
                <a:solidFill>
                  <a:srgbClr val="7A5F0E"/>
                </a:solidFill>
              </a:rPr>
              <a:t>  receta</a:t>
            </a:r>
            <a:endParaRPr lang="en-US" sz="1700" dirty="0"/>
          </a:p>
        </p:txBody>
      </p:sp>
      <p:sp>
        <p:nvSpPr>
          <p:cNvPr id="16" name="cog 13"/>
          <p:cNvSpPr txBox="1"/>
          <p:nvPr/>
        </p:nvSpPr>
        <p:spPr>
          <a:xfrm>
            <a:off x="4251960" y="3730752"/>
            <a:ext cx="3566160" cy="502920"/>
          </a:xfrm>
          <a:prstGeom prst="rect">
            <a:avLst/>
          </a:prstGeom>
          <a:solidFill>
            <a:srgbClr val="FFFFFF"/>
          </a:solidFill>
          <a:ln/>
        </p:spPr>
        <p:txBody>
          <a:bodyPr wrap="square" lIns="0" tIns="0" rIns="0" bIns="0" rtlCol="0" anchor="ctr"/>
          <a:lstStyle/>
          <a:p>
            <a:pPr indent="0" marL="0">
              <a:buNone/>
            </a:pPr>
            <a:r>
              <a:rPr lang="en-US" sz="1700" b="1" dirty="0">
                <a:solidFill>
                  <a:srgbClr val="1E2761"/>
                </a:solidFill>
              </a:rPr>
              <a:t>pecan</a:t>
            </a:r>
            <a:pPr indent="0" marL="0">
              <a:buNone/>
            </a:pPr>
            <a:r>
              <a:rPr lang="en-US" sz="1700" i="1" dirty="0">
                <a:solidFill>
                  <a:srgbClr val="7A5F0E"/>
                </a:solidFill>
              </a:rPr>
              <a:t>  nuez pecana</a:t>
            </a:r>
            <a:endParaRPr lang="en-US" sz="1700" dirty="0"/>
          </a:p>
        </p:txBody>
      </p:sp>
      <p:sp>
        <p:nvSpPr>
          <p:cNvPr id="17" name="cog 14"/>
          <p:cNvSpPr txBox="1"/>
          <p:nvPr/>
        </p:nvSpPr>
        <p:spPr>
          <a:xfrm>
            <a:off x="7955280" y="3730752"/>
            <a:ext cx="3566160" cy="502920"/>
          </a:xfrm>
          <a:prstGeom prst="rect">
            <a:avLst/>
          </a:prstGeom>
          <a:solidFill>
            <a:srgbClr val="FFFFFF"/>
          </a:solidFill>
          <a:ln/>
        </p:spPr>
        <p:txBody>
          <a:bodyPr wrap="square" lIns="0" tIns="0" rIns="0" bIns="0" rtlCol="0" anchor="ctr"/>
          <a:lstStyle/>
          <a:p>
            <a:pPr indent="0" marL="0">
              <a:buNone/>
            </a:pPr>
            <a:r>
              <a:rPr lang="en-US" sz="1700" b="1" dirty="0">
                <a:solidFill>
                  <a:srgbClr val="1E2761"/>
                </a:solidFill>
              </a:rPr>
              <a:t>crunchy</a:t>
            </a:r>
            <a:pPr indent="0" marL="0">
              <a:buNone/>
            </a:pPr>
            <a:r>
              <a:rPr lang="en-US" sz="1700" i="1" dirty="0">
                <a:solidFill>
                  <a:srgbClr val="7A5F0E"/>
                </a:solidFill>
              </a:rPr>
              <a:t>  crujiente</a:t>
            </a:r>
            <a:endParaRPr lang="en-US" sz="1700" dirty="0"/>
          </a:p>
        </p:txBody>
      </p:sp>
      <p:sp>
        <p:nvSpPr>
          <p:cNvPr id="18" name="target"/>
          <p:cNvSpPr txBox="1"/>
          <p:nvPr/>
        </p:nvSpPr>
        <p:spPr>
          <a:xfrm>
            <a:off x="548640" y="4480560"/>
            <a:ext cx="7315200" cy="457200"/>
          </a:xfrm>
          <a:prstGeom prst="rect">
            <a:avLst/>
          </a:prstGeom>
          <a:noFill/>
          <a:ln/>
        </p:spPr>
        <p:txBody>
          <a:bodyPr wrap="square" lIns="0" tIns="0" rIns="0" bIns="0" rtlCol="0" anchor="ctr"/>
          <a:lstStyle/>
          <a:p>
            <a:pPr indent="0" marL="0">
              <a:buNone/>
            </a:pPr>
            <a:r>
              <a:rPr lang="en-US" sz="1600" b="1" dirty="0">
                <a:solidFill>
                  <a:srgbClr val="1E2761"/>
                </a:solidFill>
              </a:rPr>
              <a:t>Target: at least ten. Hold up fingers — how many did you find?</a:t>
            </a:r>
            <a:endParaRPr lang="en-US" sz="1600" dirty="0"/>
          </a:p>
        </p:txBody>
      </p:sp>
      <p:sp>
        <p:nvSpPr>
          <p:cNvPr id="19" name="line"/>
          <p:cNvSpPr txBox="1"/>
          <p:nvPr/>
        </p:nvSpPr>
        <p:spPr>
          <a:xfrm>
            <a:off x="548640" y="4983480"/>
            <a:ext cx="7315200" cy="548640"/>
          </a:xfrm>
          <a:prstGeom prst="rect">
            <a:avLst/>
          </a:prstGeom>
          <a:noFill/>
          <a:ln/>
        </p:spPr>
        <p:txBody>
          <a:bodyPr wrap="square" lIns="0" tIns="0" rIns="0" bIns="0" rtlCol="0" anchor="ctr"/>
          <a:lstStyle/>
          <a:p>
            <a:pPr indent="0" marL="0">
              <a:buNone/>
            </a:pPr>
            <a:r>
              <a:rPr lang="en-US" sz="2000" i="1" dirty="0">
                <a:solidFill>
                  <a:srgbClr val="17606F"/>
                </a:solidFill>
                <a:latin typeface="Georgia" pitchFamily="34" charset="0"/>
                <a:ea typeface="Georgia" pitchFamily="34" charset="-122"/>
                <a:cs typeface="Georgia" pitchFamily="34" charset="-120"/>
              </a:rPr>
              <a:t>Half of the words you need are already yours.</a:t>
            </a:r>
            <a:endParaRPr lang="en-US" sz="2000" dirty="0"/>
          </a:p>
        </p:txBody>
      </p:sp>
      <p:sp>
        <p:nvSpPr>
          <p:cNvPr id="20" name="timer badge"/>
          <p:cNvSpPr/>
          <p:nvPr/>
        </p:nvSpPr>
        <p:spPr>
          <a:xfrm>
            <a:off x="9235440" y="4846320"/>
            <a:ext cx="2468880" cy="1051560"/>
          </a:xfrm>
          <a:prstGeom prst="roundRect">
            <a:avLst>
              <a:gd name="adj" fmla="val 13043"/>
            </a:avLst>
          </a:prstGeom>
          <a:solidFill>
            <a:srgbClr val="1E2761"/>
          </a:solidFill>
          <a:ln w="25400">
            <a:solidFill>
              <a:srgbClr val="C9A227"/>
            </a:solidFill>
            <a:prstDash val="solid"/>
          </a:ln>
        </p:spPr>
      </p:sp>
      <p:pic>
        <p:nvPicPr>
          <p:cNvPr id="21" name="clock" descr="preencoded.png">    </p:cNvPr>
          <p:cNvPicPr>
            <a:picLocks noChangeAspect="1"/>
          </p:cNvPicPr>
          <p:nvPr/>
        </p:nvPicPr>
        <p:blipFill>
          <a:blip r:embed="rId1"/>
          <a:stretch>
            <a:fillRect/>
          </a:stretch>
        </p:blipFill>
        <p:spPr>
          <a:xfrm>
            <a:off x="9372600" y="5102352"/>
            <a:ext cx="548640" cy="548640"/>
          </a:xfrm>
          <a:prstGeom prst="rect">
            <a:avLst/>
          </a:prstGeom>
        </p:spPr>
      </p:pic>
      <p:sp>
        <p:nvSpPr>
          <p:cNvPr id="22" name="timer link"/>
          <p:cNvSpPr txBox="1"/>
          <p:nvPr/>
        </p:nvSpPr>
        <p:spPr>
          <a:xfrm>
            <a:off x="9966960" y="4937760"/>
            <a:ext cx="1691640" cy="868680"/>
          </a:xfrm>
          <a:prstGeom prst="rect">
            <a:avLst/>
          </a:prstGeom>
          <a:noFill/>
          <a:ln/>
        </p:spPr>
        <p:txBody>
          <a:bodyPr wrap="square" lIns="0" tIns="0" rIns="0" bIns="0" rtlCol="0" anchor="ctr"/>
          <a:lstStyle/>
          <a:p>
            <a:pPr indent="0" marL="0">
              <a:buNone/>
            </a:pPr>
            <a:r>
              <a:rPr lang="en-US" sz="3000" b="1" u="sng" dirty="0">
                <a:solidFill>
                  <a:srgbClr val="FFFFFF"/>
                </a:solidFill>
                <a:hlinkClick r:id="rId2" invalidUrl="" action="" tgtFrame="" tooltip="" history="1" highlightClick="0" endSnd="0">
                  <a:extLst>
                    <a:ext uri="{A12FA001-AC4F-418D-AE19-62706E023703}">
                      <ahyp:hlinkClr xmlns:ahyp="http://schemas.microsoft.com/office/drawing/2018/hyperlinkcolor" val="tx"/>
                    </a:ext>
                  </a:extLst>
                </a:hlinkClick>
              </a:rPr>
              <a:t>6:00</a:t>
            </a:r>
            <a:endParaRPr lang="en-US" sz="3000" dirty="0"/>
          </a:p>
          <a:p>
            <a:pPr indent="0" marL="0">
              <a:buNone/>
            </a:pPr>
            <a:r>
              <a:rPr lang="en-US" sz="900" u="sng" dirty="0">
                <a:solidFill>
                  <a:srgbClr val="C9CEEA"/>
                </a:solidFill>
                <a:hlinkClick r:id="rId3" invalidUrl="" action="" tgtFrame="" tooltip="" history="1" highlightClick="0" endSnd="0">
                  <a:extLst>
                    <a:ext uri="{A12FA001-AC4F-418D-AE19-62706E023703}">
                      <ahyp:hlinkClr xmlns:ahyp="http://schemas.microsoft.com/office/drawing/2018/hyperlinkcolor" val="tx"/>
                    </a:ext>
                  </a:extLst>
                </a:hlinkClick>
              </a:rPr>
              <a:t>click to start timer</a:t>
            </a:r>
            <a:endParaRPr lang="en-US" sz="3000" dirty="0"/>
          </a:p>
        </p:txBody>
      </p:sp>
      <p:sp>
        <p:nvSpPr>
          <p:cNvPr id="24" name="Text 3"/>
          <p:cNvSpPr/>
          <p:nvPr>
            <p:ph idx="104" type="body" hasCustomPrompt="1"/>
          </p:nvPr>
        </p:nvSpPr>
        <p:spPr>
          <a:xfrm>
            <a:off x="548640" y="1463040"/>
            <a:ext cx="7315200" cy="457200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07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me range"/>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spc="300" kern="0" dirty="0">
                <a:solidFill>
                  <a:srgbClr val="C9A227"/>
                </a:solidFill>
              </a:rPr>
              <a:t>18–33 min</a:t>
            </a:r>
            <a:endParaRPr lang="en-US" sz="1400" dirty="0"/>
          </a:p>
        </p:txBody>
      </p:sp>
      <p:sp>
        <p:nvSpPr>
          <p:cNvPr id="3" name="segment title"/>
          <p:cNvSpPr txBox="1"/>
          <p:nvPr/>
        </p:nvSpPr>
        <p:spPr>
          <a:xfrm>
            <a:off x="548640" y="914400"/>
            <a:ext cx="8503920" cy="146304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Listen two times.</a:t>
            </a:r>
            <a:endParaRPr lang="en-US" sz="4800" dirty="0"/>
          </a:p>
        </p:txBody>
      </p:sp>
      <p:sp>
        <p:nvSpPr>
          <p:cNvPr id="4" name="segment sub"/>
          <p:cNvSpPr txBox="1"/>
          <p:nvPr/>
        </p:nvSpPr>
        <p:spPr>
          <a:xfrm>
            <a:off x="548640" y="2468880"/>
            <a:ext cx="8229600" cy="1097280"/>
          </a:xfrm>
          <a:prstGeom prst="rect">
            <a:avLst/>
          </a:prstGeom>
          <a:noFill/>
          <a:ln/>
        </p:spPr>
        <p:txBody>
          <a:bodyPr wrap="square" lIns="0" tIns="0" rIns="0" bIns="0" rtlCol="0" anchor="ctr"/>
          <a:lstStyle/>
          <a:p>
            <a:pPr indent="0" marL="0">
              <a:buNone/>
            </a:pPr>
            <a:r>
              <a:rPr lang="en-US" sz="2000" dirty="0">
                <a:solidFill>
                  <a:srgbClr val="C9CEEA"/>
                </a:solidFill>
              </a:rPr>
              <a:t>A: write the pie number. B: a conversation. C: a short lecture (Progressing and Challenge).</a:t>
            </a:r>
            <a:endParaRPr lang="en-US" sz="2000" dirty="0"/>
          </a:p>
        </p:txBody>
      </p:sp>
      <p:pic>
        <p:nvPicPr>
          <p:cNvPr id="5" name="segment icon" descr="preencoded.png">    </p:cNvPr>
          <p:cNvPicPr>
            <a:picLocks noChangeAspect="1"/>
          </p:cNvPicPr>
          <p:nvPr/>
        </p:nvPicPr>
        <p:blipFill>
          <a:blip r:embed="rId1"/>
          <a:stretch>
            <a:fillRect/>
          </a:stretch>
        </p:blipFill>
        <p:spPr>
          <a:xfrm>
            <a:off x="548640" y="3931920"/>
            <a:ext cx="1188720" cy="1188720"/>
          </a:xfrm>
          <a:prstGeom prst="rect">
            <a:avLst/>
          </a:prstGeom>
        </p:spPr>
      </p:pic>
      <p:sp>
        <p:nvSpPr>
          <p:cNvPr id="6" name="timer badge"/>
          <p:cNvSpPr/>
          <p:nvPr/>
        </p:nvSpPr>
        <p:spPr>
          <a:xfrm>
            <a:off x="9235440" y="457200"/>
            <a:ext cx="2468880" cy="1051560"/>
          </a:xfrm>
          <a:prstGeom prst="roundRect">
            <a:avLst>
              <a:gd name="adj" fmla="val 13043"/>
            </a:avLst>
          </a:prstGeom>
          <a:solidFill>
            <a:srgbClr val="1E2761"/>
          </a:solidFill>
          <a:ln w="25400">
            <a:solidFill>
              <a:srgbClr val="C9A227"/>
            </a:solidFill>
            <a:prstDash val="solid"/>
          </a:ln>
        </p:spPr>
      </p:sp>
      <p:pic>
        <p:nvPicPr>
          <p:cNvPr id="7" name="clock" descr="preencoded.png">    </p:cNvPr>
          <p:cNvPicPr>
            <a:picLocks noChangeAspect="1"/>
          </p:cNvPicPr>
          <p:nvPr/>
        </p:nvPicPr>
        <p:blipFill>
          <a:blip r:embed="rId2"/>
          <a:stretch>
            <a:fillRect/>
          </a:stretch>
        </p:blipFill>
        <p:spPr>
          <a:xfrm>
            <a:off x="9372600" y="713232"/>
            <a:ext cx="548640" cy="548640"/>
          </a:xfrm>
          <a:prstGeom prst="rect">
            <a:avLst/>
          </a:prstGeom>
        </p:spPr>
      </p:pic>
      <p:sp>
        <p:nvSpPr>
          <p:cNvPr id="8" name="timer link"/>
          <p:cNvSpPr txBox="1"/>
          <p:nvPr/>
        </p:nvSpPr>
        <p:spPr>
          <a:xfrm>
            <a:off x="9966960" y="548640"/>
            <a:ext cx="1691640" cy="868680"/>
          </a:xfrm>
          <a:prstGeom prst="rect">
            <a:avLst/>
          </a:prstGeom>
          <a:noFill/>
          <a:ln/>
        </p:spPr>
        <p:txBody>
          <a:bodyPr wrap="square" lIns="0" tIns="0" rIns="0" bIns="0" rtlCol="0" anchor="ctr"/>
          <a:lstStyle/>
          <a:p>
            <a:pPr indent="0" marL="0">
              <a:buNone/>
            </a:pPr>
            <a:r>
              <a:rPr lang="en-US" sz="3000" b="1" u="sng" dirty="0">
                <a:solidFill>
                  <a:srgbClr val="FFFFFF"/>
                </a:solidFill>
                <a:hlinkClick r:id="rId3" invalidUrl="" action="" tgtFrame="" tooltip="" history="1" highlightClick="0" endSnd="0">
                  <a:extLst>
                    <a:ext uri="{A12FA001-AC4F-418D-AE19-62706E023703}">
                      <ahyp:hlinkClr xmlns:ahyp="http://schemas.microsoft.com/office/drawing/2018/hyperlinkcolor" val="tx"/>
                    </a:ext>
                  </a:extLst>
                </a:hlinkClick>
              </a:rPr>
              <a:t>15:00</a:t>
            </a:r>
            <a:endParaRPr lang="en-US" sz="3000" dirty="0"/>
          </a:p>
          <a:p>
            <a:pPr indent="0" marL="0">
              <a:buNone/>
            </a:pPr>
            <a:r>
              <a:rPr lang="en-US" sz="900" u="sng" dirty="0">
                <a:solidFill>
                  <a:srgbClr val="C9CEEA"/>
                </a:solidFill>
                <a:hlinkClick r:id="rId4" invalidUrl="" action="" tgtFrame="" tooltip="" history="1" highlightClick="0" endSnd="0">
                  <a:extLst>
                    <a:ext uri="{A12FA001-AC4F-418D-AE19-62706E023703}">
                      <ahyp:hlinkClr xmlns:ahyp="http://schemas.microsoft.com/office/drawing/2018/hyperlinkcolor" val="tx"/>
                    </a:ext>
                  </a:extLst>
                </a:hlinkClick>
              </a:rPr>
              <a:t>click to start timer</a:t>
            </a:r>
            <a:endParaRPr lang="en-US" sz="3000" dirty="0"/>
          </a:p>
        </p:txBody>
      </p:sp>
      <p:sp>
        <p:nvSpPr>
          <p:cNvPr id="9" name="agenda Open"/>
          <p:cNvSpPr/>
          <p:nvPr/>
        </p:nvSpPr>
        <p:spPr>
          <a:xfrm>
            <a:off x="548640" y="5577840"/>
            <a:ext cx="587248" cy="384048"/>
          </a:xfrm>
          <a:prstGeom prst="rect">
            <a:avLst/>
          </a:prstGeom>
          <a:solidFill>
            <a:srgbClr val="2B3470"/>
          </a:solidFill>
          <a:ln w="12700">
            <a:solidFill>
              <a:srgbClr val="1E2761"/>
            </a:solidFill>
            <a:prstDash val="solid"/>
          </a:ln>
        </p:spPr>
      </p:sp>
      <p:sp>
        <p:nvSpPr>
          <p:cNvPr id="10" name="agenda Five words"/>
          <p:cNvSpPr/>
          <p:nvPr/>
        </p:nvSpPr>
        <p:spPr>
          <a:xfrm>
            <a:off x="1163320" y="5577840"/>
            <a:ext cx="833120" cy="384048"/>
          </a:xfrm>
          <a:prstGeom prst="rect">
            <a:avLst/>
          </a:prstGeom>
          <a:solidFill>
            <a:srgbClr val="2B3470"/>
          </a:solidFill>
          <a:ln w="12700">
            <a:solidFill>
              <a:srgbClr val="1E2761"/>
            </a:solidFill>
            <a:prstDash val="solid"/>
          </a:ln>
        </p:spPr>
      </p:sp>
      <p:sp>
        <p:nvSpPr>
          <p:cNvPr id="11" name="agenda label Five words"/>
          <p:cNvSpPr txBox="1"/>
          <p:nvPr/>
        </p:nvSpPr>
        <p:spPr>
          <a:xfrm>
            <a:off x="1163320" y="5577840"/>
            <a:ext cx="833120" cy="384048"/>
          </a:xfrm>
          <a:prstGeom prst="rect">
            <a:avLst/>
          </a:prstGeom>
          <a:noFill/>
          <a:ln/>
        </p:spPr>
        <p:txBody>
          <a:bodyPr wrap="square" lIns="0" tIns="0" rIns="0" bIns="0" rtlCol="0" anchor="ctr"/>
          <a:lstStyle/>
          <a:p>
            <a:pPr algn="ctr" indent="0" marL="0">
              <a:buNone/>
            </a:pPr>
            <a:r>
              <a:rPr lang="en-US" sz="900" dirty="0">
                <a:solidFill>
                  <a:srgbClr val="AEB5DA"/>
                </a:solidFill>
              </a:rPr>
              <a:t>Five words</a:t>
            </a:r>
            <a:endParaRPr lang="en-US" sz="900" dirty="0"/>
          </a:p>
        </p:txBody>
      </p:sp>
      <p:sp>
        <p:nvSpPr>
          <p:cNvPr id="12" name="agenda Cognates"/>
          <p:cNvSpPr/>
          <p:nvPr/>
        </p:nvSpPr>
        <p:spPr>
          <a:xfrm>
            <a:off x="2023872" y="5577840"/>
            <a:ext cx="710184" cy="384048"/>
          </a:xfrm>
          <a:prstGeom prst="rect">
            <a:avLst/>
          </a:prstGeom>
          <a:solidFill>
            <a:srgbClr val="2B3470"/>
          </a:solidFill>
          <a:ln w="12700">
            <a:solidFill>
              <a:srgbClr val="1E2761"/>
            </a:solidFill>
            <a:prstDash val="solid"/>
          </a:ln>
        </p:spPr>
      </p:sp>
      <p:sp>
        <p:nvSpPr>
          <p:cNvPr id="13" name="agenda label Cognates"/>
          <p:cNvSpPr txBox="1"/>
          <p:nvPr/>
        </p:nvSpPr>
        <p:spPr>
          <a:xfrm>
            <a:off x="2023872" y="5577840"/>
            <a:ext cx="710184" cy="384048"/>
          </a:xfrm>
          <a:prstGeom prst="rect">
            <a:avLst/>
          </a:prstGeom>
          <a:noFill/>
          <a:ln/>
        </p:spPr>
        <p:txBody>
          <a:bodyPr wrap="square" lIns="0" tIns="0" rIns="0" bIns="0" rtlCol="0" anchor="ctr"/>
          <a:lstStyle/>
          <a:p>
            <a:pPr algn="ctr" indent="0" marL="0">
              <a:buNone/>
            </a:pPr>
            <a:r>
              <a:rPr lang="en-US" sz="900" dirty="0">
                <a:solidFill>
                  <a:srgbClr val="AEB5DA"/>
                </a:solidFill>
              </a:rPr>
              <a:t>Cognates</a:t>
            </a:r>
            <a:endParaRPr lang="en-US" sz="900" dirty="0"/>
          </a:p>
        </p:txBody>
      </p:sp>
      <p:sp>
        <p:nvSpPr>
          <p:cNvPr id="14" name="agenda Listening"/>
          <p:cNvSpPr/>
          <p:nvPr/>
        </p:nvSpPr>
        <p:spPr>
          <a:xfrm>
            <a:off x="2761488" y="5577840"/>
            <a:ext cx="1816608" cy="384048"/>
          </a:xfrm>
          <a:prstGeom prst="rect">
            <a:avLst/>
          </a:prstGeom>
          <a:solidFill>
            <a:srgbClr val="C9A227"/>
          </a:solidFill>
          <a:ln w="12700">
            <a:solidFill>
              <a:srgbClr val="1E2761"/>
            </a:solidFill>
            <a:prstDash val="solid"/>
          </a:ln>
        </p:spPr>
      </p:sp>
      <p:sp>
        <p:nvSpPr>
          <p:cNvPr id="15" name="agenda label Listening"/>
          <p:cNvSpPr txBox="1"/>
          <p:nvPr/>
        </p:nvSpPr>
        <p:spPr>
          <a:xfrm>
            <a:off x="2761488" y="5577840"/>
            <a:ext cx="1816608" cy="384048"/>
          </a:xfrm>
          <a:prstGeom prst="rect">
            <a:avLst/>
          </a:prstGeom>
          <a:noFill/>
          <a:ln/>
        </p:spPr>
        <p:txBody>
          <a:bodyPr wrap="square" lIns="0" tIns="0" rIns="0" bIns="0" rtlCol="0" anchor="ctr"/>
          <a:lstStyle/>
          <a:p>
            <a:pPr algn="ctr" indent="0" marL="0">
              <a:buNone/>
            </a:pPr>
            <a:r>
              <a:rPr lang="en-US" sz="900" dirty="0">
                <a:solidFill>
                  <a:srgbClr val="1E2761"/>
                </a:solidFill>
              </a:rPr>
              <a:t>Listening</a:t>
            </a:r>
            <a:endParaRPr lang="en-US" sz="900" dirty="0"/>
          </a:p>
        </p:txBody>
      </p:sp>
      <p:sp>
        <p:nvSpPr>
          <p:cNvPr id="16" name="agenda Reading"/>
          <p:cNvSpPr/>
          <p:nvPr/>
        </p:nvSpPr>
        <p:spPr>
          <a:xfrm>
            <a:off x="4605528" y="5577840"/>
            <a:ext cx="2062480" cy="384048"/>
          </a:xfrm>
          <a:prstGeom prst="rect">
            <a:avLst/>
          </a:prstGeom>
          <a:solidFill>
            <a:srgbClr val="2B3470"/>
          </a:solidFill>
          <a:ln w="12700">
            <a:solidFill>
              <a:srgbClr val="1E2761"/>
            </a:solidFill>
            <a:prstDash val="solid"/>
          </a:ln>
        </p:spPr>
      </p:sp>
      <p:sp>
        <p:nvSpPr>
          <p:cNvPr id="17" name="agenda label Reading"/>
          <p:cNvSpPr txBox="1"/>
          <p:nvPr/>
        </p:nvSpPr>
        <p:spPr>
          <a:xfrm>
            <a:off x="4605528" y="5577840"/>
            <a:ext cx="2062480" cy="384048"/>
          </a:xfrm>
          <a:prstGeom prst="rect">
            <a:avLst/>
          </a:prstGeom>
          <a:noFill/>
          <a:ln/>
        </p:spPr>
        <p:txBody>
          <a:bodyPr wrap="square" lIns="0" tIns="0" rIns="0" bIns="0" rtlCol="0" anchor="ctr"/>
          <a:lstStyle/>
          <a:p>
            <a:pPr algn="ctr" indent="0" marL="0">
              <a:buNone/>
            </a:pPr>
            <a:r>
              <a:rPr lang="en-US" sz="900" dirty="0">
                <a:solidFill>
                  <a:srgbClr val="AEB5DA"/>
                </a:solidFill>
              </a:rPr>
              <a:t>Reading</a:t>
            </a:r>
            <a:endParaRPr lang="en-US" sz="900" dirty="0"/>
          </a:p>
        </p:txBody>
      </p:sp>
      <p:sp>
        <p:nvSpPr>
          <p:cNvPr id="18" name="agenda Talk"/>
          <p:cNvSpPr/>
          <p:nvPr/>
        </p:nvSpPr>
        <p:spPr>
          <a:xfrm>
            <a:off x="6695440" y="5577840"/>
            <a:ext cx="1201928" cy="384048"/>
          </a:xfrm>
          <a:prstGeom prst="rect">
            <a:avLst/>
          </a:prstGeom>
          <a:solidFill>
            <a:srgbClr val="2B3470"/>
          </a:solidFill>
          <a:ln w="12700">
            <a:solidFill>
              <a:srgbClr val="1E2761"/>
            </a:solidFill>
            <a:prstDash val="solid"/>
          </a:ln>
        </p:spPr>
      </p:sp>
      <p:sp>
        <p:nvSpPr>
          <p:cNvPr id="19" name="agenda label Talk"/>
          <p:cNvSpPr txBox="1"/>
          <p:nvPr/>
        </p:nvSpPr>
        <p:spPr>
          <a:xfrm>
            <a:off x="6695440" y="5577840"/>
            <a:ext cx="1201928" cy="384048"/>
          </a:xfrm>
          <a:prstGeom prst="rect">
            <a:avLst/>
          </a:prstGeom>
          <a:noFill/>
          <a:ln/>
        </p:spPr>
        <p:txBody>
          <a:bodyPr wrap="square" lIns="0" tIns="0" rIns="0" bIns="0" rtlCol="0" anchor="ctr"/>
          <a:lstStyle/>
          <a:p>
            <a:pPr algn="ctr" indent="0" marL="0">
              <a:buNone/>
            </a:pPr>
            <a:r>
              <a:rPr lang="en-US" sz="900" dirty="0">
                <a:solidFill>
                  <a:srgbClr val="AEB5DA"/>
                </a:solidFill>
              </a:rPr>
              <a:t>Talk</a:t>
            </a:r>
            <a:endParaRPr lang="en-US" sz="900" dirty="0"/>
          </a:p>
        </p:txBody>
      </p:sp>
      <p:sp>
        <p:nvSpPr>
          <p:cNvPr id="20" name="agenda Writing"/>
          <p:cNvSpPr/>
          <p:nvPr/>
        </p:nvSpPr>
        <p:spPr>
          <a:xfrm>
            <a:off x="7924800" y="5577840"/>
            <a:ext cx="2431288" cy="384048"/>
          </a:xfrm>
          <a:prstGeom prst="rect">
            <a:avLst/>
          </a:prstGeom>
          <a:solidFill>
            <a:srgbClr val="2B3470"/>
          </a:solidFill>
          <a:ln w="12700">
            <a:solidFill>
              <a:srgbClr val="1E2761"/>
            </a:solidFill>
            <a:prstDash val="solid"/>
          </a:ln>
        </p:spPr>
      </p:sp>
      <p:sp>
        <p:nvSpPr>
          <p:cNvPr id="21" name="agenda label Writing"/>
          <p:cNvSpPr txBox="1"/>
          <p:nvPr/>
        </p:nvSpPr>
        <p:spPr>
          <a:xfrm>
            <a:off x="7924800" y="5577840"/>
            <a:ext cx="2431288" cy="384048"/>
          </a:xfrm>
          <a:prstGeom prst="rect">
            <a:avLst/>
          </a:prstGeom>
          <a:noFill/>
          <a:ln/>
        </p:spPr>
        <p:txBody>
          <a:bodyPr wrap="square" lIns="0" tIns="0" rIns="0" bIns="0" rtlCol="0" anchor="ctr"/>
          <a:lstStyle/>
          <a:p>
            <a:pPr algn="ctr" indent="0" marL="0">
              <a:buNone/>
            </a:pPr>
            <a:r>
              <a:rPr lang="en-US" sz="900" dirty="0">
                <a:solidFill>
                  <a:srgbClr val="AEB5DA"/>
                </a:solidFill>
              </a:rPr>
              <a:t>Writing</a:t>
            </a:r>
            <a:endParaRPr lang="en-US" sz="900" dirty="0"/>
          </a:p>
        </p:txBody>
      </p:sp>
      <p:sp>
        <p:nvSpPr>
          <p:cNvPr id="22" name="agenda S4 / S2"/>
          <p:cNvSpPr/>
          <p:nvPr/>
        </p:nvSpPr>
        <p:spPr>
          <a:xfrm>
            <a:off x="10383520" y="5577840"/>
            <a:ext cx="833120" cy="384048"/>
          </a:xfrm>
          <a:prstGeom prst="rect">
            <a:avLst/>
          </a:prstGeom>
          <a:solidFill>
            <a:srgbClr val="2B3470"/>
          </a:solidFill>
          <a:ln w="12700">
            <a:solidFill>
              <a:srgbClr val="1E2761"/>
            </a:solidFill>
            <a:prstDash val="solid"/>
          </a:ln>
        </p:spPr>
      </p:sp>
      <p:sp>
        <p:nvSpPr>
          <p:cNvPr id="23" name="agenda label S4 / S2"/>
          <p:cNvSpPr txBox="1"/>
          <p:nvPr/>
        </p:nvSpPr>
        <p:spPr>
          <a:xfrm>
            <a:off x="10383520" y="5577840"/>
            <a:ext cx="833120" cy="384048"/>
          </a:xfrm>
          <a:prstGeom prst="rect">
            <a:avLst/>
          </a:prstGeom>
          <a:noFill/>
          <a:ln/>
        </p:spPr>
        <p:txBody>
          <a:bodyPr wrap="square" lIns="0" tIns="0" rIns="0" bIns="0" rtlCol="0" anchor="ctr"/>
          <a:lstStyle/>
          <a:p>
            <a:pPr algn="ctr" indent="0" marL="0">
              <a:buNone/>
            </a:pPr>
            <a:r>
              <a:rPr lang="en-US" sz="900" dirty="0">
                <a:solidFill>
                  <a:srgbClr val="AEB5DA"/>
                </a:solidFill>
              </a:rPr>
              <a:t>S4 / S2</a:t>
            </a:r>
            <a:endParaRPr lang="en-US" sz="900" dirty="0"/>
          </a:p>
        </p:txBody>
      </p:sp>
      <p:sp>
        <p:nvSpPr>
          <p:cNvPr id="24" name="agenda Exit"/>
          <p:cNvSpPr/>
          <p:nvPr/>
        </p:nvSpPr>
        <p:spPr>
          <a:xfrm>
            <a:off x="11244072" y="5577840"/>
            <a:ext cx="341376" cy="384048"/>
          </a:xfrm>
          <a:prstGeom prst="rect">
            <a:avLst/>
          </a:prstGeom>
          <a:solidFill>
            <a:srgbClr val="2B3470"/>
          </a:solidFill>
          <a:ln w="12700">
            <a:solidFill>
              <a:srgbClr val="1E2761"/>
            </a:solidFill>
            <a:prstDash val="solid"/>
          </a:ln>
        </p:spPr>
      </p:sp>
      <p:sp>
        <p:nvSpPr>
          <p:cNvPr id="25" name="Text 2"/>
          <p:cNvSpPr/>
          <p:nvPr>
            <p:ph idx="102" type="title" hasCustomPrompt="1"/>
          </p:nvPr>
        </p:nvSpPr>
        <p:spPr>
          <a:xfrm>
            <a:off x="548640" y="457200"/>
            <a:ext cx="11064240" cy="1005840"/>
          </a:xfrm>
          <a:prstGeom prst="rect">
            <a:avLst/>
          </a:prstGeom>
          <a:noFill/>
          <a:ln/>
        </p:spPr>
        <p:txBody>
          <a:bodyPr wrap="square" lIns="0" tIns="0" rIns="0" bIns="0" rtlCol="0"/>
          <a:lstStyle/>
          <a:p>
            <a:pPr indent="0" marL="0">
              <a:buNone/>
            </a:pPr>
            <a:endParaRPr lang="en-US" sz="4000" dirty="0"/>
          </a:p>
        </p:txBody>
      </p:sp>
      <p:sp>
        <p:nvSpPr>
          <p:cNvPr id="26" name="Text 2"/>
          <p:cNvSpPr/>
          <p:nvPr>
            <p:ph idx="103" type="body" hasCustomPrompt="1"/>
          </p:nvPr>
        </p:nvSpPr>
        <p:spPr>
          <a:xfrm>
            <a:off x="548640" y="1554480"/>
            <a:ext cx="7498080" cy="448056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5DA"/>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548640" y="411480"/>
            <a:ext cx="11064240" cy="914400"/>
          </a:xfrm>
          <a:prstGeom prst="rect">
            <a:avLst/>
          </a:prstGeom>
          <a:noFill/>
          <a:ln/>
        </p:spPr>
        <p:txBody>
          <a:bodyPr wrap="square" lIns="0" tIns="0" rIns="0" bIns="0" rtlCol="0"/>
          <a:lstStyle/>
          <a:p>
            <a:pPr indent="0" marL="0">
              <a:buNone/>
            </a:pPr>
            <a:r>
              <a:rPr lang="en-US" sz="3600" b="1" dirty="0">
                <a:solidFill>
                  <a:srgbClr val="1E2761"/>
                </a:solidFill>
              </a:rPr>
              <a:t>A · Listen and match</a:t>
            </a:r>
            <a:endParaRPr lang="en-US" sz="3600" dirty="0"/>
          </a:p>
        </p:txBody>
      </p:sp>
      <p:pic>
        <p:nvPicPr>
          <p:cNvPr id="3" name="pie buttermilk" descr="/home/claude/deck/buttermilk.jpg">    </p:cNvPr>
          <p:cNvPicPr>
            <a:picLocks noChangeAspect="1"/>
          </p:cNvPicPr>
          <p:nvPr/>
        </p:nvPicPr>
        <p:blipFill>
          <a:blip r:embed="rId1"/>
          <a:stretch>
            <a:fillRect/>
          </a:stretch>
        </p:blipFill>
        <p:spPr>
          <a:xfrm>
            <a:off x="548640" y="1463040"/>
            <a:ext cx="1696212" cy="1600200"/>
          </a:xfrm>
          <a:prstGeom prst="rect">
            <a:avLst/>
          </a:prstGeom>
        </p:spPr>
      </p:pic>
      <p:sp>
        <p:nvSpPr>
          <p:cNvPr id="4" name="pie label buttermilk"/>
          <p:cNvSpPr txBox="1"/>
          <p:nvPr/>
        </p:nvSpPr>
        <p:spPr>
          <a:xfrm>
            <a:off x="548640" y="3081528"/>
            <a:ext cx="1696212" cy="274320"/>
          </a:xfrm>
          <a:prstGeom prst="rect">
            <a:avLst/>
          </a:prstGeom>
          <a:noFill/>
          <a:ln/>
        </p:spPr>
        <p:txBody>
          <a:bodyPr wrap="square" lIns="0" tIns="0" rIns="0" bIns="0" rtlCol="0" anchor="ctr"/>
          <a:lstStyle/>
          <a:p>
            <a:pPr algn="ctr" indent="0" marL="0">
              <a:buNone/>
            </a:pPr>
            <a:r>
              <a:rPr lang="en-US" sz="1100" dirty="0">
                <a:solidFill>
                  <a:srgbClr val="1F2340"/>
                </a:solidFill>
              </a:rPr>
              <a:t>1 Buttermilk</a:t>
            </a:r>
            <a:endParaRPr lang="en-US" sz="1100" dirty="0"/>
          </a:p>
        </p:txBody>
      </p:sp>
      <p:pic>
        <p:nvPicPr>
          <p:cNvPr id="5" name="pie chess" descr="/home/claude/deck/chess.jpg">    </p:cNvPr>
          <p:cNvPicPr>
            <a:picLocks noChangeAspect="1"/>
          </p:cNvPicPr>
          <p:nvPr/>
        </p:nvPicPr>
        <p:blipFill>
          <a:blip r:embed="rId2"/>
          <a:stretch>
            <a:fillRect/>
          </a:stretch>
        </p:blipFill>
        <p:spPr>
          <a:xfrm>
            <a:off x="2354580" y="1463040"/>
            <a:ext cx="1696212" cy="1600200"/>
          </a:xfrm>
          <a:prstGeom prst="rect">
            <a:avLst/>
          </a:prstGeom>
        </p:spPr>
      </p:pic>
      <p:sp>
        <p:nvSpPr>
          <p:cNvPr id="6" name="pie label chess"/>
          <p:cNvSpPr txBox="1"/>
          <p:nvPr/>
        </p:nvSpPr>
        <p:spPr>
          <a:xfrm>
            <a:off x="2354580" y="3081528"/>
            <a:ext cx="1696212" cy="274320"/>
          </a:xfrm>
          <a:prstGeom prst="rect">
            <a:avLst/>
          </a:prstGeom>
          <a:noFill/>
          <a:ln/>
        </p:spPr>
        <p:txBody>
          <a:bodyPr wrap="square" lIns="0" tIns="0" rIns="0" bIns="0" rtlCol="0" anchor="ctr"/>
          <a:lstStyle/>
          <a:p>
            <a:pPr algn="ctr" indent="0" marL="0">
              <a:buNone/>
            </a:pPr>
            <a:r>
              <a:rPr lang="en-US" sz="1100" dirty="0">
                <a:solidFill>
                  <a:srgbClr val="1F2340"/>
                </a:solidFill>
              </a:rPr>
              <a:t>2 Chess</a:t>
            </a:r>
            <a:endParaRPr lang="en-US" sz="1100" dirty="0"/>
          </a:p>
        </p:txBody>
      </p:sp>
      <p:pic>
        <p:nvPicPr>
          <p:cNvPr id="7" name="pie coconut" descr="/home/claude/deck/coconut.jpg">    </p:cNvPr>
          <p:cNvPicPr>
            <a:picLocks noChangeAspect="1"/>
          </p:cNvPicPr>
          <p:nvPr/>
        </p:nvPicPr>
        <p:blipFill>
          <a:blip r:embed="rId3"/>
          <a:stretch>
            <a:fillRect/>
          </a:stretch>
        </p:blipFill>
        <p:spPr>
          <a:xfrm>
            <a:off x="4160520" y="1463040"/>
            <a:ext cx="1696212" cy="1600200"/>
          </a:xfrm>
          <a:prstGeom prst="rect">
            <a:avLst/>
          </a:prstGeom>
        </p:spPr>
      </p:pic>
      <p:sp>
        <p:nvSpPr>
          <p:cNvPr id="8" name="pie label coconut"/>
          <p:cNvSpPr txBox="1"/>
          <p:nvPr/>
        </p:nvSpPr>
        <p:spPr>
          <a:xfrm>
            <a:off x="4160520" y="3081528"/>
            <a:ext cx="1696212" cy="274320"/>
          </a:xfrm>
          <a:prstGeom prst="rect">
            <a:avLst/>
          </a:prstGeom>
          <a:noFill/>
          <a:ln/>
        </p:spPr>
        <p:txBody>
          <a:bodyPr wrap="square" lIns="0" tIns="0" rIns="0" bIns="0" rtlCol="0" anchor="ctr"/>
          <a:lstStyle/>
          <a:p>
            <a:pPr algn="ctr" indent="0" marL="0">
              <a:buNone/>
            </a:pPr>
            <a:r>
              <a:rPr lang="en-US" sz="1100" dirty="0">
                <a:solidFill>
                  <a:srgbClr val="1F2340"/>
                </a:solidFill>
              </a:rPr>
              <a:t>3 Coconut cream</a:t>
            </a:r>
            <a:endParaRPr lang="en-US" sz="1100" dirty="0"/>
          </a:p>
        </p:txBody>
      </p:sp>
      <p:pic>
        <p:nvPicPr>
          <p:cNvPr id="9" name="pie sweetpotato" descr="/home/claude/deck/sweetpotato.jpg">    </p:cNvPr>
          <p:cNvPicPr>
            <a:picLocks noChangeAspect="1"/>
          </p:cNvPicPr>
          <p:nvPr/>
        </p:nvPicPr>
        <p:blipFill>
          <a:blip r:embed="rId4"/>
          <a:stretch>
            <a:fillRect/>
          </a:stretch>
        </p:blipFill>
        <p:spPr>
          <a:xfrm>
            <a:off x="5966460" y="1463040"/>
            <a:ext cx="1696212" cy="1600200"/>
          </a:xfrm>
          <a:prstGeom prst="rect">
            <a:avLst/>
          </a:prstGeom>
        </p:spPr>
      </p:pic>
      <p:sp>
        <p:nvSpPr>
          <p:cNvPr id="10" name="pie label sweetpotato"/>
          <p:cNvSpPr txBox="1"/>
          <p:nvPr/>
        </p:nvSpPr>
        <p:spPr>
          <a:xfrm>
            <a:off x="5966460" y="3081528"/>
            <a:ext cx="1696212" cy="274320"/>
          </a:xfrm>
          <a:prstGeom prst="rect">
            <a:avLst/>
          </a:prstGeom>
          <a:noFill/>
          <a:ln/>
        </p:spPr>
        <p:txBody>
          <a:bodyPr wrap="square" lIns="0" tIns="0" rIns="0" bIns="0" rtlCol="0" anchor="ctr"/>
          <a:lstStyle/>
          <a:p>
            <a:pPr algn="ctr" indent="0" marL="0">
              <a:buNone/>
            </a:pPr>
            <a:r>
              <a:rPr lang="en-US" sz="1100" dirty="0">
                <a:solidFill>
                  <a:srgbClr val="1F2340"/>
                </a:solidFill>
              </a:rPr>
              <a:t>4 Sweet potato</a:t>
            </a:r>
            <a:endParaRPr lang="en-US" sz="1100" dirty="0"/>
          </a:p>
        </p:txBody>
      </p:sp>
      <p:pic>
        <p:nvPicPr>
          <p:cNvPr id="11" name="pie pecan" descr="/home/claude/deck/pecan.jpg">    </p:cNvPr>
          <p:cNvPicPr>
            <a:picLocks noChangeAspect="1"/>
          </p:cNvPicPr>
          <p:nvPr/>
        </p:nvPicPr>
        <p:blipFill>
          <a:blip r:embed="rId5"/>
          <a:stretch>
            <a:fillRect/>
          </a:stretch>
        </p:blipFill>
        <p:spPr>
          <a:xfrm>
            <a:off x="7772400" y="1463040"/>
            <a:ext cx="1696212" cy="1600200"/>
          </a:xfrm>
          <a:prstGeom prst="rect">
            <a:avLst/>
          </a:prstGeom>
        </p:spPr>
      </p:pic>
      <p:sp>
        <p:nvSpPr>
          <p:cNvPr id="12" name="pie label pecan"/>
          <p:cNvSpPr txBox="1"/>
          <p:nvPr/>
        </p:nvSpPr>
        <p:spPr>
          <a:xfrm>
            <a:off x="7772400" y="3081528"/>
            <a:ext cx="1696212" cy="274320"/>
          </a:xfrm>
          <a:prstGeom prst="rect">
            <a:avLst/>
          </a:prstGeom>
          <a:noFill/>
          <a:ln/>
        </p:spPr>
        <p:txBody>
          <a:bodyPr wrap="square" lIns="0" tIns="0" rIns="0" bIns="0" rtlCol="0" anchor="ctr"/>
          <a:lstStyle/>
          <a:p>
            <a:pPr algn="ctr" indent="0" marL="0">
              <a:buNone/>
            </a:pPr>
            <a:r>
              <a:rPr lang="en-US" sz="1100" dirty="0">
                <a:solidFill>
                  <a:srgbClr val="1F2340"/>
                </a:solidFill>
              </a:rPr>
              <a:t>5 Pecan</a:t>
            </a:r>
            <a:endParaRPr lang="en-US" sz="1100" dirty="0"/>
          </a:p>
        </p:txBody>
      </p:sp>
      <p:pic>
        <p:nvPicPr>
          <p:cNvPr id="13" name="pie lemon" descr="/home/claude/deck/lemon.jpg">    </p:cNvPr>
          <p:cNvPicPr>
            <a:picLocks noChangeAspect="1"/>
          </p:cNvPicPr>
          <p:nvPr/>
        </p:nvPicPr>
        <p:blipFill>
          <a:blip r:embed="rId6"/>
          <a:stretch>
            <a:fillRect/>
          </a:stretch>
        </p:blipFill>
        <p:spPr>
          <a:xfrm>
            <a:off x="9578340" y="1463040"/>
            <a:ext cx="1696212" cy="1600200"/>
          </a:xfrm>
          <a:prstGeom prst="rect">
            <a:avLst/>
          </a:prstGeom>
        </p:spPr>
      </p:pic>
      <p:sp>
        <p:nvSpPr>
          <p:cNvPr id="14" name="pie label lemon"/>
          <p:cNvSpPr txBox="1"/>
          <p:nvPr/>
        </p:nvSpPr>
        <p:spPr>
          <a:xfrm>
            <a:off x="9578340" y="3081528"/>
            <a:ext cx="1696212" cy="274320"/>
          </a:xfrm>
          <a:prstGeom prst="rect">
            <a:avLst/>
          </a:prstGeom>
          <a:noFill/>
          <a:ln/>
        </p:spPr>
        <p:txBody>
          <a:bodyPr wrap="square" lIns="0" tIns="0" rIns="0" bIns="0" rtlCol="0" anchor="ctr"/>
          <a:lstStyle/>
          <a:p>
            <a:pPr algn="ctr" indent="0" marL="0">
              <a:buNone/>
            </a:pPr>
            <a:r>
              <a:rPr lang="en-US" sz="1100" dirty="0">
                <a:solidFill>
                  <a:srgbClr val="1F2340"/>
                </a:solidFill>
              </a:rPr>
              <a:t>6 Lemon icebox</a:t>
            </a:r>
            <a:endParaRPr lang="en-US" sz="1100" dirty="0"/>
          </a:p>
        </p:txBody>
      </p:sp>
      <p:sp>
        <p:nvSpPr>
          <p:cNvPr id="15" name="instr"/>
          <p:cNvSpPr txBox="1"/>
          <p:nvPr/>
        </p:nvSpPr>
        <p:spPr>
          <a:xfrm>
            <a:off x="548640" y="3566160"/>
            <a:ext cx="8229600" cy="548640"/>
          </a:xfrm>
          <a:prstGeom prst="rect">
            <a:avLst/>
          </a:prstGeom>
          <a:noFill/>
          <a:ln/>
        </p:spPr>
        <p:txBody>
          <a:bodyPr wrap="square" lIns="0" tIns="0" rIns="0" bIns="0" rtlCol="0" anchor="ctr"/>
          <a:lstStyle/>
          <a:p>
            <a:pPr indent="0" marL="0">
              <a:buNone/>
            </a:pPr>
            <a:r>
              <a:rPr lang="en-US" sz="2000" dirty="0">
                <a:solidFill>
                  <a:srgbClr val="1F2340"/>
                </a:solidFill>
              </a:rPr>
              <a:t>Your teacher describes a pie. Hold up the number with your fingers. Then write it.</a:t>
            </a:r>
            <a:endParaRPr lang="en-US" sz="2000" dirty="0"/>
          </a:p>
        </p:txBody>
      </p:sp>
      <p:sp>
        <p:nvSpPr>
          <p:cNvPr id="16" name="frames"/>
          <p:cNvSpPr/>
          <p:nvPr/>
        </p:nvSpPr>
        <p:spPr>
          <a:xfrm>
            <a:off x="548640" y="4206240"/>
            <a:ext cx="4572000" cy="1828800"/>
          </a:xfrm>
          <a:prstGeom prst="roundRect">
            <a:avLst>
              <a:gd name="adj" fmla="val 6000"/>
            </a:avLst>
          </a:prstGeom>
          <a:solidFill>
            <a:srgbClr val="FFFFFF"/>
          </a:solidFill>
          <a:ln w="19050">
            <a:solidFill>
              <a:srgbClr val="C9A227"/>
            </a:solidFill>
            <a:prstDash val="solid"/>
          </a:ln>
        </p:spPr>
      </p:sp>
      <p:sp>
        <p:nvSpPr>
          <p:cNvPr id="17" name="frame text"/>
          <p:cNvSpPr txBox="1"/>
          <p:nvPr/>
        </p:nvSpPr>
        <p:spPr>
          <a:xfrm>
            <a:off x="777240" y="4389120"/>
            <a:ext cx="4114800" cy="1463040"/>
          </a:xfrm>
          <a:prstGeom prst="rect">
            <a:avLst/>
          </a:prstGeom>
          <a:noFill/>
          <a:ln/>
        </p:spPr>
        <p:txBody>
          <a:bodyPr wrap="square" lIns="0" tIns="0" rIns="0" bIns="0" rtlCol="0" anchor="t"/>
          <a:lstStyle/>
          <a:p>
            <a:pPr indent="0" marL="0">
              <a:spcAft>
                <a:spcPts val="600"/>
              </a:spcAft>
              <a:buNone/>
            </a:pPr>
            <a:r>
              <a:rPr lang="en-US" sz="2000" dirty="0">
                <a:solidFill>
                  <a:srgbClr val="1E2761"/>
                </a:solidFill>
                <a:latin typeface="Georgia" pitchFamily="34" charset="0"/>
                <a:ea typeface="Georgia" pitchFamily="34" charset="-122"/>
                <a:cs typeface="Georgia" pitchFamily="34" charset="-120"/>
              </a:rPr>
              <a:t>A1 → pie number ___</a:t>
            </a:r>
            <a:endParaRPr lang="en-US" sz="2000" dirty="0"/>
          </a:p>
          <a:p>
            <a:pPr indent="0" marL="0">
              <a:spcAft>
                <a:spcPts val="600"/>
              </a:spcAft>
              <a:buNone/>
            </a:pPr>
            <a:r>
              <a:rPr lang="en-US" sz="2000" dirty="0">
                <a:solidFill>
                  <a:srgbClr val="1E2761"/>
                </a:solidFill>
                <a:latin typeface="Georgia" pitchFamily="34" charset="0"/>
                <a:ea typeface="Georgia" pitchFamily="34" charset="-122"/>
                <a:cs typeface="Georgia" pitchFamily="34" charset="-120"/>
              </a:rPr>
              <a:t>A2 → pie number ___</a:t>
            </a:r>
            <a:endParaRPr lang="en-US" sz="2000" dirty="0"/>
          </a:p>
          <a:p>
            <a:pPr indent="0" marL="0">
              <a:spcAft>
                <a:spcPts val="600"/>
              </a:spcAft>
              <a:buNone/>
            </a:pPr>
            <a:r>
              <a:rPr lang="en-US" sz="2000" dirty="0">
                <a:solidFill>
                  <a:srgbClr val="1E2761"/>
                </a:solidFill>
                <a:latin typeface="Georgia" pitchFamily="34" charset="0"/>
                <a:ea typeface="Georgia" pitchFamily="34" charset="-122"/>
                <a:cs typeface="Georgia" pitchFamily="34" charset="-120"/>
              </a:rPr>
              <a:t>A3 → pie number ___</a:t>
            </a:r>
            <a:endParaRPr lang="en-US" sz="2000" dirty="0"/>
          </a:p>
        </p:txBody>
      </p:sp>
      <p:sp>
        <p:nvSpPr>
          <p:cNvPr id="18" name="timer badge"/>
          <p:cNvSpPr/>
          <p:nvPr/>
        </p:nvSpPr>
        <p:spPr>
          <a:xfrm>
            <a:off x="9235440" y="4846320"/>
            <a:ext cx="2468880" cy="1051560"/>
          </a:xfrm>
          <a:prstGeom prst="roundRect">
            <a:avLst>
              <a:gd name="adj" fmla="val 13043"/>
            </a:avLst>
          </a:prstGeom>
          <a:solidFill>
            <a:srgbClr val="1E2761"/>
          </a:solidFill>
          <a:ln w="25400">
            <a:solidFill>
              <a:srgbClr val="C9A227"/>
            </a:solidFill>
            <a:prstDash val="solid"/>
          </a:ln>
        </p:spPr>
      </p:sp>
      <p:pic>
        <p:nvPicPr>
          <p:cNvPr id="19" name="clock" descr="preencoded.png">    </p:cNvPr>
          <p:cNvPicPr>
            <a:picLocks noChangeAspect="1"/>
          </p:cNvPicPr>
          <p:nvPr/>
        </p:nvPicPr>
        <p:blipFill>
          <a:blip r:embed="rId7"/>
          <a:stretch>
            <a:fillRect/>
          </a:stretch>
        </p:blipFill>
        <p:spPr>
          <a:xfrm>
            <a:off x="9372600" y="5102352"/>
            <a:ext cx="548640" cy="548640"/>
          </a:xfrm>
          <a:prstGeom prst="rect">
            <a:avLst/>
          </a:prstGeom>
        </p:spPr>
      </p:pic>
      <p:sp>
        <p:nvSpPr>
          <p:cNvPr id="20" name="timer link"/>
          <p:cNvSpPr txBox="1"/>
          <p:nvPr/>
        </p:nvSpPr>
        <p:spPr>
          <a:xfrm>
            <a:off x="9966960" y="4937760"/>
            <a:ext cx="1691640" cy="868680"/>
          </a:xfrm>
          <a:prstGeom prst="rect">
            <a:avLst/>
          </a:prstGeom>
          <a:noFill/>
          <a:ln/>
        </p:spPr>
        <p:txBody>
          <a:bodyPr wrap="square" lIns="0" tIns="0" rIns="0" bIns="0" rtlCol="0" anchor="ctr"/>
          <a:lstStyle/>
          <a:p>
            <a:pPr indent="0" marL="0">
              <a:buNone/>
            </a:pPr>
            <a:r>
              <a:rPr lang="en-US" sz="3000" b="1" u="sng" dirty="0">
                <a:solidFill>
                  <a:srgbClr val="FFFFFF"/>
                </a:solidFill>
                <a:hlinkClick r:id="rId8" invalidUrl="" action="" tgtFrame="" tooltip="" history="1" highlightClick="0" endSnd="0">
                  <a:extLst>
                    <a:ext uri="{A12FA001-AC4F-418D-AE19-62706E023703}">
                      <ahyp:hlinkClr xmlns:ahyp="http://schemas.microsoft.com/office/drawing/2018/hyperlinkcolor" val="tx"/>
                    </a:ext>
                  </a:extLst>
                </a:hlinkClick>
              </a:rPr>
              <a:t>5:00</a:t>
            </a:r>
            <a:endParaRPr lang="en-US" sz="3000" dirty="0"/>
          </a:p>
          <a:p>
            <a:pPr indent="0" marL="0">
              <a:buNone/>
            </a:pPr>
            <a:r>
              <a:rPr lang="en-US" sz="900" u="sng" dirty="0">
                <a:solidFill>
                  <a:srgbClr val="C9CEEA"/>
                </a:solidFill>
                <a:hlinkClick r:id="rId9" invalidUrl="" action="" tgtFrame="" tooltip="" history="1" highlightClick="0" endSnd="0">
                  <a:extLst>
                    <a:ext uri="{A12FA001-AC4F-418D-AE19-62706E023703}">
                      <ahyp:hlinkClr xmlns:ahyp="http://schemas.microsoft.com/office/drawing/2018/hyperlinkcolor" val="tx"/>
                    </a:ext>
                  </a:extLst>
                </a:hlinkClick>
              </a:rPr>
              <a:t>click to start timer</a:t>
            </a:r>
            <a:endParaRPr lang="en-US" sz="3000" dirty="0"/>
          </a:p>
        </p:txBody>
      </p:sp>
      <p:sp>
        <p:nvSpPr>
          <p:cNvPr id="22" name="Text 3"/>
          <p:cNvSpPr/>
          <p:nvPr>
            <p:ph idx="104" type="body" hasCustomPrompt="1"/>
          </p:nvPr>
        </p:nvSpPr>
        <p:spPr>
          <a:xfrm>
            <a:off x="548640" y="1463040"/>
            <a:ext cx="7315200" cy="457200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07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title" hasCustomPrompt="1"/>
          </p:nvPr>
        </p:nvSpPr>
        <p:spPr>
          <a:xfrm>
            <a:off x="548640" y="411480"/>
            <a:ext cx="11064240" cy="914400"/>
          </a:xfrm>
          <a:prstGeom prst="rect">
            <a:avLst/>
          </a:prstGeom>
          <a:noFill/>
          <a:ln/>
        </p:spPr>
        <p:txBody>
          <a:bodyPr wrap="square" lIns="0" tIns="0" rIns="0" bIns="0" rtlCol="0"/>
          <a:lstStyle/>
          <a:p>
            <a:pPr indent="0" marL="0">
              <a:buNone/>
            </a:pPr>
            <a:r>
              <a:rPr lang="en-US" sz="3600" b="1" dirty="0">
                <a:solidFill>
                  <a:srgbClr val="1E2761"/>
                </a:solidFill>
              </a:rPr>
              <a:t>B · A conversation: the bake sale</a:t>
            </a:r>
            <a:endParaRPr lang="en-US" sz="3600" dirty="0"/>
          </a:p>
        </p:txBody>
      </p:sp>
      <p:sp>
        <p:nvSpPr>
          <p:cNvPr id="3" name="icon bg"/>
          <p:cNvSpPr/>
          <p:nvPr/>
        </p:nvSpPr>
        <p:spPr>
          <a:xfrm>
            <a:off x="548640" y="1463040"/>
            <a:ext cx="1097280" cy="1097280"/>
          </a:xfrm>
          <a:prstGeom prst="rect">
            <a:avLst/>
          </a:prstGeom>
          <a:solidFill>
            <a:srgbClr val="17606F"/>
          </a:solidFill>
          <a:ln w="12700">
            <a:solidFill>
              <a:srgbClr val="17606F"/>
            </a:solidFill>
            <a:prstDash val="solid"/>
          </a:ln>
        </p:spPr>
      </p:sp>
      <p:pic>
        <p:nvPicPr>
          <p:cNvPr id="4" name="icon fg" descr="preencoded.png">    </p:cNvPr>
          <p:cNvPicPr>
            <a:picLocks noChangeAspect="1"/>
          </p:cNvPicPr>
          <p:nvPr/>
        </p:nvPicPr>
        <p:blipFill>
          <a:blip r:embed="rId1"/>
          <a:stretch>
            <a:fillRect/>
          </a:stretch>
        </p:blipFill>
        <p:spPr>
          <a:xfrm>
            <a:off x="731520" y="1645920"/>
            <a:ext cx="731520" cy="731520"/>
          </a:xfrm>
          <a:prstGeom prst="rect">
            <a:avLst/>
          </a:prstGeom>
        </p:spPr>
      </p:pic>
      <p:sp>
        <p:nvSpPr>
          <p:cNvPr id="5" name="Text 3"/>
          <p:cNvSpPr/>
          <p:nvPr>
            <p:ph idx="104" type="body" hasCustomPrompt="1"/>
          </p:nvPr>
        </p:nvSpPr>
        <p:spPr>
          <a:xfrm>
            <a:off x="548640" y="1463040"/>
            <a:ext cx="7315200" cy="45720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F2340"/>
                </a:solidFill>
              </a:rPr>
              <a:t>1 · What are the students planning?</a:t>
            </a:r>
            <a:endParaRPr lang="en-US" sz="2000" dirty="0"/>
          </a:p>
          <a:p>
            <a:pPr marL="342900" indent="-342900">
              <a:spcAft>
                <a:spcPts val="800"/>
              </a:spcAft>
              <a:buSzPct val="100000"/>
              <a:buChar char="•"/>
            </a:pPr>
            <a:r>
              <a:rPr lang="en-US" sz="2000" dirty="0">
                <a:solidFill>
                  <a:srgbClr val="1F2340"/>
                </a:solidFill>
              </a:rPr>
              <a:t>2 · Why does Daniel suggest buttermilk pie?</a:t>
            </a:r>
            <a:endParaRPr lang="en-US" sz="2000" dirty="0"/>
          </a:p>
          <a:p>
            <a:pPr marL="342900" indent="-342900">
              <a:spcAft>
                <a:spcPts val="800"/>
              </a:spcAft>
              <a:buSzPct val="100000"/>
              <a:buChar char="•"/>
            </a:pPr>
            <a:r>
              <a:rPr lang="en-US" sz="2000" dirty="0">
                <a:solidFill>
                  <a:srgbClr val="1F2340"/>
                </a:solidFill>
              </a:rPr>
              <a:t>3 · What do they decide to do?</a:t>
            </a:r>
            <a:endParaRPr lang="en-US" sz="2000" dirty="0"/>
          </a:p>
        </p:txBody>
      </p:sp>
      <p:sp>
        <p:nvSpPr>
          <p:cNvPr id="6" name="instr"/>
          <p:cNvSpPr txBox="1"/>
          <p:nvPr/>
        </p:nvSpPr>
        <p:spPr>
          <a:xfrm>
            <a:off x="1920240" y="3840480"/>
            <a:ext cx="6858000" cy="914400"/>
          </a:xfrm>
          <a:prstGeom prst="rect">
            <a:avLst/>
          </a:prstGeom>
          <a:noFill/>
          <a:ln/>
        </p:spPr>
        <p:txBody>
          <a:bodyPr wrap="square" lIns="0" tIns="0" rIns="0" bIns="0" rtlCol="0" anchor="ctr"/>
          <a:lstStyle/>
          <a:p>
            <a:pPr indent="0" marL="0">
              <a:buNone/>
            </a:pPr>
            <a:r>
              <a:rPr lang="en-US" sz="1700" dirty="0">
                <a:solidFill>
                  <a:srgbClr val="5B6078"/>
                </a:solidFill>
              </a:rPr>
              <a:t>Listen first. Answer in the packet. Then compare with a partner: "I think ___ because I heard ___."</a:t>
            </a:r>
            <a:endParaRPr lang="en-US" sz="1700" dirty="0"/>
          </a:p>
        </p:txBody>
      </p:sp>
      <p:sp>
        <p:nvSpPr>
          <p:cNvPr id="7" name="lane NEWCOMER"/>
          <p:cNvSpPr/>
          <p:nvPr/>
        </p:nvSpPr>
        <p:spPr>
          <a:xfrm>
            <a:off x="548640" y="4892040"/>
            <a:ext cx="2697480" cy="1143000"/>
          </a:xfrm>
          <a:prstGeom prst="roundRect">
            <a:avLst>
              <a:gd name="adj" fmla="val 8000"/>
            </a:avLst>
          </a:prstGeom>
          <a:solidFill>
            <a:srgbClr val="FFFFFF"/>
          </a:solidFill>
          <a:ln w="19050">
            <a:solidFill>
              <a:srgbClr val="B5213F"/>
            </a:solidFill>
            <a:prstDash val="solid"/>
          </a:ln>
        </p:spPr>
      </p:sp>
      <p:sp>
        <p:nvSpPr>
          <p:cNvPr id="8" name="lane text NEWCOMER"/>
          <p:cNvSpPr txBox="1"/>
          <p:nvPr/>
        </p:nvSpPr>
        <p:spPr>
          <a:xfrm>
            <a:off x="658368" y="4965192"/>
            <a:ext cx="2514600" cy="1005840"/>
          </a:xfrm>
          <a:prstGeom prst="rect">
            <a:avLst/>
          </a:prstGeom>
          <a:noFill/>
          <a:ln/>
        </p:spPr>
        <p:txBody>
          <a:bodyPr wrap="square" lIns="0" tIns="0" rIns="0" bIns="0" rtlCol="0" anchor="t"/>
          <a:lstStyle/>
          <a:p>
            <a:pPr indent="0" marL="0">
              <a:buNone/>
            </a:pPr>
            <a:r>
              <a:rPr lang="en-US" sz="900" b="1" spc="200" kern="0" dirty="0">
                <a:solidFill>
                  <a:srgbClr val="B5213F"/>
                </a:solidFill>
              </a:rPr>
              <a:t>NEWCOMER</a:t>
            </a:r>
            <a:endParaRPr lang="en-US" sz="900" dirty="0"/>
          </a:p>
          <a:p>
            <a:pPr indent="0" marL="0">
              <a:buNone/>
            </a:pPr>
            <a:r>
              <a:rPr lang="en-US" sz="1150" dirty="0">
                <a:solidFill>
                  <a:srgbClr val="1F2340"/>
                </a:solidFill>
              </a:rPr>
              <a:t>Listen with the pictures. Point to pecan and buttermilk.</a:t>
            </a:r>
            <a:endParaRPr lang="en-US" sz="900" dirty="0"/>
          </a:p>
        </p:txBody>
      </p:sp>
      <p:sp>
        <p:nvSpPr>
          <p:cNvPr id="9" name="lane EMERGING"/>
          <p:cNvSpPr/>
          <p:nvPr/>
        </p:nvSpPr>
        <p:spPr>
          <a:xfrm>
            <a:off x="3364992" y="4892040"/>
            <a:ext cx="2697480" cy="1143000"/>
          </a:xfrm>
          <a:prstGeom prst="roundRect">
            <a:avLst>
              <a:gd name="adj" fmla="val 8000"/>
            </a:avLst>
          </a:prstGeom>
          <a:solidFill>
            <a:srgbClr val="FFFFFF"/>
          </a:solidFill>
          <a:ln w="19050">
            <a:solidFill>
              <a:srgbClr val="7A5F0E"/>
            </a:solidFill>
            <a:prstDash val="solid"/>
          </a:ln>
        </p:spPr>
      </p:sp>
      <p:sp>
        <p:nvSpPr>
          <p:cNvPr id="10" name="lane text EMERGING"/>
          <p:cNvSpPr txBox="1"/>
          <p:nvPr/>
        </p:nvSpPr>
        <p:spPr>
          <a:xfrm>
            <a:off x="3474720" y="4965192"/>
            <a:ext cx="2514600" cy="1005840"/>
          </a:xfrm>
          <a:prstGeom prst="rect">
            <a:avLst/>
          </a:prstGeom>
          <a:noFill/>
          <a:ln/>
        </p:spPr>
        <p:txBody>
          <a:bodyPr wrap="square" lIns="0" tIns="0" rIns="0" bIns="0" rtlCol="0" anchor="t"/>
          <a:lstStyle/>
          <a:p>
            <a:pPr indent="0" marL="0">
              <a:buNone/>
            </a:pPr>
            <a:r>
              <a:rPr lang="en-US" sz="900" b="1" spc="200" kern="0" dirty="0">
                <a:solidFill>
                  <a:srgbClr val="7A5F0E"/>
                </a:solidFill>
              </a:rPr>
              <a:t>EMERGING</a:t>
            </a:r>
            <a:endParaRPr lang="en-US" sz="900" dirty="0"/>
          </a:p>
          <a:p>
            <a:pPr indent="0" marL="0">
              <a:buNone/>
            </a:pPr>
            <a:r>
              <a:rPr lang="en-US" sz="1150" dirty="0">
                <a:solidFill>
                  <a:srgbClr val="1F2340"/>
                </a:solidFill>
              </a:rPr>
              <a:t>Teacher reads three times. Answer 1 and 3 first.</a:t>
            </a:r>
            <a:endParaRPr lang="en-US" sz="900" dirty="0"/>
          </a:p>
        </p:txBody>
      </p:sp>
      <p:sp>
        <p:nvSpPr>
          <p:cNvPr id="11" name="lane PROGRESSING"/>
          <p:cNvSpPr/>
          <p:nvPr/>
        </p:nvSpPr>
        <p:spPr>
          <a:xfrm>
            <a:off x="6181344" y="4892040"/>
            <a:ext cx="2697480" cy="1143000"/>
          </a:xfrm>
          <a:prstGeom prst="roundRect">
            <a:avLst>
              <a:gd name="adj" fmla="val 8000"/>
            </a:avLst>
          </a:prstGeom>
          <a:solidFill>
            <a:srgbClr val="FFFFFF"/>
          </a:solidFill>
          <a:ln w="19050">
            <a:solidFill>
              <a:srgbClr val="17606F"/>
            </a:solidFill>
            <a:prstDash val="solid"/>
          </a:ln>
        </p:spPr>
      </p:sp>
      <p:sp>
        <p:nvSpPr>
          <p:cNvPr id="12" name="lane text PROGRESSING"/>
          <p:cNvSpPr txBox="1"/>
          <p:nvPr/>
        </p:nvSpPr>
        <p:spPr>
          <a:xfrm>
            <a:off x="6291072" y="4965192"/>
            <a:ext cx="2514600" cy="1005840"/>
          </a:xfrm>
          <a:prstGeom prst="rect">
            <a:avLst/>
          </a:prstGeom>
          <a:noFill/>
          <a:ln/>
        </p:spPr>
        <p:txBody>
          <a:bodyPr wrap="square" lIns="0" tIns="0" rIns="0" bIns="0" rtlCol="0" anchor="t"/>
          <a:lstStyle/>
          <a:p>
            <a:pPr indent="0" marL="0">
              <a:buNone/>
            </a:pPr>
            <a:r>
              <a:rPr lang="en-US" sz="900" b="1" spc="200" kern="0" dirty="0">
                <a:solidFill>
                  <a:srgbClr val="17606F"/>
                </a:solidFill>
              </a:rPr>
              <a:t>PROGRESSING</a:t>
            </a:r>
            <a:endParaRPr lang="en-US" sz="900" dirty="0"/>
          </a:p>
          <a:p>
            <a:pPr indent="0" marL="0">
              <a:buNone/>
            </a:pPr>
            <a:r>
              <a:rPr lang="en-US" sz="1150" dirty="0">
                <a:solidFill>
                  <a:srgbClr val="1F2340"/>
                </a:solidFill>
              </a:rPr>
              <a:t>Answer all three; underline the reason.</a:t>
            </a:r>
            <a:endParaRPr lang="en-US" sz="900" dirty="0"/>
          </a:p>
        </p:txBody>
      </p:sp>
      <p:sp>
        <p:nvSpPr>
          <p:cNvPr id="13" name="lane CHALLENGE"/>
          <p:cNvSpPr/>
          <p:nvPr/>
        </p:nvSpPr>
        <p:spPr>
          <a:xfrm>
            <a:off x="8997696" y="4892040"/>
            <a:ext cx="2697480" cy="1143000"/>
          </a:xfrm>
          <a:prstGeom prst="roundRect">
            <a:avLst>
              <a:gd name="adj" fmla="val 8000"/>
            </a:avLst>
          </a:prstGeom>
          <a:solidFill>
            <a:srgbClr val="FFFFFF"/>
          </a:solidFill>
          <a:ln w="19050">
            <a:solidFill>
              <a:srgbClr val="5B3FA8"/>
            </a:solidFill>
            <a:prstDash val="solid"/>
          </a:ln>
        </p:spPr>
      </p:sp>
      <p:sp>
        <p:nvSpPr>
          <p:cNvPr id="14" name="lane text CHALLENGE"/>
          <p:cNvSpPr txBox="1"/>
          <p:nvPr/>
        </p:nvSpPr>
        <p:spPr>
          <a:xfrm>
            <a:off x="9107424" y="4965192"/>
            <a:ext cx="2514600" cy="1005840"/>
          </a:xfrm>
          <a:prstGeom prst="rect">
            <a:avLst/>
          </a:prstGeom>
          <a:noFill/>
          <a:ln/>
        </p:spPr>
        <p:txBody>
          <a:bodyPr wrap="square" lIns="0" tIns="0" rIns="0" bIns="0" rtlCol="0" anchor="t"/>
          <a:lstStyle/>
          <a:p>
            <a:pPr indent="0" marL="0">
              <a:buNone/>
            </a:pPr>
            <a:r>
              <a:rPr lang="en-US" sz="900" b="1" spc="200" kern="0" dirty="0">
                <a:solidFill>
                  <a:srgbClr val="5B3FA8"/>
                </a:solidFill>
              </a:rPr>
              <a:t>CHALLENGE</a:t>
            </a:r>
            <a:endParaRPr lang="en-US" sz="900" dirty="0"/>
          </a:p>
          <a:p>
            <a:pPr indent="0" marL="0">
              <a:buNone/>
            </a:pPr>
            <a:r>
              <a:rPr lang="en-US" sz="1150" dirty="0">
                <a:solidFill>
                  <a:srgbClr val="1F2340"/>
                </a:solidFill>
              </a:rPr>
              <a:t>Also: what would YOU bring to the bake sale, and why?</a:t>
            </a:r>
            <a:endParaRPr lang="en-US" sz="900" dirty="0"/>
          </a:p>
        </p:txBody>
      </p:sp>
      <p:sp>
        <p:nvSpPr>
          <p:cNvPr id="15" name="timer badge"/>
          <p:cNvSpPr/>
          <p:nvPr/>
        </p:nvSpPr>
        <p:spPr>
          <a:xfrm>
            <a:off x="9235440" y="1371600"/>
            <a:ext cx="2468880" cy="1051560"/>
          </a:xfrm>
          <a:prstGeom prst="roundRect">
            <a:avLst>
              <a:gd name="adj" fmla="val 13043"/>
            </a:avLst>
          </a:prstGeom>
          <a:solidFill>
            <a:srgbClr val="1E2761"/>
          </a:solidFill>
          <a:ln w="25400">
            <a:solidFill>
              <a:srgbClr val="C9A227"/>
            </a:solidFill>
            <a:prstDash val="solid"/>
          </a:ln>
        </p:spPr>
      </p:sp>
      <p:pic>
        <p:nvPicPr>
          <p:cNvPr id="16" name="clock" descr="preencoded.png">    </p:cNvPr>
          <p:cNvPicPr>
            <a:picLocks noChangeAspect="1"/>
          </p:cNvPicPr>
          <p:nvPr/>
        </p:nvPicPr>
        <p:blipFill>
          <a:blip r:embed="rId2"/>
          <a:stretch>
            <a:fillRect/>
          </a:stretch>
        </p:blipFill>
        <p:spPr>
          <a:xfrm>
            <a:off x="9372600" y="1627632"/>
            <a:ext cx="548640" cy="548640"/>
          </a:xfrm>
          <a:prstGeom prst="rect">
            <a:avLst/>
          </a:prstGeom>
        </p:spPr>
      </p:pic>
      <p:sp>
        <p:nvSpPr>
          <p:cNvPr id="17" name="timer link"/>
          <p:cNvSpPr txBox="1"/>
          <p:nvPr/>
        </p:nvSpPr>
        <p:spPr>
          <a:xfrm>
            <a:off x="9966960" y="1463040"/>
            <a:ext cx="1691640" cy="868680"/>
          </a:xfrm>
          <a:prstGeom prst="rect">
            <a:avLst/>
          </a:prstGeom>
          <a:noFill/>
          <a:ln/>
        </p:spPr>
        <p:txBody>
          <a:bodyPr wrap="square" lIns="0" tIns="0" rIns="0" bIns="0" rtlCol="0" anchor="ctr"/>
          <a:lstStyle/>
          <a:p>
            <a:pPr indent="0" marL="0">
              <a:buNone/>
            </a:pPr>
            <a:r>
              <a:rPr lang="en-US" sz="3000" b="1" u="sng" dirty="0">
                <a:solidFill>
                  <a:srgbClr val="FFFFFF"/>
                </a:solidFill>
                <a:hlinkClick r:id="rId3" invalidUrl="" action="" tgtFrame="" tooltip="" history="1" highlightClick="0" endSnd="0">
                  <a:extLst>
                    <a:ext uri="{A12FA001-AC4F-418D-AE19-62706E023703}">
                      <ahyp:hlinkClr xmlns:ahyp="http://schemas.microsoft.com/office/drawing/2018/hyperlinkcolor" val="tx"/>
                    </a:ext>
                  </a:extLst>
                </a:hlinkClick>
              </a:rPr>
              <a:t>5:00</a:t>
            </a:r>
            <a:endParaRPr lang="en-US" sz="3000" dirty="0"/>
          </a:p>
          <a:p>
            <a:pPr indent="0" marL="0">
              <a:buNone/>
            </a:pPr>
            <a:r>
              <a:rPr lang="en-US" sz="900" u="sng" dirty="0">
                <a:solidFill>
                  <a:srgbClr val="C9CEEA"/>
                </a:solidFill>
                <a:hlinkClick r:id="rId4" invalidUrl="" action="" tgtFrame="" tooltip="" history="1" highlightClick="0" endSnd="0">
                  <a:extLst>
                    <a:ext uri="{A12FA001-AC4F-418D-AE19-62706E023703}">
                      <ahyp:hlinkClr xmlns:ahyp="http://schemas.microsoft.com/office/drawing/2018/hyperlinkcolor" val="tx"/>
                    </a:ext>
                  </a:extLst>
                </a:hlinkClick>
              </a:rPr>
              <a:t>click to start timer</a:t>
            </a:r>
            <a:endParaRPr lang="en-US" sz="3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07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3" type="title" hasCustomPrompt="1"/>
          </p:nvPr>
        </p:nvSpPr>
        <p:spPr>
          <a:xfrm>
            <a:off x="548640" y="411480"/>
            <a:ext cx="11064240" cy="914400"/>
          </a:xfrm>
          <a:prstGeom prst="rect">
            <a:avLst/>
          </a:prstGeom>
          <a:noFill/>
          <a:ln/>
        </p:spPr>
        <p:txBody>
          <a:bodyPr wrap="square" lIns="0" tIns="0" rIns="0" bIns="0" rtlCol="0"/>
          <a:lstStyle/>
          <a:p>
            <a:pPr indent="0" marL="0">
              <a:buNone/>
            </a:pPr>
            <a:r>
              <a:rPr lang="en-US" sz="3600" b="1" dirty="0">
                <a:solidFill>
                  <a:srgbClr val="1E2761"/>
                </a:solidFill>
              </a:rPr>
              <a:t>C · A short lecture: why custard pies set</a:t>
            </a:r>
            <a:endParaRPr lang="en-US" sz="3600" dirty="0"/>
          </a:p>
        </p:txBody>
      </p:sp>
      <p:pic>
        <p:nvPicPr>
          <p:cNvPr id="3" name="pie" descr="/home/claude/deck/buttermilk.jpg">    </p:cNvPr>
          <p:cNvPicPr>
            <a:picLocks noChangeAspect="1"/>
          </p:cNvPicPr>
          <p:nvPr/>
        </p:nvPicPr>
        <p:blipFill>
          <a:blip r:embed="rId1"/>
          <a:stretch>
            <a:fillRect/>
          </a:stretch>
        </p:blipFill>
        <p:spPr>
          <a:xfrm>
            <a:off x="548640" y="1417320"/>
            <a:ext cx="3291840" cy="3108960"/>
          </a:xfrm>
          <a:prstGeom prst="rect">
            <a:avLst/>
          </a:prstGeom>
        </p:spPr>
      </p:pic>
      <p:sp>
        <p:nvSpPr>
          <p:cNvPr id="4" name="Text 3"/>
          <p:cNvSpPr/>
          <p:nvPr>
            <p:ph idx="104" type="body" hasCustomPrompt="1"/>
          </p:nvPr>
        </p:nvSpPr>
        <p:spPr>
          <a:xfrm>
            <a:off x="548640" y="1463040"/>
            <a:ext cx="7315200" cy="45720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F2340"/>
                </a:solidFill>
              </a:rPr>
              <a:t>4 · What makes a custard turn from a liquid into a soft solid?</a:t>
            </a:r>
            <a:endParaRPr lang="en-US" sz="2000" dirty="0"/>
          </a:p>
          <a:p>
            <a:pPr marL="342900" indent="-342900">
              <a:spcAft>
                <a:spcPts val="800"/>
              </a:spcAft>
              <a:buSzPct val="100000"/>
              <a:buChar char="•"/>
            </a:pPr>
            <a:r>
              <a:rPr lang="en-US" sz="2000" dirty="0">
                <a:solidFill>
                  <a:srgbClr val="1F2340"/>
                </a:solidFill>
              </a:rPr>
              <a:t>5 · When should you take a custard pie out of the oven?</a:t>
            </a:r>
            <a:endParaRPr lang="en-US" sz="2000" dirty="0"/>
          </a:p>
        </p:txBody>
      </p:sp>
      <p:sp>
        <p:nvSpPr>
          <p:cNvPr id="5" name="listen for"/>
          <p:cNvSpPr txBox="1"/>
          <p:nvPr/>
        </p:nvSpPr>
        <p:spPr>
          <a:xfrm>
            <a:off x="4114800" y="3566160"/>
            <a:ext cx="4937760" cy="457200"/>
          </a:xfrm>
          <a:prstGeom prst="rect">
            <a:avLst/>
          </a:prstGeom>
          <a:noFill/>
          <a:ln/>
        </p:spPr>
        <p:txBody>
          <a:bodyPr wrap="square" lIns="0" tIns="0" rIns="0" bIns="0" rtlCol="0" anchor="ctr"/>
          <a:lstStyle/>
          <a:p>
            <a:pPr indent="0" marL="0">
              <a:buNone/>
            </a:pPr>
            <a:r>
              <a:rPr lang="en-US" sz="1600" b="1" dirty="0">
                <a:solidFill>
                  <a:srgbClr val="17606F"/>
                </a:solidFill>
              </a:rPr>
              <a:t>Listen for: proteins · link together · jiggle</a:t>
            </a:r>
            <a:endParaRPr lang="en-US" sz="1600" dirty="0"/>
          </a:p>
        </p:txBody>
      </p:sp>
      <p:sp>
        <p:nvSpPr>
          <p:cNvPr id="6" name="who"/>
          <p:cNvSpPr txBox="1"/>
          <p:nvPr/>
        </p:nvSpPr>
        <p:spPr>
          <a:xfrm>
            <a:off x="4114800" y="4114800"/>
            <a:ext cx="4937760" cy="731520"/>
          </a:xfrm>
          <a:prstGeom prst="rect">
            <a:avLst/>
          </a:prstGeom>
          <a:noFill/>
          <a:ln/>
        </p:spPr>
        <p:txBody>
          <a:bodyPr wrap="square" lIns="0" tIns="0" rIns="0" bIns="0" rtlCol="0" anchor="ctr"/>
          <a:lstStyle/>
          <a:p>
            <a:pPr indent="0" marL="0">
              <a:buNone/>
            </a:pPr>
            <a:r>
              <a:rPr lang="en-US" sz="1400" dirty="0">
                <a:solidFill>
                  <a:srgbClr val="5B6078"/>
                </a:solidFill>
              </a:rPr>
              <a:t>Progressing and Challenge. Newcomers and Emerging: re-do A with the teacher at the side table.</a:t>
            </a:r>
            <a:endParaRPr lang="en-US" sz="1400" dirty="0"/>
          </a:p>
        </p:txBody>
      </p:sp>
      <p:sp>
        <p:nvSpPr>
          <p:cNvPr id="7" name="timer badge"/>
          <p:cNvSpPr/>
          <p:nvPr/>
        </p:nvSpPr>
        <p:spPr>
          <a:xfrm>
            <a:off x="9235440" y="1371600"/>
            <a:ext cx="2468880" cy="1051560"/>
          </a:xfrm>
          <a:prstGeom prst="roundRect">
            <a:avLst>
              <a:gd name="adj" fmla="val 13043"/>
            </a:avLst>
          </a:prstGeom>
          <a:solidFill>
            <a:srgbClr val="1E2761"/>
          </a:solidFill>
          <a:ln w="25400">
            <a:solidFill>
              <a:srgbClr val="C9A227"/>
            </a:solidFill>
            <a:prstDash val="solid"/>
          </a:ln>
        </p:spPr>
      </p:sp>
      <p:pic>
        <p:nvPicPr>
          <p:cNvPr id="8" name="clock" descr="preencoded.png">    </p:cNvPr>
          <p:cNvPicPr>
            <a:picLocks noChangeAspect="1"/>
          </p:cNvPicPr>
          <p:nvPr/>
        </p:nvPicPr>
        <p:blipFill>
          <a:blip r:embed="rId2"/>
          <a:stretch>
            <a:fillRect/>
          </a:stretch>
        </p:blipFill>
        <p:spPr>
          <a:xfrm>
            <a:off x="9372600" y="1627632"/>
            <a:ext cx="548640" cy="548640"/>
          </a:xfrm>
          <a:prstGeom prst="rect">
            <a:avLst/>
          </a:prstGeom>
        </p:spPr>
      </p:pic>
      <p:sp>
        <p:nvSpPr>
          <p:cNvPr id="9" name="timer link"/>
          <p:cNvSpPr txBox="1"/>
          <p:nvPr/>
        </p:nvSpPr>
        <p:spPr>
          <a:xfrm>
            <a:off x="9966960" y="1463040"/>
            <a:ext cx="1691640" cy="868680"/>
          </a:xfrm>
          <a:prstGeom prst="rect">
            <a:avLst/>
          </a:prstGeom>
          <a:noFill/>
          <a:ln/>
        </p:spPr>
        <p:txBody>
          <a:bodyPr wrap="square" lIns="0" tIns="0" rIns="0" bIns="0" rtlCol="0" anchor="ctr"/>
          <a:lstStyle/>
          <a:p>
            <a:pPr indent="0" marL="0">
              <a:buNone/>
            </a:pPr>
            <a:r>
              <a:rPr lang="en-US" sz="3000" b="1" u="sng" dirty="0">
                <a:solidFill>
                  <a:srgbClr val="FFFFFF"/>
                </a:solidFill>
                <a:hlinkClick r:id="rId3" invalidUrl="" action="" tgtFrame="" tooltip="" history="1" highlightClick="0" endSnd="0">
                  <a:extLst>
                    <a:ext uri="{A12FA001-AC4F-418D-AE19-62706E023703}">
                      <ahyp:hlinkClr xmlns:ahyp="http://schemas.microsoft.com/office/drawing/2018/hyperlinkcolor" val="tx"/>
                    </a:ext>
                  </a:extLst>
                </a:hlinkClick>
              </a:rPr>
              <a:t>5:00</a:t>
            </a:r>
            <a:endParaRPr lang="en-US" sz="3000" dirty="0"/>
          </a:p>
          <a:p>
            <a:pPr indent="0" marL="0">
              <a:buNone/>
            </a:pPr>
            <a:r>
              <a:rPr lang="en-US" sz="900" u="sng" dirty="0">
                <a:solidFill>
                  <a:srgbClr val="C9CEEA"/>
                </a:solidFill>
                <a:hlinkClick r:id="rId4" invalidUrl="" action="" tgtFrame="" tooltip="" history="1" highlightClick="0" endSnd="0">
                  <a:extLst>
                    <a:ext uri="{A12FA001-AC4F-418D-AE19-62706E023703}">
                      <ahyp:hlinkClr xmlns:ahyp="http://schemas.microsoft.com/office/drawing/2018/hyperlinkcolor" val="tx"/>
                    </a:ext>
                  </a:extLst>
                </a:hlinkClick>
              </a:rPr>
              <a:t>click to start timer</a:t>
            </a:r>
            <a:endParaRPr lang="en-US" sz="3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078"/>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me range"/>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spc="300" kern="0" dirty="0">
                <a:solidFill>
                  <a:srgbClr val="C9A227"/>
                </a:solidFill>
              </a:rPr>
              <a:t>33–50 min</a:t>
            </a:r>
            <a:endParaRPr lang="en-US" sz="1400" dirty="0"/>
          </a:p>
        </p:txBody>
      </p:sp>
      <p:sp>
        <p:nvSpPr>
          <p:cNvPr id="3" name="segment title"/>
          <p:cNvSpPr txBox="1"/>
          <p:nvPr/>
        </p:nvSpPr>
        <p:spPr>
          <a:xfrm>
            <a:off x="548640" y="914400"/>
            <a:ext cx="8503920" cy="146304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Preview. Reading job. One sentence.</a:t>
            </a:r>
            <a:endParaRPr lang="en-US" sz="4800" dirty="0"/>
          </a:p>
        </p:txBody>
      </p:sp>
      <p:sp>
        <p:nvSpPr>
          <p:cNvPr id="4" name="segment sub"/>
          <p:cNvSpPr txBox="1"/>
          <p:nvPr/>
        </p:nvSpPr>
        <p:spPr>
          <a:xfrm>
            <a:off x="548640" y="2468880"/>
            <a:ext cx="8229600" cy="1097280"/>
          </a:xfrm>
          <a:prstGeom prst="rect">
            <a:avLst/>
          </a:prstGeom>
          <a:noFill/>
          <a:ln/>
        </p:spPr>
        <p:txBody>
          <a:bodyPr wrap="square" lIns="0" tIns="0" rIns="0" bIns="0" rtlCol="0" anchor="ctr"/>
          <a:lstStyle/>
          <a:p>
            <a:pPr indent="0" marL="0">
              <a:buNone/>
            </a:pPr>
            <a:r>
              <a:rPr lang="en-US" sz="2000" dirty="0">
                <a:solidFill>
                  <a:srgbClr val="C9CEEA"/>
                </a:solidFill>
              </a:rPr>
              <a:t>Thirty seconds on the page before anyone reads a word.</a:t>
            </a:r>
            <a:endParaRPr lang="en-US" sz="2000" dirty="0"/>
          </a:p>
        </p:txBody>
      </p:sp>
      <p:pic>
        <p:nvPicPr>
          <p:cNvPr id="5" name="segment icon" descr="preencoded.png">    </p:cNvPr>
          <p:cNvPicPr>
            <a:picLocks noChangeAspect="1"/>
          </p:cNvPicPr>
          <p:nvPr/>
        </p:nvPicPr>
        <p:blipFill>
          <a:blip r:embed="rId1"/>
          <a:stretch>
            <a:fillRect/>
          </a:stretch>
        </p:blipFill>
        <p:spPr>
          <a:xfrm>
            <a:off x="548640" y="3931920"/>
            <a:ext cx="1188720" cy="1188720"/>
          </a:xfrm>
          <a:prstGeom prst="rect">
            <a:avLst/>
          </a:prstGeom>
        </p:spPr>
      </p:pic>
      <p:sp>
        <p:nvSpPr>
          <p:cNvPr id="6" name="timer badge"/>
          <p:cNvSpPr/>
          <p:nvPr/>
        </p:nvSpPr>
        <p:spPr>
          <a:xfrm>
            <a:off x="9235440" y="457200"/>
            <a:ext cx="2468880" cy="1051560"/>
          </a:xfrm>
          <a:prstGeom prst="roundRect">
            <a:avLst>
              <a:gd name="adj" fmla="val 13043"/>
            </a:avLst>
          </a:prstGeom>
          <a:solidFill>
            <a:srgbClr val="1E2761"/>
          </a:solidFill>
          <a:ln w="25400">
            <a:solidFill>
              <a:srgbClr val="C9A227"/>
            </a:solidFill>
            <a:prstDash val="solid"/>
          </a:ln>
        </p:spPr>
      </p:sp>
      <p:pic>
        <p:nvPicPr>
          <p:cNvPr id="7" name="clock" descr="preencoded.png">    </p:cNvPr>
          <p:cNvPicPr>
            <a:picLocks noChangeAspect="1"/>
          </p:cNvPicPr>
          <p:nvPr/>
        </p:nvPicPr>
        <p:blipFill>
          <a:blip r:embed="rId2"/>
          <a:stretch>
            <a:fillRect/>
          </a:stretch>
        </p:blipFill>
        <p:spPr>
          <a:xfrm>
            <a:off x="9372600" y="713232"/>
            <a:ext cx="548640" cy="548640"/>
          </a:xfrm>
          <a:prstGeom prst="rect">
            <a:avLst/>
          </a:prstGeom>
        </p:spPr>
      </p:pic>
      <p:sp>
        <p:nvSpPr>
          <p:cNvPr id="8" name="timer link"/>
          <p:cNvSpPr txBox="1"/>
          <p:nvPr/>
        </p:nvSpPr>
        <p:spPr>
          <a:xfrm>
            <a:off x="9966960" y="548640"/>
            <a:ext cx="1691640" cy="868680"/>
          </a:xfrm>
          <a:prstGeom prst="rect">
            <a:avLst/>
          </a:prstGeom>
          <a:noFill/>
          <a:ln/>
        </p:spPr>
        <p:txBody>
          <a:bodyPr wrap="square" lIns="0" tIns="0" rIns="0" bIns="0" rtlCol="0" anchor="ctr"/>
          <a:lstStyle/>
          <a:p>
            <a:pPr indent="0" marL="0">
              <a:buNone/>
            </a:pPr>
            <a:r>
              <a:rPr lang="en-US" sz="3000" b="1" u="sng" dirty="0">
                <a:solidFill>
                  <a:srgbClr val="FFFFFF"/>
                </a:solidFill>
                <a:hlinkClick r:id="rId3" invalidUrl="" action="" tgtFrame="" tooltip="" history="1" highlightClick="0" endSnd="0">
                  <a:extLst>
                    <a:ext uri="{A12FA001-AC4F-418D-AE19-62706E023703}">
                      <ahyp:hlinkClr xmlns:ahyp="http://schemas.microsoft.com/office/drawing/2018/hyperlinkcolor" val="tx"/>
                    </a:ext>
                  </a:extLst>
                </a:hlinkClick>
              </a:rPr>
              <a:t>17:00</a:t>
            </a:r>
            <a:endParaRPr lang="en-US" sz="3000" dirty="0"/>
          </a:p>
          <a:p>
            <a:pPr indent="0" marL="0">
              <a:buNone/>
            </a:pPr>
            <a:r>
              <a:rPr lang="en-US" sz="900" u="sng" dirty="0">
                <a:solidFill>
                  <a:srgbClr val="C9CEEA"/>
                </a:solidFill>
                <a:hlinkClick r:id="rId4" invalidUrl="" action="" tgtFrame="" tooltip="" history="1" highlightClick="0" endSnd="0">
                  <a:extLst>
                    <a:ext uri="{A12FA001-AC4F-418D-AE19-62706E023703}">
                      <ahyp:hlinkClr xmlns:ahyp="http://schemas.microsoft.com/office/drawing/2018/hyperlinkcolor" val="tx"/>
                    </a:ext>
                  </a:extLst>
                </a:hlinkClick>
              </a:rPr>
              <a:t>click to start timer</a:t>
            </a:r>
            <a:endParaRPr lang="en-US" sz="3000" dirty="0"/>
          </a:p>
        </p:txBody>
      </p:sp>
      <p:sp>
        <p:nvSpPr>
          <p:cNvPr id="9" name="agenda Open"/>
          <p:cNvSpPr/>
          <p:nvPr/>
        </p:nvSpPr>
        <p:spPr>
          <a:xfrm>
            <a:off x="548640" y="5577840"/>
            <a:ext cx="587248" cy="384048"/>
          </a:xfrm>
          <a:prstGeom prst="rect">
            <a:avLst/>
          </a:prstGeom>
          <a:solidFill>
            <a:srgbClr val="2B3470"/>
          </a:solidFill>
          <a:ln w="12700">
            <a:solidFill>
              <a:srgbClr val="1E2761"/>
            </a:solidFill>
            <a:prstDash val="solid"/>
          </a:ln>
        </p:spPr>
      </p:sp>
      <p:sp>
        <p:nvSpPr>
          <p:cNvPr id="10" name="agenda Five words"/>
          <p:cNvSpPr/>
          <p:nvPr/>
        </p:nvSpPr>
        <p:spPr>
          <a:xfrm>
            <a:off x="1163320" y="5577840"/>
            <a:ext cx="833120" cy="384048"/>
          </a:xfrm>
          <a:prstGeom prst="rect">
            <a:avLst/>
          </a:prstGeom>
          <a:solidFill>
            <a:srgbClr val="2B3470"/>
          </a:solidFill>
          <a:ln w="12700">
            <a:solidFill>
              <a:srgbClr val="1E2761"/>
            </a:solidFill>
            <a:prstDash val="solid"/>
          </a:ln>
        </p:spPr>
      </p:sp>
      <p:sp>
        <p:nvSpPr>
          <p:cNvPr id="11" name="agenda label Five words"/>
          <p:cNvSpPr txBox="1"/>
          <p:nvPr/>
        </p:nvSpPr>
        <p:spPr>
          <a:xfrm>
            <a:off x="1163320" y="5577840"/>
            <a:ext cx="833120" cy="384048"/>
          </a:xfrm>
          <a:prstGeom prst="rect">
            <a:avLst/>
          </a:prstGeom>
          <a:noFill/>
          <a:ln/>
        </p:spPr>
        <p:txBody>
          <a:bodyPr wrap="square" lIns="0" tIns="0" rIns="0" bIns="0" rtlCol="0" anchor="ctr"/>
          <a:lstStyle/>
          <a:p>
            <a:pPr algn="ctr" indent="0" marL="0">
              <a:buNone/>
            </a:pPr>
            <a:r>
              <a:rPr lang="en-US" sz="900" dirty="0">
                <a:solidFill>
                  <a:srgbClr val="AEB5DA"/>
                </a:solidFill>
              </a:rPr>
              <a:t>Five words</a:t>
            </a:r>
            <a:endParaRPr lang="en-US" sz="900" dirty="0"/>
          </a:p>
        </p:txBody>
      </p:sp>
      <p:sp>
        <p:nvSpPr>
          <p:cNvPr id="12" name="agenda Cognates"/>
          <p:cNvSpPr/>
          <p:nvPr/>
        </p:nvSpPr>
        <p:spPr>
          <a:xfrm>
            <a:off x="2023872" y="5577840"/>
            <a:ext cx="710184" cy="384048"/>
          </a:xfrm>
          <a:prstGeom prst="rect">
            <a:avLst/>
          </a:prstGeom>
          <a:solidFill>
            <a:srgbClr val="2B3470"/>
          </a:solidFill>
          <a:ln w="12700">
            <a:solidFill>
              <a:srgbClr val="1E2761"/>
            </a:solidFill>
            <a:prstDash val="solid"/>
          </a:ln>
        </p:spPr>
      </p:sp>
      <p:sp>
        <p:nvSpPr>
          <p:cNvPr id="13" name="agenda label Cognates"/>
          <p:cNvSpPr txBox="1"/>
          <p:nvPr/>
        </p:nvSpPr>
        <p:spPr>
          <a:xfrm>
            <a:off x="2023872" y="5577840"/>
            <a:ext cx="710184" cy="384048"/>
          </a:xfrm>
          <a:prstGeom prst="rect">
            <a:avLst/>
          </a:prstGeom>
          <a:noFill/>
          <a:ln/>
        </p:spPr>
        <p:txBody>
          <a:bodyPr wrap="square" lIns="0" tIns="0" rIns="0" bIns="0" rtlCol="0" anchor="ctr"/>
          <a:lstStyle/>
          <a:p>
            <a:pPr algn="ctr" indent="0" marL="0">
              <a:buNone/>
            </a:pPr>
            <a:r>
              <a:rPr lang="en-US" sz="900" dirty="0">
                <a:solidFill>
                  <a:srgbClr val="AEB5DA"/>
                </a:solidFill>
              </a:rPr>
              <a:t>Cognates</a:t>
            </a:r>
            <a:endParaRPr lang="en-US" sz="900" dirty="0"/>
          </a:p>
        </p:txBody>
      </p:sp>
      <p:sp>
        <p:nvSpPr>
          <p:cNvPr id="14" name="agenda Listening"/>
          <p:cNvSpPr/>
          <p:nvPr/>
        </p:nvSpPr>
        <p:spPr>
          <a:xfrm>
            <a:off x="2761488" y="5577840"/>
            <a:ext cx="1816608" cy="384048"/>
          </a:xfrm>
          <a:prstGeom prst="rect">
            <a:avLst/>
          </a:prstGeom>
          <a:solidFill>
            <a:srgbClr val="2B3470"/>
          </a:solidFill>
          <a:ln w="12700">
            <a:solidFill>
              <a:srgbClr val="1E2761"/>
            </a:solidFill>
            <a:prstDash val="solid"/>
          </a:ln>
        </p:spPr>
      </p:sp>
      <p:sp>
        <p:nvSpPr>
          <p:cNvPr id="15" name="agenda label Listening"/>
          <p:cNvSpPr txBox="1"/>
          <p:nvPr/>
        </p:nvSpPr>
        <p:spPr>
          <a:xfrm>
            <a:off x="2761488" y="5577840"/>
            <a:ext cx="1816608" cy="384048"/>
          </a:xfrm>
          <a:prstGeom prst="rect">
            <a:avLst/>
          </a:prstGeom>
          <a:noFill/>
          <a:ln/>
        </p:spPr>
        <p:txBody>
          <a:bodyPr wrap="square" lIns="0" tIns="0" rIns="0" bIns="0" rtlCol="0" anchor="ctr"/>
          <a:lstStyle/>
          <a:p>
            <a:pPr algn="ctr" indent="0" marL="0">
              <a:buNone/>
            </a:pPr>
            <a:r>
              <a:rPr lang="en-US" sz="900" dirty="0">
                <a:solidFill>
                  <a:srgbClr val="AEB5DA"/>
                </a:solidFill>
              </a:rPr>
              <a:t>Listening</a:t>
            </a:r>
            <a:endParaRPr lang="en-US" sz="900" dirty="0"/>
          </a:p>
        </p:txBody>
      </p:sp>
      <p:sp>
        <p:nvSpPr>
          <p:cNvPr id="16" name="agenda Reading"/>
          <p:cNvSpPr/>
          <p:nvPr/>
        </p:nvSpPr>
        <p:spPr>
          <a:xfrm>
            <a:off x="4605528" y="5577840"/>
            <a:ext cx="2062480" cy="384048"/>
          </a:xfrm>
          <a:prstGeom prst="rect">
            <a:avLst/>
          </a:prstGeom>
          <a:solidFill>
            <a:srgbClr val="C9A227"/>
          </a:solidFill>
          <a:ln w="12700">
            <a:solidFill>
              <a:srgbClr val="1E2761"/>
            </a:solidFill>
            <a:prstDash val="solid"/>
          </a:ln>
        </p:spPr>
      </p:sp>
      <p:sp>
        <p:nvSpPr>
          <p:cNvPr id="17" name="agenda label Reading"/>
          <p:cNvSpPr txBox="1"/>
          <p:nvPr/>
        </p:nvSpPr>
        <p:spPr>
          <a:xfrm>
            <a:off x="4605528" y="5577840"/>
            <a:ext cx="2062480" cy="384048"/>
          </a:xfrm>
          <a:prstGeom prst="rect">
            <a:avLst/>
          </a:prstGeom>
          <a:noFill/>
          <a:ln/>
        </p:spPr>
        <p:txBody>
          <a:bodyPr wrap="square" lIns="0" tIns="0" rIns="0" bIns="0" rtlCol="0" anchor="ctr"/>
          <a:lstStyle/>
          <a:p>
            <a:pPr algn="ctr" indent="0" marL="0">
              <a:buNone/>
            </a:pPr>
            <a:r>
              <a:rPr lang="en-US" sz="900" dirty="0">
                <a:solidFill>
                  <a:srgbClr val="1E2761"/>
                </a:solidFill>
              </a:rPr>
              <a:t>Reading</a:t>
            </a:r>
            <a:endParaRPr lang="en-US" sz="900" dirty="0"/>
          </a:p>
        </p:txBody>
      </p:sp>
      <p:sp>
        <p:nvSpPr>
          <p:cNvPr id="18" name="agenda Talk"/>
          <p:cNvSpPr/>
          <p:nvPr/>
        </p:nvSpPr>
        <p:spPr>
          <a:xfrm>
            <a:off x="6695440" y="5577840"/>
            <a:ext cx="1201928" cy="384048"/>
          </a:xfrm>
          <a:prstGeom prst="rect">
            <a:avLst/>
          </a:prstGeom>
          <a:solidFill>
            <a:srgbClr val="2B3470"/>
          </a:solidFill>
          <a:ln w="12700">
            <a:solidFill>
              <a:srgbClr val="1E2761"/>
            </a:solidFill>
            <a:prstDash val="solid"/>
          </a:ln>
        </p:spPr>
      </p:sp>
      <p:sp>
        <p:nvSpPr>
          <p:cNvPr id="19" name="agenda label Talk"/>
          <p:cNvSpPr txBox="1"/>
          <p:nvPr/>
        </p:nvSpPr>
        <p:spPr>
          <a:xfrm>
            <a:off x="6695440" y="5577840"/>
            <a:ext cx="1201928" cy="384048"/>
          </a:xfrm>
          <a:prstGeom prst="rect">
            <a:avLst/>
          </a:prstGeom>
          <a:noFill/>
          <a:ln/>
        </p:spPr>
        <p:txBody>
          <a:bodyPr wrap="square" lIns="0" tIns="0" rIns="0" bIns="0" rtlCol="0" anchor="ctr"/>
          <a:lstStyle/>
          <a:p>
            <a:pPr algn="ctr" indent="0" marL="0">
              <a:buNone/>
            </a:pPr>
            <a:r>
              <a:rPr lang="en-US" sz="900" dirty="0">
                <a:solidFill>
                  <a:srgbClr val="AEB5DA"/>
                </a:solidFill>
              </a:rPr>
              <a:t>Talk</a:t>
            </a:r>
            <a:endParaRPr lang="en-US" sz="900" dirty="0"/>
          </a:p>
        </p:txBody>
      </p:sp>
      <p:sp>
        <p:nvSpPr>
          <p:cNvPr id="20" name="agenda Writing"/>
          <p:cNvSpPr/>
          <p:nvPr/>
        </p:nvSpPr>
        <p:spPr>
          <a:xfrm>
            <a:off x="7924800" y="5577840"/>
            <a:ext cx="2431288" cy="384048"/>
          </a:xfrm>
          <a:prstGeom prst="rect">
            <a:avLst/>
          </a:prstGeom>
          <a:solidFill>
            <a:srgbClr val="2B3470"/>
          </a:solidFill>
          <a:ln w="12700">
            <a:solidFill>
              <a:srgbClr val="1E2761"/>
            </a:solidFill>
            <a:prstDash val="solid"/>
          </a:ln>
        </p:spPr>
      </p:sp>
      <p:sp>
        <p:nvSpPr>
          <p:cNvPr id="21" name="agenda label Writing"/>
          <p:cNvSpPr txBox="1"/>
          <p:nvPr/>
        </p:nvSpPr>
        <p:spPr>
          <a:xfrm>
            <a:off x="7924800" y="5577840"/>
            <a:ext cx="2431288" cy="384048"/>
          </a:xfrm>
          <a:prstGeom prst="rect">
            <a:avLst/>
          </a:prstGeom>
          <a:noFill/>
          <a:ln/>
        </p:spPr>
        <p:txBody>
          <a:bodyPr wrap="square" lIns="0" tIns="0" rIns="0" bIns="0" rtlCol="0" anchor="ctr"/>
          <a:lstStyle/>
          <a:p>
            <a:pPr algn="ctr" indent="0" marL="0">
              <a:buNone/>
            </a:pPr>
            <a:r>
              <a:rPr lang="en-US" sz="900" dirty="0">
                <a:solidFill>
                  <a:srgbClr val="AEB5DA"/>
                </a:solidFill>
              </a:rPr>
              <a:t>Writing</a:t>
            </a:r>
            <a:endParaRPr lang="en-US" sz="900" dirty="0"/>
          </a:p>
        </p:txBody>
      </p:sp>
      <p:sp>
        <p:nvSpPr>
          <p:cNvPr id="22" name="agenda S4 / S2"/>
          <p:cNvSpPr/>
          <p:nvPr/>
        </p:nvSpPr>
        <p:spPr>
          <a:xfrm>
            <a:off x="10383520" y="5577840"/>
            <a:ext cx="833120" cy="384048"/>
          </a:xfrm>
          <a:prstGeom prst="rect">
            <a:avLst/>
          </a:prstGeom>
          <a:solidFill>
            <a:srgbClr val="2B3470"/>
          </a:solidFill>
          <a:ln w="12700">
            <a:solidFill>
              <a:srgbClr val="1E2761"/>
            </a:solidFill>
            <a:prstDash val="solid"/>
          </a:ln>
        </p:spPr>
      </p:sp>
      <p:sp>
        <p:nvSpPr>
          <p:cNvPr id="23" name="agenda label S4 / S2"/>
          <p:cNvSpPr txBox="1"/>
          <p:nvPr/>
        </p:nvSpPr>
        <p:spPr>
          <a:xfrm>
            <a:off x="10383520" y="5577840"/>
            <a:ext cx="833120" cy="384048"/>
          </a:xfrm>
          <a:prstGeom prst="rect">
            <a:avLst/>
          </a:prstGeom>
          <a:noFill/>
          <a:ln/>
        </p:spPr>
        <p:txBody>
          <a:bodyPr wrap="square" lIns="0" tIns="0" rIns="0" bIns="0" rtlCol="0" anchor="ctr"/>
          <a:lstStyle/>
          <a:p>
            <a:pPr algn="ctr" indent="0" marL="0">
              <a:buNone/>
            </a:pPr>
            <a:r>
              <a:rPr lang="en-US" sz="900" dirty="0">
                <a:solidFill>
                  <a:srgbClr val="AEB5DA"/>
                </a:solidFill>
              </a:rPr>
              <a:t>S4 / S2</a:t>
            </a:r>
            <a:endParaRPr lang="en-US" sz="900" dirty="0"/>
          </a:p>
        </p:txBody>
      </p:sp>
      <p:sp>
        <p:nvSpPr>
          <p:cNvPr id="24" name="agenda Exit"/>
          <p:cNvSpPr/>
          <p:nvPr/>
        </p:nvSpPr>
        <p:spPr>
          <a:xfrm>
            <a:off x="11244072" y="5577840"/>
            <a:ext cx="341376" cy="384048"/>
          </a:xfrm>
          <a:prstGeom prst="rect">
            <a:avLst/>
          </a:prstGeom>
          <a:solidFill>
            <a:srgbClr val="2B3470"/>
          </a:solidFill>
          <a:ln w="12700">
            <a:solidFill>
              <a:srgbClr val="1E2761"/>
            </a:solidFill>
            <a:prstDash val="solid"/>
          </a:ln>
        </p:spPr>
      </p:sp>
      <p:sp>
        <p:nvSpPr>
          <p:cNvPr id="25" name="Text 2"/>
          <p:cNvSpPr/>
          <p:nvPr>
            <p:ph idx="102" type="title" hasCustomPrompt="1"/>
          </p:nvPr>
        </p:nvSpPr>
        <p:spPr>
          <a:xfrm>
            <a:off x="548640" y="457200"/>
            <a:ext cx="11064240" cy="1005840"/>
          </a:xfrm>
          <a:prstGeom prst="rect">
            <a:avLst/>
          </a:prstGeom>
          <a:noFill/>
          <a:ln/>
        </p:spPr>
        <p:txBody>
          <a:bodyPr wrap="square" lIns="0" tIns="0" rIns="0" bIns="0" rtlCol="0"/>
          <a:lstStyle/>
          <a:p>
            <a:pPr indent="0" marL="0">
              <a:buNone/>
            </a:pPr>
            <a:endParaRPr lang="en-US" sz="4000" dirty="0"/>
          </a:p>
        </p:txBody>
      </p:sp>
      <p:sp>
        <p:nvSpPr>
          <p:cNvPr id="26" name="Text 2"/>
          <p:cNvSpPr/>
          <p:nvPr>
            <p:ph idx="103" type="body" hasCustomPrompt="1"/>
          </p:nvPr>
        </p:nvSpPr>
        <p:spPr>
          <a:xfrm>
            <a:off x="548640" y="1554480"/>
            <a:ext cx="7498080" cy="448056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5DA"/>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3" type="title" hasCustomPrompt="1"/>
          </p:nvPr>
        </p:nvSpPr>
        <p:spPr>
          <a:xfrm>
            <a:off x="548640" y="411480"/>
            <a:ext cx="11064240" cy="914400"/>
          </a:xfrm>
          <a:prstGeom prst="rect">
            <a:avLst/>
          </a:prstGeom>
          <a:noFill/>
          <a:ln/>
        </p:spPr>
        <p:txBody>
          <a:bodyPr wrap="square" lIns="0" tIns="0" rIns="0" bIns="0" rtlCol="0"/>
          <a:lstStyle/>
          <a:p>
            <a:pPr indent="0" marL="0">
              <a:buNone/>
            </a:pPr>
            <a:r>
              <a:rPr lang="en-US" sz="3600" b="1" dirty="0">
                <a:solidFill>
                  <a:srgbClr val="1E2761"/>
                </a:solidFill>
              </a:rPr>
              <a:t>Preview the page — 30 seconds</a:t>
            </a:r>
            <a:endParaRPr lang="en-US" sz="3600" dirty="0"/>
          </a:p>
        </p:txBody>
      </p:sp>
      <p:sp>
        <p:nvSpPr>
          <p:cNvPr id="3" name="Text 3"/>
          <p:cNvSpPr/>
          <p:nvPr>
            <p:ph idx="104" type="body" hasCustomPrompt="1"/>
          </p:nvPr>
        </p:nvSpPr>
        <p:spPr>
          <a:xfrm>
            <a:off x="548640" y="1463040"/>
            <a:ext cx="7315200" cy="45720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F2340"/>
                </a:solidFill>
              </a:rPr>
              <a:t>What is the title?</a:t>
            </a:r>
            <a:endParaRPr lang="en-US" sz="2000" dirty="0"/>
          </a:p>
          <a:p>
            <a:pPr marL="342900" indent="-342900">
              <a:spcAft>
                <a:spcPts val="800"/>
              </a:spcAft>
              <a:buSzPct val="100000"/>
              <a:buChar char="•"/>
            </a:pPr>
            <a:r>
              <a:rPr lang="en-US" sz="2000" dirty="0">
                <a:solidFill>
                  <a:srgbClr val="1F2340"/>
                </a:solidFill>
              </a:rPr>
              <a:t>Which words are in bold?</a:t>
            </a:r>
            <a:endParaRPr lang="en-US" sz="2000" dirty="0"/>
          </a:p>
          <a:p>
            <a:pPr marL="342900" indent="-342900">
              <a:spcAft>
                <a:spcPts val="800"/>
              </a:spcAft>
              <a:buSzPct val="100000"/>
              <a:buChar char="•"/>
            </a:pPr>
            <a:r>
              <a:rPr lang="en-US" sz="2000" dirty="0">
                <a:solidFill>
                  <a:srgbClr val="1F2340"/>
                </a:solidFill>
              </a:rPr>
              <a:t>What is in the picture?</a:t>
            </a:r>
            <a:endParaRPr lang="en-US" sz="2000" dirty="0"/>
          </a:p>
          <a:p>
            <a:pPr marL="342900" indent="-342900">
              <a:spcAft>
                <a:spcPts val="800"/>
              </a:spcAft>
              <a:buSzPct val="100000"/>
              <a:buChar char="•"/>
            </a:pPr>
            <a:r>
              <a:rPr lang="en-US" sz="2000" dirty="0">
                <a:solidFill>
                  <a:srgbClr val="1F2340"/>
                </a:solidFill>
              </a:rPr>
              <a:t>What do you already know about this?</a:t>
            </a:r>
            <a:endParaRPr lang="en-US" sz="2000" dirty="0"/>
          </a:p>
        </p:txBody>
      </p:sp>
      <p:sp>
        <p:nvSpPr>
          <p:cNvPr id="4" name="job"/>
          <p:cNvSpPr/>
          <p:nvPr/>
        </p:nvSpPr>
        <p:spPr>
          <a:xfrm>
            <a:off x="6400800" y="1371600"/>
            <a:ext cx="5212080" cy="2103120"/>
          </a:xfrm>
          <a:prstGeom prst="roundRect">
            <a:avLst>
              <a:gd name="adj" fmla="val 5217"/>
            </a:avLst>
          </a:prstGeom>
          <a:solidFill>
            <a:srgbClr val="1E2761"/>
          </a:solidFill>
          <a:ln w="12700">
            <a:solidFill>
              <a:srgbClr val="1E2761"/>
            </a:solidFill>
            <a:prstDash val="solid"/>
          </a:ln>
        </p:spPr>
      </p:sp>
      <p:sp>
        <p:nvSpPr>
          <p:cNvPr id="5" name="job text"/>
          <p:cNvSpPr txBox="1"/>
          <p:nvPr/>
        </p:nvSpPr>
        <p:spPr>
          <a:xfrm>
            <a:off x="6629400" y="1508760"/>
            <a:ext cx="4754880" cy="1828800"/>
          </a:xfrm>
          <a:prstGeom prst="rect">
            <a:avLst/>
          </a:prstGeom>
          <a:noFill/>
          <a:ln/>
        </p:spPr>
        <p:txBody>
          <a:bodyPr wrap="square" lIns="0" tIns="0" rIns="0" bIns="0" rtlCol="0" anchor="t"/>
          <a:lstStyle/>
          <a:p>
            <a:pPr indent="0" marL="0">
              <a:buNone/>
            </a:pPr>
            <a:r>
              <a:rPr lang="en-US" sz="1200" b="1" spc="200" kern="0" dirty="0">
                <a:solidFill>
                  <a:srgbClr val="C9A227"/>
                </a:solidFill>
              </a:rPr>
              <a:t>Your reading job
</a:t>
            </a:r>
            <a:pPr indent="0" marL="0">
              <a:buNone/>
            </a:pPr>
            <a:r>
              <a:rPr lang="en-US" sz="2000" dirty="0">
                <a:solidFill>
                  <a:srgbClr val="FFFFFF"/>
                </a:solidFill>
                <a:latin typeface="Georgia" pitchFamily="34" charset="0"/>
                <a:ea typeface="Georgia" pitchFamily="34" charset="-122"/>
                <a:cs typeface="Georgia" pitchFamily="34" charset="-120"/>
              </a:rPr>
              <a:t>Underline the sentence that tells the difference between buttermilk pie and chess pie.</a:t>
            </a:r>
            <a:endParaRPr lang="en-US" sz="1200" dirty="0"/>
          </a:p>
        </p:txBody>
      </p:sp>
      <p:sp>
        <p:nvSpPr>
          <p:cNvPr id="6" name="lane NEWCOMER"/>
          <p:cNvSpPr/>
          <p:nvPr/>
        </p:nvSpPr>
        <p:spPr>
          <a:xfrm>
            <a:off x="548640" y="3931920"/>
            <a:ext cx="2697480" cy="1143000"/>
          </a:xfrm>
          <a:prstGeom prst="roundRect">
            <a:avLst>
              <a:gd name="adj" fmla="val 8000"/>
            </a:avLst>
          </a:prstGeom>
          <a:solidFill>
            <a:srgbClr val="FFFFFF"/>
          </a:solidFill>
          <a:ln w="19050">
            <a:solidFill>
              <a:srgbClr val="B5213F"/>
            </a:solidFill>
            <a:prstDash val="solid"/>
          </a:ln>
        </p:spPr>
      </p:sp>
      <p:sp>
        <p:nvSpPr>
          <p:cNvPr id="7" name="lane text NEWCOMER"/>
          <p:cNvSpPr txBox="1"/>
          <p:nvPr/>
        </p:nvSpPr>
        <p:spPr>
          <a:xfrm>
            <a:off x="658368" y="4005072"/>
            <a:ext cx="2514600" cy="1005840"/>
          </a:xfrm>
          <a:prstGeom prst="rect">
            <a:avLst/>
          </a:prstGeom>
          <a:noFill/>
          <a:ln/>
        </p:spPr>
        <p:txBody>
          <a:bodyPr wrap="square" lIns="0" tIns="0" rIns="0" bIns="0" rtlCol="0" anchor="t"/>
          <a:lstStyle/>
          <a:p>
            <a:pPr indent="0" marL="0">
              <a:buNone/>
            </a:pPr>
            <a:r>
              <a:rPr lang="en-US" sz="900" b="1" spc="200" kern="0" dirty="0">
                <a:solidFill>
                  <a:srgbClr val="B5213F"/>
                </a:solidFill>
              </a:rPr>
              <a:t>NEWCOMER</a:t>
            </a:r>
            <a:endParaRPr lang="en-US" sz="900" dirty="0"/>
          </a:p>
          <a:p>
            <a:pPr indent="0" marL="0">
              <a:buNone/>
            </a:pPr>
            <a:r>
              <a:rPr lang="en-US" sz="1150" dirty="0">
                <a:solidFill>
                  <a:srgbClr val="1F2340"/>
                </a:solidFill>
              </a:rPr>
              <a:t>Match the bold pie names to the pictures. Do the procedure with a partner.</a:t>
            </a:r>
            <a:endParaRPr lang="en-US" sz="900" dirty="0"/>
          </a:p>
        </p:txBody>
      </p:sp>
      <p:sp>
        <p:nvSpPr>
          <p:cNvPr id="8" name="lane EMERGING"/>
          <p:cNvSpPr/>
          <p:nvPr/>
        </p:nvSpPr>
        <p:spPr>
          <a:xfrm>
            <a:off x="3364992" y="3931920"/>
            <a:ext cx="2697480" cy="1143000"/>
          </a:xfrm>
          <a:prstGeom prst="roundRect">
            <a:avLst>
              <a:gd name="adj" fmla="val 8000"/>
            </a:avLst>
          </a:prstGeom>
          <a:solidFill>
            <a:srgbClr val="FFFFFF"/>
          </a:solidFill>
          <a:ln w="19050">
            <a:solidFill>
              <a:srgbClr val="7A5F0E"/>
            </a:solidFill>
            <a:prstDash val="solid"/>
          </a:ln>
        </p:spPr>
      </p:sp>
      <p:sp>
        <p:nvSpPr>
          <p:cNvPr id="9" name="lane text EMERGING"/>
          <p:cNvSpPr txBox="1"/>
          <p:nvPr/>
        </p:nvSpPr>
        <p:spPr>
          <a:xfrm>
            <a:off x="3474720" y="4005072"/>
            <a:ext cx="2514600" cy="1005840"/>
          </a:xfrm>
          <a:prstGeom prst="rect">
            <a:avLst/>
          </a:prstGeom>
          <a:noFill/>
          <a:ln/>
        </p:spPr>
        <p:txBody>
          <a:bodyPr wrap="square" lIns="0" tIns="0" rIns="0" bIns="0" rtlCol="0" anchor="t"/>
          <a:lstStyle/>
          <a:p>
            <a:pPr indent="0" marL="0">
              <a:buNone/>
            </a:pPr>
            <a:r>
              <a:rPr lang="en-US" sz="900" b="1" spc="200" kern="0" dirty="0">
                <a:solidFill>
                  <a:srgbClr val="7A5F0E"/>
                </a:solidFill>
              </a:rPr>
              <a:t>EMERGING</a:t>
            </a:r>
            <a:endParaRPr lang="en-US" sz="900" dirty="0"/>
          </a:p>
          <a:p>
            <a:pPr indent="0" marL="0">
              <a:buNone/>
            </a:pPr>
            <a:r>
              <a:rPr lang="en-US" sz="1150" dirty="0">
                <a:solidFill>
                  <a:srgbClr val="1F2340"/>
                </a:solidFill>
              </a:rPr>
              <a:t>Questions 1, 2 and 4, plus the procedure. Underline where you found each answer.</a:t>
            </a:r>
            <a:endParaRPr lang="en-US" sz="900" dirty="0"/>
          </a:p>
        </p:txBody>
      </p:sp>
      <p:sp>
        <p:nvSpPr>
          <p:cNvPr id="10" name="lane PROGRESSING"/>
          <p:cNvSpPr/>
          <p:nvPr/>
        </p:nvSpPr>
        <p:spPr>
          <a:xfrm>
            <a:off x="6181344" y="3931920"/>
            <a:ext cx="2697480" cy="1143000"/>
          </a:xfrm>
          <a:prstGeom prst="roundRect">
            <a:avLst>
              <a:gd name="adj" fmla="val 8000"/>
            </a:avLst>
          </a:prstGeom>
          <a:solidFill>
            <a:srgbClr val="FFFFFF"/>
          </a:solidFill>
          <a:ln w="19050">
            <a:solidFill>
              <a:srgbClr val="17606F"/>
            </a:solidFill>
            <a:prstDash val="solid"/>
          </a:ln>
        </p:spPr>
      </p:sp>
      <p:sp>
        <p:nvSpPr>
          <p:cNvPr id="11" name="lane text PROGRESSING"/>
          <p:cNvSpPr txBox="1"/>
          <p:nvPr/>
        </p:nvSpPr>
        <p:spPr>
          <a:xfrm>
            <a:off x="6291072" y="4005072"/>
            <a:ext cx="2514600" cy="1005840"/>
          </a:xfrm>
          <a:prstGeom prst="rect">
            <a:avLst/>
          </a:prstGeom>
          <a:noFill/>
          <a:ln/>
        </p:spPr>
        <p:txBody>
          <a:bodyPr wrap="square" lIns="0" tIns="0" rIns="0" bIns="0" rtlCol="0" anchor="t"/>
          <a:lstStyle/>
          <a:p>
            <a:pPr indent="0" marL="0">
              <a:buNone/>
            </a:pPr>
            <a:r>
              <a:rPr lang="en-US" sz="900" b="1" spc="200" kern="0" dirty="0">
                <a:solidFill>
                  <a:srgbClr val="17606F"/>
                </a:solidFill>
              </a:rPr>
              <a:t>PROGRESSING</a:t>
            </a:r>
            <a:endParaRPr lang="en-US" sz="900" dirty="0"/>
          </a:p>
          <a:p>
            <a:pPr indent="0" marL="0">
              <a:buNone/>
            </a:pPr>
            <a:r>
              <a:rPr lang="en-US" sz="1150" dirty="0">
                <a:solidFill>
                  <a:srgbClr val="1F2340"/>
                </a:solidFill>
              </a:rPr>
              <a:t>All five questions. For #5, write one sentence from the text that supports your answer.</a:t>
            </a:r>
            <a:endParaRPr lang="en-US" sz="900" dirty="0"/>
          </a:p>
        </p:txBody>
      </p:sp>
      <p:sp>
        <p:nvSpPr>
          <p:cNvPr id="12" name="lane CHALLENGE"/>
          <p:cNvSpPr/>
          <p:nvPr/>
        </p:nvSpPr>
        <p:spPr>
          <a:xfrm>
            <a:off x="8997696" y="3931920"/>
            <a:ext cx="2697480" cy="1143000"/>
          </a:xfrm>
          <a:prstGeom prst="roundRect">
            <a:avLst>
              <a:gd name="adj" fmla="val 8000"/>
            </a:avLst>
          </a:prstGeom>
          <a:solidFill>
            <a:srgbClr val="FFFFFF"/>
          </a:solidFill>
          <a:ln w="19050">
            <a:solidFill>
              <a:srgbClr val="5B3FA8"/>
            </a:solidFill>
            <a:prstDash val="solid"/>
          </a:ln>
        </p:spPr>
      </p:sp>
      <p:sp>
        <p:nvSpPr>
          <p:cNvPr id="13" name="lane text CHALLENGE"/>
          <p:cNvSpPr txBox="1"/>
          <p:nvPr/>
        </p:nvSpPr>
        <p:spPr>
          <a:xfrm>
            <a:off x="9107424" y="4005072"/>
            <a:ext cx="2514600" cy="1005840"/>
          </a:xfrm>
          <a:prstGeom prst="rect">
            <a:avLst/>
          </a:prstGeom>
          <a:noFill/>
          <a:ln/>
        </p:spPr>
        <p:txBody>
          <a:bodyPr wrap="square" lIns="0" tIns="0" rIns="0" bIns="0" rtlCol="0" anchor="t"/>
          <a:lstStyle/>
          <a:p>
            <a:pPr indent="0" marL="0">
              <a:buNone/>
            </a:pPr>
            <a:r>
              <a:rPr lang="en-US" sz="900" b="1" spc="200" kern="0" dirty="0">
                <a:solidFill>
                  <a:srgbClr val="5B3FA8"/>
                </a:solidFill>
              </a:rPr>
              <a:t>CHALLENGE</a:t>
            </a:r>
            <a:endParaRPr lang="en-US" sz="900" dirty="0"/>
          </a:p>
          <a:p>
            <a:pPr indent="0" marL="0">
              <a:buNone/>
            </a:pPr>
            <a:r>
              <a:rPr lang="en-US" sz="1150" dirty="0">
                <a:solidFill>
                  <a:srgbClr val="1F2340"/>
                </a:solidFill>
              </a:rPr>
              <a:t>All five, then: which story about the name “chess” is more believable? Two sentences.</a:t>
            </a:r>
            <a:endParaRPr lang="en-US" sz="900" dirty="0"/>
          </a:p>
        </p:txBody>
      </p:sp>
      <p:sp>
        <p:nvSpPr>
          <p:cNvPr id="14" name="timer badge"/>
          <p:cNvSpPr/>
          <p:nvPr/>
        </p:nvSpPr>
        <p:spPr>
          <a:xfrm>
            <a:off x="9235440" y="5212080"/>
            <a:ext cx="2468880" cy="1051560"/>
          </a:xfrm>
          <a:prstGeom prst="roundRect">
            <a:avLst>
              <a:gd name="adj" fmla="val 13043"/>
            </a:avLst>
          </a:prstGeom>
          <a:solidFill>
            <a:srgbClr val="1E2761"/>
          </a:solidFill>
          <a:ln w="25400">
            <a:solidFill>
              <a:srgbClr val="C9A227"/>
            </a:solidFill>
            <a:prstDash val="solid"/>
          </a:ln>
        </p:spPr>
      </p:sp>
      <p:pic>
        <p:nvPicPr>
          <p:cNvPr id="15" name="clock" descr="preencoded.png">    </p:cNvPr>
          <p:cNvPicPr>
            <a:picLocks noChangeAspect="1"/>
          </p:cNvPicPr>
          <p:nvPr/>
        </p:nvPicPr>
        <p:blipFill>
          <a:blip r:embed="rId1"/>
          <a:stretch>
            <a:fillRect/>
          </a:stretch>
        </p:blipFill>
        <p:spPr>
          <a:xfrm>
            <a:off x="9372600" y="5468112"/>
            <a:ext cx="548640" cy="548640"/>
          </a:xfrm>
          <a:prstGeom prst="rect">
            <a:avLst/>
          </a:prstGeom>
        </p:spPr>
      </p:pic>
      <p:sp>
        <p:nvSpPr>
          <p:cNvPr id="16" name="timer link"/>
          <p:cNvSpPr txBox="1"/>
          <p:nvPr/>
        </p:nvSpPr>
        <p:spPr>
          <a:xfrm>
            <a:off x="9966960" y="5303520"/>
            <a:ext cx="1691640" cy="868680"/>
          </a:xfrm>
          <a:prstGeom prst="rect">
            <a:avLst/>
          </a:prstGeom>
          <a:noFill/>
          <a:ln/>
        </p:spPr>
        <p:txBody>
          <a:bodyPr wrap="square" lIns="0" tIns="0" rIns="0" bIns="0" rtlCol="0" anchor="ctr"/>
          <a:lstStyle/>
          <a:p>
            <a:pPr indent="0" marL="0">
              <a:buNone/>
            </a:pPr>
            <a:r>
              <a:rPr lang="en-US" sz="3000" b="1" u="sng" dirty="0">
                <a:solidFill>
                  <a:srgbClr val="FFFFFF"/>
                </a:solidFill>
                <a:hlinkClick r:id="rId2" invalidUrl="" action="" tgtFrame="" tooltip="" history="1" highlightClick="0" endSnd="0">
                  <a:extLst>
                    <a:ext uri="{A12FA001-AC4F-418D-AE19-62706E023703}">
                      <ahyp:hlinkClr xmlns:ahyp="http://schemas.microsoft.com/office/drawing/2018/hyperlinkcolor" val="tx"/>
                    </a:ext>
                  </a:extLst>
                </a:hlinkClick>
              </a:rPr>
              <a:t>12:00</a:t>
            </a:r>
            <a:endParaRPr lang="en-US" sz="3000" dirty="0"/>
          </a:p>
          <a:p>
            <a:pPr indent="0" marL="0">
              <a:buNone/>
            </a:pPr>
            <a:r>
              <a:rPr lang="en-US" sz="900" u="sng" dirty="0">
                <a:solidFill>
                  <a:srgbClr val="C9CEEA"/>
                </a:solidFill>
                <a:hlinkClick r:id="rId3" invalidUrl="" action="" tgtFrame="" tooltip="" history="1" highlightClick="0" endSnd="0">
                  <a:extLst>
                    <a:ext uri="{A12FA001-AC4F-418D-AE19-62706E023703}">
                      <ahyp:hlinkClr xmlns:ahyp="http://schemas.microsoft.com/office/drawing/2018/hyperlinkcolor" val="tx"/>
                    </a:ext>
                  </a:extLst>
                </a:hlinkClick>
              </a:rPr>
              <a:t>click to start timer</a:t>
            </a:r>
            <a:endParaRPr lang="en-US" sz="3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078"/>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3" type="title" hasCustomPrompt="1"/>
          </p:nvPr>
        </p:nvSpPr>
        <p:spPr>
          <a:xfrm>
            <a:off x="548640" y="411480"/>
            <a:ext cx="11064240" cy="914400"/>
          </a:xfrm>
          <a:prstGeom prst="rect">
            <a:avLst/>
          </a:prstGeom>
          <a:noFill/>
          <a:ln/>
        </p:spPr>
        <p:txBody>
          <a:bodyPr wrap="square" lIns="0" tIns="0" rIns="0" bIns="0" rtlCol="0"/>
          <a:lstStyle/>
          <a:p>
            <a:pPr indent="0" marL="0">
              <a:buNone/>
            </a:pPr>
            <a:r>
              <a:rPr lang="en-US" sz="3600" b="1" dirty="0">
                <a:solidFill>
                  <a:srgbClr val="1E2761"/>
                </a:solidFill>
              </a:rPr>
              <a:t>Unpack one sentence</a:t>
            </a:r>
            <a:endParaRPr lang="en-US" sz="3600" dirty="0"/>
          </a:p>
        </p:txBody>
      </p:sp>
      <p:sp>
        <p:nvSpPr>
          <p:cNvPr id="3" name="sentence box"/>
          <p:cNvSpPr/>
          <p:nvPr/>
        </p:nvSpPr>
        <p:spPr>
          <a:xfrm>
            <a:off x="548640" y="1371600"/>
            <a:ext cx="11064240" cy="1188720"/>
          </a:xfrm>
          <a:prstGeom prst="roundRect">
            <a:avLst>
              <a:gd name="adj" fmla="val 9231"/>
            </a:avLst>
          </a:prstGeom>
          <a:solidFill>
            <a:srgbClr val="FFFFFF"/>
          </a:solidFill>
          <a:ln w="25400">
            <a:solidFill>
              <a:srgbClr val="C9A227"/>
            </a:solidFill>
            <a:prstDash val="solid"/>
          </a:ln>
        </p:spPr>
      </p:sp>
      <p:sp>
        <p:nvSpPr>
          <p:cNvPr id="4" name="sentence"/>
          <p:cNvSpPr txBox="1"/>
          <p:nvPr/>
        </p:nvSpPr>
        <p:spPr>
          <a:xfrm>
            <a:off x="777240" y="1463040"/>
            <a:ext cx="10607040" cy="1005840"/>
          </a:xfrm>
          <a:prstGeom prst="rect">
            <a:avLst/>
          </a:prstGeom>
          <a:noFill/>
          <a:ln/>
        </p:spPr>
        <p:txBody>
          <a:bodyPr wrap="square" lIns="0" tIns="0" rIns="0" bIns="0" rtlCol="0" anchor="ctr"/>
          <a:lstStyle/>
          <a:p>
            <a:pPr indent="0" marL="0">
              <a:buNone/>
            </a:pPr>
            <a:r>
              <a:rPr lang="en-US" sz="2200" dirty="0">
                <a:solidFill>
                  <a:srgbClr val="1E2761"/>
                </a:solidFill>
                <a:latin typeface="Georgia" pitchFamily="34" charset="0"/>
                <a:ea typeface="Georgia" pitchFamily="34" charset="-122"/>
                <a:cs typeface="Georgia" pitchFamily="34" charset="-120"/>
              </a:rPr>
              <a:t>“Some people say ‘chess’ comes from ‘chest,’ because the pie kept well in a pie chest, a wooden cabinet used before refrigerators.”</a:t>
            </a:r>
            <a:endParaRPr lang="en-US" sz="2200" dirty="0"/>
          </a:p>
        </p:txBody>
      </p:sp>
      <p:sp>
        <p:nvSpPr>
          <p:cNvPr id="5" name="q 0"/>
          <p:cNvSpPr txBox="1"/>
          <p:nvPr/>
        </p:nvSpPr>
        <p:spPr>
          <a:xfrm>
            <a:off x="548640" y="2834640"/>
            <a:ext cx="2926080" cy="548640"/>
          </a:xfrm>
          <a:prstGeom prst="rect">
            <a:avLst/>
          </a:prstGeom>
          <a:noFill/>
          <a:ln/>
        </p:spPr>
        <p:txBody>
          <a:bodyPr wrap="square" lIns="0" tIns="0" rIns="0" bIns="0" rtlCol="0" anchor="ctr"/>
          <a:lstStyle/>
          <a:p>
            <a:pPr indent="0" marL="0">
              <a:buNone/>
            </a:pPr>
            <a:r>
              <a:rPr lang="en-US" sz="1800" b="1" dirty="0">
                <a:solidFill>
                  <a:srgbClr val="B5213F"/>
                </a:solidFill>
              </a:rPr>
              <a:t>Who says it?</a:t>
            </a:r>
            <a:endParaRPr lang="en-US" sz="1800" dirty="0"/>
          </a:p>
        </p:txBody>
      </p:sp>
      <p:sp>
        <p:nvSpPr>
          <p:cNvPr id="6" name="a 0"/>
          <p:cNvSpPr txBox="1"/>
          <p:nvPr/>
        </p:nvSpPr>
        <p:spPr>
          <a:xfrm>
            <a:off x="3566160" y="2834640"/>
            <a:ext cx="8046720" cy="548640"/>
          </a:xfrm>
          <a:prstGeom prst="rect">
            <a:avLst/>
          </a:prstGeom>
          <a:noFill/>
          <a:ln/>
        </p:spPr>
        <p:txBody>
          <a:bodyPr wrap="square" lIns="0" tIns="0" rIns="0" bIns="0" rtlCol="0" anchor="ctr"/>
          <a:lstStyle/>
          <a:p>
            <a:pPr indent="0" marL="0">
              <a:buNone/>
            </a:pPr>
            <a:r>
              <a:rPr lang="en-US" sz="1800" dirty="0">
                <a:solidFill>
                  <a:srgbClr val="1F2340"/>
                </a:solidFill>
              </a:rPr>
              <a:t>→ some people</a:t>
            </a:r>
            <a:endParaRPr lang="en-US" sz="1800" dirty="0"/>
          </a:p>
        </p:txBody>
      </p:sp>
      <p:sp>
        <p:nvSpPr>
          <p:cNvPr id="7" name="q 1"/>
          <p:cNvSpPr txBox="1"/>
          <p:nvPr/>
        </p:nvSpPr>
        <p:spPr>
          <a:xfrm>
            <a:off x="548640" y="3520440"/>
            <a:ext cx="2926080" cy="548640"/>
          </a:xfrm>
          <a:prstGeom prst="rect">
            <a:avLst/>
          </a:prstGeom>
          <a:noFill/>
          <a:ln/>
        </p:spPr>
        <p:txBody>
          <a:bodyPr wrap="square" lIns="0" tIns="0" rIns="0" bIns="0" rtlCol="0" anchor="ctr"/>
          <a:lstStyle/>
          <a:p>
            <a:pPr indent="0" marL="0">
              <a:buNone/>
            </a:pPr>
            <a:r>
              <a:rPr lang="en-US" sz="1800" b="1" dirty="0">
                <a:solidFill>
                  <a:srgbClr val="B5213F"/>
                </a:solidFill>
              </a:rPr>
              <a:t>Says what?</a:t>
            </a:r>
            <a:endParaRPr lang="en-US" sz="1800" dirty="0"/>
          </a:p>
        </p:txBody>
      </p:sp>
      <p:sp>
        <p:nvSpPr>
          <p:cNvPr id="8" name="a 1"/>
          <p:cNvSpPr txBox="1"/>
          <p:nvPr/>
        </p:nvSpPr>
        <p:spPr>
          <a:xfrm>
            <a:off x="3566160" y="3520440"/>
            <a:ext cx="8046720" cy="548640"/>
          </a:xfrm>
          <a:prstGeom prst="rect">
            <a:avLst/>
          </a:prstGeom>
          <a:noFill/>
          <a:ln/>
        </p:spPr>
        <p:txBody>
          <a:bodyPr wrap="square" lIns="0" tIns="0" rIns="0" bIns="0" rtlCol="0" anchor="ctr"/>
          <a:lstStyle/>
          <a:p>
            <a:pPr indent="0" marL="0">
              <a:buNone/>
            </a:pPr>
            <a:r>
              <a:rPr lang="en-US" sz="1800" dirty="0">
                <a:solidFill>
                  <a:srgbClr val="1F2340"/>
                </a:solidFill>
              </a:rPr>
              <a:t>→ “chess” comes from “chest”</a:t>
            </a:r>
            <a:endParaRPr lang="en-US" sz="1800" dirty="0"/>
          </a:p>
        </p:txBody>
      </p:sp>
      <p:sp>
        <p:nvSpPr>
          <p:cNvPr id="9" name="q 2"/>
          <p:cNvSpPr txBox="1"/>
          <p:nvPr/>
        </p:nvSpPr>
        <p:spPr>
          <a:xfrm>
            <a:off x="548640" y="4206240"/>
            <a:ext cx="2926080" cy="548640"/>
          </a:xfrm>
          <a:prstGeom prst="rect">
            <a:avLst/>
          </a:prstGeom>
          <a:noFill/>
          <a:ln/>
        </p:spPr>
        <p:txBody>
          <a:bodyPr wrap="square" lIns="0" tIns="0" rIns="0" bIns="0" rtlCol="0" anchor="ctr"/>
          <a:lstStyle/>
          <a:p>
            <a:pPr indent="0" marL="0">
              <a:buNone/>
            </a:pPr>
            <a:r>
              <a:rPr lang="en-US" sz="1800" b="1" dirty="0">
                <a:solidFill>
                  <a:srgbClr val="B5213F"/>
                </a:solidFill>
              </a:rPr>
              <a:t>Why?</a:t>
            </a:r>
            <a:endParaRPr lang="en-US" sz="1800" dirty="0"/>
          </a:p>
        </p:txBody>
      </p:sp>
      <p:sp>
        <p:nvSpPr>
          <p:cNvPr id="10" name="a 2"/>
          <p:cNvSpPr txBox="1"/>
          <p:nvPr/>
        </p:nvSpPr>
        <p:spPr>
          <a:xfrm>
            <a:off x="3566160" y="4206240"/>
            <a:ext cx="8046720" cy="548640"/>
          </a:xfrm>
          <a:prstGeom prst="rect">
            <a:avLst/>
          </a:prstGeom>
          <a:noFill/>
          <a:ln/>
        </p:spPr>
        <p:txBody>
          <a:bodyPr wrap="square" lIns="0" tIns="0" rIns="0" bIns="0" rtlCol="0" anchor="ctr"/>
          <a:lstStyle/>
          <a:p>
            <a:pPr indent="0" marL="0">
              <a:buNone/>
            </a:pPr>
            <a:r>
              <a:rPr lang="en-US" sz="1800" dirty="0">
                <a:solidFill>
                  <a:srgbClr val="1F2340"/>
                </a:solidFill>
              </a:rPr>
              <a:t>→ the pie kept well in a pie chest</a:t>
            </a:r>
            <a:endParaRPr lang="en-US" sz="1800" dirty="0"/>
          </a:p>
        </p:txBody>
      </p:sp>
      <p:sp>
        <p:nvSpPr>
          <p:cNvPr id="11" name="q 3"/>
          <p:cNvSpPr txBox="1"/>
          <p:nvPr/>
        </p:nvSpPr>
        <p:spPr>
          <a:xfrm>
            <a:off x="548640" y="4892040"/>
            <a:ext cx="2926080" cy="548640"/>
          </a:xfrm>
          <a:prstGeom prst="rect">
            <a:avLst/>
          </a:prstGeom>
          <a:noFill/>
          <a:ln/>
        </p:spPr>
        <p:txBody>
          <a:bodyPr wrap="square" lIns="0" tIns="0" rIns="0" bIns="0" rtlCol="0" anchor="ctr"/>
          <a:lstStyle/>
          <a:p>
            <a:pPr indent="0" marL="0">
              <a:buNone/>
            </a:pPr>
            <a:r>
              <a:rPr lang="en-US" sz="1800" b="1" dirty="0">
                <a:solidFill>
                  <a:srgbClr val="B5213F"/>
                </a:solidFill>
              </a:rPr>
              <a:t>What is a pie chest?</a:t>
            </a:r>
            <a:endParaRPr lang="en-US" sz="1800" dirty="0"/>
          </a:p>
        </p:txBody>
      </p:sp>
      <p:sp>
        <p:nvSpPr>
          <p:cNvPr id="12" name="a 3"/>
          <p:cNvSpPr txBox="1"/>
          <p:nvPr/>
        </p:nvSpPr>
        <p:spPr>
          <a:xfrm>
            <a:off x="3566160" y="4892040"/>
            <a:ext cx="8046720" cy="548640"/>
          </a:xfrm>
          <a:prstGeom prst="rect">
            <a:avLst/>
          </a:prstGeom>
          <a:noFill/>
          <a:ln/>
        </p:spPr>
        <p:txBody>
          <a:bodyPr wrap="square" lIns="0" tIns="0" rIns="0" bIns="0" rtlCol="0" anchor="ctr"/>
          <a:lstStyle/>
          <a:p>
            <a:pPr indent="0" marL="0">
              <a:buNone/>
            </a:pPr>
            <a:r>
              <a:rPr lang="en-US" sz="1800" dirty="0">
                <a:solidFill>
                  <a:srgbClr val="1F2340"/>
                </a:solidFill>
              </a:rPr>
              <a:t>→ a wooden cabinet used before refrigerators</a:t>
            </a:r>
            <a:endParaRPr lang="en-US" sz="1800" dirty="0"/>
          </a:p>
        </p:txBody>
      </p:sp>
      <p:sp>
        <p:nvSpPr>
          <p:cNvPr id="13" name="rewrite"/>
          <p:cNvSpPr txBox="1"/>
          <p:nvPr/>
        </p:nvSpPr>
        <p:spPr>
          <a:xfrm>
            <a:off x="548640" y="5623560"/>
            <a:ext cx="8229600" cy="457200"/>
          </a:xfrm>
          <a:prstGeom prst="rect">
            <a:avLst/>
          </a:prstGeom>
          <a:noFill/>
          <a:ln/>
        </p:spPr>
        <p:txBody>
          <a:bodyPr wrap="square" lIns="0" tIns="0" rIns="0" bIns="0" rtlCol="0" anchor="ctr"/>
          <a:lstStyle/>
          <a:p>
            <a:pPr indent="0" marL="0">
              <a:buNone/>
            </a:pPr>
            <a:r>
              <a:rPr lang="en-US" sz="1800" i="1" dirty="0">
                <a:solidFill>
                  <a:srgbClr val="17606F"/>
                </a:solidFill>
              </a:rPr>
              <a:t>Now say it in three short sentences.</a:t>
            </a:r>
            <a:endParaRPr lang="en-US" sz="1800" dirty="0"/>
          </a:p>
        </p:txBody>
      </p:sp>
      <p:sp>
        <p:nvSpPr>
          <p:cNvPr id="15" name="Text 3"/>
          <p:cNvSpPr/>
          <p:nvPr>
            <p:ph idx="104" type="body" hasCustomPrompt="1"/>
          </p:nvPr>
        </p:nvSpPr>
        <p:spPr>
          <a:xfrm>
            <a:off x="548640" y="1463040"/>
            <a:ext cx="7315200" cy="457200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078"/>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me range"/>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spc="300" kern="0" dirty="0">
                <a:solidFill>
                  <a:srgbClr val="C9A227"/>
                </a:solidFill>
              </a:rPr>
              <a:t>50–60 min</a:t>
            </a:r>
            <a:endParaRPr lang="en-US" sz="1400" dirty="0"/>
          </a:p>
        </p:txBody>
      </p:sp>
      <p:sp>
        <p:nvSpPr>
          <p:cNvPr id="3" name="segment title"/>
          <p:cNvSpPr txBox="1"/>
          <p:nvPr/>
        </p:nvSpPr>
        <p:spPr>
          <a:xfrm>
            <a:off x="548640" y="914400"/>
            <a:ext cx="8503920" cy="146304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Talk before you write.</a:t>
            </a:r>
            <a:endParaRPr lang="en-US" sz="4800" dirty="0"/>
          </a:p>
        </p:txBody>
      </p:sp>
      <p:sp>
        <p:nvSpPr>
          <p:cNvPr id="4" name="segment sub"/>
          <p:cNvSpPr txBox="1"/>
          <p:nvPr/>
        </p:nvSpPr>
        <p:spPr>
          <a:xfrm>
            <a:off x="548640" y="2468880"/>
            <a:ext cx="8229600" cy="1097280"/>
          </a:xfrm>
          <a:prstGeom prst="rect">
            <a:avLst/>
          </a:prstGeom>
          <a:noFill/>
          <a:ln/>
        </p:spPr>
        <p:txBody>
          <a:bodyPr wrap="square" lIns="0" tIns="0" rIns="0" bIns="0" rtlCol="0" anchor="ctr"/>
          <a:lstStyle/>
          <a:p>
            <a:pPr indent="0" marL="0">
              <a:buNone/>
            </a:pPr>
            <a:r>
              <a:rPr lang="en-US" sz="2000" dirty="0">
                <a:solidFill>
                  <a:srgbClr val="C9CEEA"/>
                </a:solidFill>
              </a:rPr>
              <a:t>Partner A talks. Partner B says one thing back. Switch.</a:t>
            </a:r>
            <a:endParaRPr lang="en-US" sz="2000" dirty="0"/>
          </a:p>
        </p:txBody>
      </p:sp>
      <p:pic>
        <p:nvPicPr>
          <p:cNvPr id="5" name="segment icon" descr="preencoded.png">    </p:cNvPr>
          <p:cNvPicPr>
            <a:picLocks noChangeAspect="1"/>
          </p:cNvPicPr>
          <p:nvPr/>
        </p:nvPicPr>
        <p:blipFill>
          <a:blip r:embed="rId1"/>
          <a:stretch>
            <a:fillRect/>
          </a:stretch>
        </p:blipFill>
        <p:spPr>
          <a:xfrm>
            <a:off x="548640" y="3931920"/>
            <a:ext cx="1188720" cy="1188720"/>
          </a:xfrm>
          <a:prstGeom prst="rect">
            <a:avLst/>
          </a:prstGeom>
        </p:spPr>
      </p:pic>
      <p:sp>
        <p:nvSpPr>
          <p:cNvPr id="6" name="timer badge"/>
          <p:cNvSpPr/>
          <p:nvPr/>
        </p:nvSpPr>
        <p:spPr>
          <a:xfrm>
            <a:off x="9235440" y="457200"/>
            <a:ext cx="2468880" cy="1051560"/>
          </a:xfrm>
          <a:prstGeom prst="roundRect">
            <a:avLst>
              <a:gd name="adj" fmla="val 13043"/>
            </a:avLst>
          </a:prstGeom>
          <a:solidFill>
            <a:srgbClr val="1E2761"/>
          </a:solidFill>
          <a:ln w="25400">
            <a:solidFill>
              <a:srgbClr val="C9A227"/>
            </a:solidFill>
            <a:prstDash val="solid"/>
          </a:ln>
        </p:spPr>
      </p:sp>
      <p:pic>
        <p:nvPicPr>
          <p:cNvPr id="7" name="clock" descr="preencoded.png">    </p:cNvPr>
          <p:cNvPicPr>
            <a:picLocks noChangeAspect="1"/>
          </p:cNvPicPr>
          <p:nvPr/>
        </p:nvPicPr>
        <p:blipFill>
          <a:blip r:embed="rId2"/>
          <a:stretch>
            <a:fillRect/>
          </a:stretch>
        </p:blipFill>
        <p:spPr>
          <a:xfrm>
            <a:off x="9372600" y="713232"/>
            <a:ext cx="548640" cy="548640"/>
          </a:xfrm>
          <a:prstGeom prst="rect">
            <a:avLst/>
          </a:prstGeom>
        </p:spPr>
      </p:pic>
      <p:sp>
        <p:nvSpPr>
          <p:cNvPr id="8" name="timer link"/>
          <p:cNvSpPr txBox="1"/>
          <p:nvPr/>
        </p:nvSpPr>
        <p:spPr>
          <a:xfrm>
            <a:off x="9966960" y="548640"/>
            <a:ext cx="1691640" cy="868680"/>
          </a:xfrm>
          <a:prstGeom prst="rect">
            <a:avLst/>
          </a:prstGeom>
          <a:noFill/>
          <a:ln/>
        </p:spPr>
        <p:txBody>
          <a:bodyPr wrap="square" lIns="0" tIns="0" rIns="0" bIns="0" rtlCol="0" anchor="ctr"/>
          <a:lstStyle/>
          <a:p>
            <a:pPr indent="0" marL="0">
              <a:buNone/>
            </a:pPr>
            <a:r>
              <a:rPr lang="en-US" sz="3000" b="1" u="sng" dirty="0">
                <a:solidFill>
                  <a:srgbClr val="FFFFFF"/>
                </a:solidFill>
                <a:hlinkClick r:id="rId3" invalidUrl="" action="" tgtFrame="" tooltip="" history="1" highlightClick="0" endSnd="0">
                  <a:extLst>
                    <a:ext uri="{A12FA001-AC4F-418D-AE19-62706E023703}">
                      <ahyp:hlinkClr xmlns:ahyp="http://schemas.microsoft.com/office/drawing/2018/hyperlinkcolor" val="tx"/>
                    </a:ext>
                  </a:extLst>
                </a:hlinkClick>
              </a:rPr>
              <a:t>10:00</a:t>
            </a:r>
            <a:endParaRPr lang="en-US" sz="3000" dirty="0"/>
          </a:p>
          <a:p>
            <a:pPr indent="0" marL="0">
              <a:buNone/>
            </a:pPr>
            <a:r>
              <a:rPr lang="en-US" sz="900" u="sng" dirty="0">
                <a:solidFill>
                  <a:srgbClr val="C9CEEA"/>
                </a:solidFill>
                <a:hlinkClick r:id="rId4" invalidUrl="" action="" tgtFrame="" tooltip="" history="1" highlightClick="0" endSnd="0">
                  <a:extLst>
                    <a:ext uri="{A12FA001-AC4F-418D-AE19-62706E023703}">
                      <ahyp:hlinkClr xmlns:ahyp="http://schemas.microsoft.com/office/drawing/2018/hyperlinkcolor" val="tx"/>
                    </a:ext>
                  </a:extLst>
                </a:hlinkClick>
              </a:rPr>
              <a:t>click to start timer</a:t>
            </a:r>
            <a:endParaRPr lang="en-US" sz="3000" dirty="0"/>
          </a:p>
        </p:txBody>
      </p:sp>
      <p:sp>
        <p:nvSpPr>
          <p:cNvPr id="9" name="agenda Open"/>
          <p:cNvSpPr/>
          <p:nvPr/>
        </p:nvSpPr>
        <p:spPr>
          <a:xfrm>
            <a:off x="548640" y="5577840"/>
            <a:ext cx="587248" cy="384048"/>
          </a:xfrm>
          <a:prstGeom prst="rect">
            <a:avLst/>
          </a:prstGeom>
          <a:solidFill>
            <a:srgbClr val="2B3470"/>
          </a:solidFill>
          <a:ln w="12700">
            <a:solidFill>
              <a:srgbClr val="1E2761"/>
            </a:solidFill>
            <a:prstDash val="solid"/>
          </a:ln>
        </p:spPr>
      </p:sp>
      <p:sp>
        <p:nvSpPr>
          <p:cNvPr id="10" name="agenda Five words"/>
          <p:cNvSpPr/>
          <p:nvPr/>
        </p:nvSpPr>
        <p:spPr>
          <a:xfrm>
            <a:off x="1163320" y="5577840"/>
            <a:ext cx="833120" cy="384048"/>
          </a:xfrm>
          <a:prstGeom prst="rect">
            <a:avLst/>
          </a:prstGeom>
          <a:solidFill>
            <a:srgbClr val="2B3470"/>
          </a:solidFill>
          <a:ln w="12700">
            <a:solidFill>
              <a:srgbClr val="1E2761"/>
            </a:solidFill>
            <a:prstDash val="solid"/>
          </a:ln>
        </p:spPr>
      </p:sp>
      <p:sp>
        <p:nvSpPr>
          <p:cNvPr id="11" name="agenda label Five words"/>
          <p:cNvSpPr txBox="1"/>
          <p:nvPr/>
        </p:nvSpPr>
        <p:spPr>
          <a:xfrm>
            <a:off x="1163320" y="5577840"/>
            <a:ext cx="833120" cy="384048"/>
          </a:xfrm>
          <a:prstGeom prst="rect">
            <a:avLst/>
          </a:prstGeom>
          <a:noFill/>
          <a:ln/>
        </p:spPr>
        <p:txBody>
          <a:bodyPr wrap="square" lIns="0" tIns="0" rIns="0" bIns="0" rtlCol="0" anchor="ctr"/>
          <a:lstStyle/>
          <a:p>
            <a:pPr algn="ctr" indent="0" marL="0">
              <a:buNone/>
            </a:pPr>
            <a:r>
              <a:rPr lang="en-US" sz="900" dirty="0">
                <a:solidFill>
                  <a:srgbClr val="AEB5DA"/>
                </a:solidFill>
              </a:rPr>
              <a:t>Five words</a:t>
            </a:r>
            <a:endParaRPr lang="en-US" sz="900" dirty="0"/>
          </a:p>
        </p:txBody>
      </p:sp>
      <p:sp>
        <p:nvSpPr>
          <p:cNvPr id="12" name="agenda Cognates"/>
          <p:cNvSpPr/>
          <p:nvPr/>
        </p:nvSpPr>
        <p:spPr>
          <a:xfrm>
            <a:off x="2023872" y="5577840"/>
            <a:ext cx="710184" cy="384048"/>
          </a:xfrm>
          <a:prstGeom prst="rect">
            <a:avLst/>
          </a:prstGeom>
          <a:solidFill>
            <a:srgbClr val="2B3470"/>
          </a:solidFill>
          <a:ln w="12700">
            <a:solidFill>
              <a:srgbClr val="1E2761"/>
            </a:solidFill>
            <a:prstDash val="solid"/>
          </a:ln>
        </p:spPr>
      </p:sp>
      <p:sp>
        <p:nvSpPr>
          <p:cNvPr id="13" name="agenda label Cognates"/>
          <p:cNvSpPr txBox="1"/>
          <p:nvPr/>
        </p:nvSpPr>
        <p:spPr>
          <a:xfrm>
            <a:off x="2023872" y="5577840"/>
            <a:ext cx="710184" cy="384048"/>
          </a:xfrm>
          <a:prstGeom prst="rect">
            <a:avLst/>
          </a:prstGeom>
          <a:noFill/>
          <a:ln/>
        </p:spPr>
        <p:txBody>
          <a:bodyPr wrap="square" lIns="0" tIns="0" rIns="0" bIns="0" rtlCol="0" anchor="ctr"/>
          <a:lstStyle/>
          <a:p>
            <a:pPr algn="ctr" indent="0" marL="0">
              <a:buNone/>
            </a:pPr>
            <a:r>
              <a:rPr lang="en-US" sz="900" dirty="0">
                <a:solidFill>
                  <a:srgbClr val="AEB5DA"/>
                </a:solidFill>
              </a:rPr>
              <a:t>Cognates</a:t>
            </a:r>
            <a:endParaRPr lang="en-US" sz="900" dirty="0"/>
          </a:p>
        </p:txBody>
      </p:sp>
      <p:sp>
        <p:nvSpPr>
          <p:cNvPr id="14" name="agenda Listening"/>
          <p:cNvSpPr/>
          <p:nvPr/>
        </p:nvSpPr>
        <p:spPr>
          <a:xfrm>
            <a:off x="2761488" y="5577840"/>
            <a:ext cx="1816608" cy="384048"/>
          </a:xfrm>
          <a:prstGeom prst="rect">
            <a:avLst/>
          </a:prstGeom>
          <a:solidFill>
            <a:srgbClr val="2B3470"/>
          </a:solidFill>
          <a:ln w="12700">
            <a:solidFill>
              <a:srgbClr val="1E2761"/>
            </a:solidFill>
            <a:prstDash val="solid"/>
          </a:ln>
        </p:spPr>
      </p:sp>
      <p:sp>
        <p:nvSpPr>
          <p:cNvPr id="15" name="agenda label Listening"/>
          <p:cNvSpPr txBox="1"/>
          <p:nvPr/>
        </p:nvSpPr>
        <p:spPr>
          <a:xfrm>
            <a:off x="2761488" y="5577840"/>
            <a:ext cx="1816608" cy="384048"/>
          </a:xfrm>
          <a:prstGeom prst="rect">
            <a:avLst/>
          </a:prstGeom>
          <a:noFill/>
          <a:ln/>
        </p:spPr>
        <p:txBody>
          <a:bodyPr wrap="square" lIns="0" tIns="0" rIns="0" bIns="0" rtlCol="0" anchor="ctr"/>
          <a:lstStyle/>
          <a:p>
            <a:pPr algn="ctr" indent="0" marL="0">
              <a:buNone/>
            </a:pPr>
            <a:r>
              <a:rPr lang="en-US" sz="900" dirty="0">
                <a:solidFill>
                  <a:srgbClr val="AEB5DA"/>
                </a:solidFill>
              </a:rPr>
              <a:t>Listening</a:t>
            </a:r>
            <a:endParaRPr lang="en-US" sz="900" dirty="0"/>
          </a:p>
        </p:txBody>
      </p:sp>
      <p:sp>
        <p:nvSpPr>
          <p:cNvPr id="16" name="agenda Reading"/>
          <p:cNvSpPr/>
          <p:nvPr/>
        </p:nvSpPr>
        <p:spPr>
          <a:xfrm>
            <a:off x="4605528" y="5577840"/>
            <a:ext cx="2062480" cy="384048"/>
          </a:xfrm>
          <a:prstGeom prst="rect">
            <a:avLst/>
          </a:prstGeom>
          <a:solidFill>
            <a:srgbClr val="2B3470"/>
          </a:solidFill>
          <a:ln w="12700">
            <a:solidFill>
              <a:srgbClr val="1E2761"/>
            </a:solidFill>
            <a:prstDash val="solid"/>
          </a:ln>
        </p:spPr>
      </p:sp>
      <p:sp>
        <p:nvSpPr>
          <p:cNvPr id="17" name="agenda label Reading"/>
          <p:cNvSpPr txBox="1"/>
          <p:nvPr/>
        </p:nvSpPr>
        <p:spPr>
          <a:xfrm>
            <a:off x="4605528" y="5577840"/>
            <a:ext cx="2062480" cy="384048"/>
          </a:xfrm>
          <a:prstGeom prst="rect">
            <a:avLst/>
          </a:prstGeom>
          <a:noFill/>
          <a:ln/>
        </p:spPr>
        <p:txBody>
          <a:bodyPr wrap="square" lIns="0" tIns="0" rIns="0" bIns="0" rtlCol="0" anchor="ctr"/>
          <a:lstStyle/>
          <a:p>
            <a:pPr algn="ctr" indent="0" marL="0">
              <a:buNone/>
            </a:pPr>
            <a:r>
              <a:rPr lang="en-US" sz="900" dirty="0">
                <a:solidFill>
                  <a:srgbClr val="AEB5DA"/>
                </a:solidFill>
              </a:rPr>
              <a:t>Reading</a:t>
            </a:r>
            <a:endParaRPr lang="en-US" sz="900" dirty="0"/>
          </a:p>
        </p:txBody>
      </p:sp>
      <p:sp>
        <p:nvSpPr>
          <p:cNvPr id="18" name="agenda Talk"/>
          <p:cNvSpPr/>
          <p:nvPr/>
        </p:nvSpPr>
        <p:spPr>
          <a:xfrm>
            <a:off x="6695440" y="5577840"/>
            <a:ext cx="1201928" cy="384048"/>
          </a:xfrm>
          <a:prstGeom prst="rect">
            <a:avLst/>
          </a:prstGeom>
          <a:solidFill>
            <a:srgbClr val="C9A227"/>
          </a:solidFill>
          <a:ln w="12700">
            <a:solidFill>
              <a:srgbClr val="1E2761"/>
            </a:solidFill>
            <a:prstDash val="solid"/>
          </a:ln>
        </p:spPr>
      </p:sp>
      <p:sp>
        <p:nvSpPr>
          <p:cNvPr id="19" name="agenda label Talk"/>
          <p:cNvSpPr txBox="1"/>
          <p:nvPr/>
        </p:nvSpPr>
        <p:spPr>
          <a:xfrm>
            <a:off x="6695440" y="5577840"/>
            <a:ext cx="1201928" cy="384048"/>
          </a:xfrm>
          <a:prstGeom prst="rect">
            <a:avLst/>
          </a:prstGeom>
          <a:noFill/>
          <a:ln/>
        </p:spPr>
        <p:txBody>
          <a:bodyPr wrap="square" lIns="0" tIns="0" rIns="0" bIns="0" rtlCol="0" anchor="ctr"/>
          <a:lstStyle/>
          <a:p>
            <a:pPr algn="ctr" indent="0" marL="0">
              <a:buNone/>
            </a:pPr>
            <a:r>
              <a:rPr lang="en-US" sz="900" dirty="0">
                <a:solidFill>
                  <a:srgbClr val="1E2761"/>
                </a:solidFill>
              </a:rPr>
              <a:t>Talk</a:t>
            </a:r>
            <a:endParaRPr lang="en-US" sz="900" dirty="0"/>
          </a:p>
        </p:txBody>
      </p:sp>
      <p:sp>
        <p:nvSpPr>
          <p:cNvPr id="20" name="agenda Writing"/>
          <p:cNvSpPr/>
          <p:nvPr/>
        </p:nvSpPr>
        <p:spPr>
          <a:xfrm>
            <a:off x="7924800" y="5577840"/>
            <a:ext cx="2431288" cy="384048"/>
          </a:xfrm>
          <a:prstGeom prst="rect">
            <a:avLst/>
          </a:prstGeom>
          <a:solidFill>
            <a:srgbClr val="2B3470"/>
          </a:solidFill>
          <a:ln w="12700">
            <a:solidFill>
              <a:srgbClr val="1E2761"/>
            </a:solidFill>
            <a:prstDash val="solid"/>
          </a:ln>
        </p:spPr>
      </p:sp>
      <p:sp>
        <p:nvSpPr>
          <p:cNvPr id="21" name="agenda label Writing"/>
          <p:cNvSpPr txBox="1"/>
          <p:nvPr/>
        </p:nvSpPr>
        <p:spPr>
          <a:xfrm>
            <a:off x="7924800" y="5577840"/>
            <a:ext cx="2431288" cy="384048"/>
          </a:xfrm>
          <a:prstGeom prst="rect">
            <a:avLst/>
          </a:prstGeom>
          <a:noFill/>
          <a:ln/>
        </p:spPr>
        <p:txBody>
          <a:bodyPr wrap="square" lIns="0" tIns="0" rIns="0" bIns="0" rtlCol="0" anchor="ctr"/>
          <a:lstStyle/>
          <a:p>
            <a:pPr algn="ctr" indent="0" marL="0">
              <a:buNone/>
            </a:pPr>
            <a:r>
              <a:rPr lang="en-US" sz="900" dirty="0">
                <a:solidFill>
                  <a:srgbClr val="AEB5DA"/>
                </a:solidFill>
              </a:rPr>
              <a:t>Writing</a:t>
            </a:r>
            <a:endParaRPr lang="en-US" sz="900" dirty="0"/>
          </a:p>
        </p:txBody>
      </p:sp>
      <p:sp>
        <p:nvSpPr>
          <p:cNvPr id="22" name="agenda S4 / S2"/>
          <p:cNvSpPr/>
          <p:nvPr/>
        </p:nvSpPr>
        <p:spPr>
          <a:xfrm>
            <a:off x="10383520" y="5577840"/>
            <a:ext cx="833120" cy="384048"/>
          </a:xfrm>
          <a:prstGeom prst="rect">
            <a:avLst/>
          </a:prstGeom>
          <a:solidFill>
            <a:srgbClr val="2B3470"/>
          </a:solidFill>
          <a:ln w="12700">
            <a:solidFill>
              <a:srgbClr val="1E2761"/>
            </a:solidFill>
            <a:prstDash val="solid"/>
          </a:ln>
        </p:spPr>
      </p:sp>
      <p:sp>
        <p:nvSpPr>
          <p:cNvPr id="23" name="agenda label S4 / S2"/>
          <p:cNvSpPr txBox="1"/>
          <p:nvPr/>
        </p:nvSpPr>
        <p:spPr>
          <a:xfrm>
            <a:off x="10383520" y="5577840"/>
            <a:ext cx="833120" cy="384048"/>
          </a:xfrm>
          <a:prstGeom prst="rect">
            <a:avLst/>
          </a:prstGeom>
          <a:noFill/>
          <a:ln/>
        </p:spPr>
        <p:txBody>
          <a:bodyPr wrap="square" lIns="0" tIns="0" rIns="0" bIns="0" rtlCol="0" anchor="ctr"/>
          <a:lstStyle/>
          <a:p>
            <a:pPr algn="ctr" indent="0" marL="0">
              <a:buNone/>
            </a:pPr>
            <a:r>
              <a:rPr lang="en-US" sz="900" dirty="0">
                <a:solidFill>
                  <a:srgbClr val="AEB5DA"/>
                </a:solidFill>
              </a:rPr>
              <a:t>S4 / S2</a:t>
            </a:r>
            <a:endParaRPr lang="en-US" sz="900" dirty="0"/>
          </a:p>
        </p:txBody>
      </p:sp>
      <p:sp>
        <p:nvSpPr>
          <p:cNvPr id="24" name="agenda Exit"/>
          <p:cNvSpPr/>
          <p:nvPr/>
        </p:nvSpPr>
        <p:spPr>
          <a:xfrm>
            <a:off x="11244072" y="5577840"/>
            <a:ext cx="341376" cy="384048"/>
          </a:xfrm>
          <a:prstGeom prst="rect">
            <a:avLst/>
          </a:prstGeom>
          <a:solidFill>
            <a:srgbClr val="2B3470"/>
          </a:solidFill>
          <a:ln w="12700">
            <a:solidFill>
              <a:srgbClr val="1E2761"/>
            </a:solidFill>
            <a:prstDash val="solid"/>
          </a:ln>
        </p:spPr>
      </p:sp>
      <p:sp>
        <p:nvSpPr>
          <p:cNvPr id="25" name="Text 2"/>
          <p:cNvSpPr/>
          <p:nvPr>
            <p:ph idx="102" type="title" hasCustomPrompt="1"/>
          </p:nvPr>
        </p:nvSpPr>
        <p:spPr>
          <a:xfrm>
            <a:off x="548640" y="457200"/>
            <a:ext cx="11064240" cy="1005840"/>
          </a:xfrm>
          <a:prstGeom prst="rect">
            <a:avLst/>
          </a:prstGeom>
          <a:noFill/>
          <a:ln/>
        </p:spPr>
        <p:txBody>
          <a:bodyPr wrap="square" lIns="0" tIns="0" rIns="0" bIns="0" rtlCol="0"/>
          <a:lstStyle/>
          <a:p>
            <a:pPr indent="0" marL="0">
              <a:buNone/>
            </a:pPr>
            <a:endParaRPr lang="en-US" sz="4000" dirty="0"/>
          </a:p>
        </p:txBody>
      </p:sp>
      <p:sp>
        <p:nvSpPr>
          <p:cNvPr id="26" name="Text 2"/>
          <p:cNvSpPr/>
          <p:nvPr>
            <p:ph idx="103" type="body" hasCustomPrompt="1"/>
          </p:nvPr>
        </p:nvSpPr>
        <p:spPr>
          <a:xfrm>
            <a:off x="548640" y="1554480"/>
            <a:ext cx="7498080" cy="448056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5DA"/>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3" type="title" hasCustomPrompt="1"/>
          </p:nvPr>
        </p:nvSpPr>
        <p:spPr>
          <a:xfrm>
            <a:off x="548640" y="411480"/>
            <a:ext cx="11064240" cy="914400"/>
          </a:xfrm>
          <a:prstGeom prst="rect">
            <a:avLst/>
          </a:prstGeom>
          <a:noFill/>
          <a:ln/>
        </p:spPr>
        <p:txBody>
          <a:bodyPr wrap="square" lIns="0" tIns="0" rIns="0" bIns="0" rtlCol="0"/>
          <a:lstStyle/>
          <a:p>
            <a:pPr indent="0" marL="0">
              <a:buNone/>
            </a:pPr>
            <a:r>
              <a:rPr lang="en-US" sz="3600" b="1" dirty="0">
                <a:solidFill>
                  <a:srgbClr val="1E2761"/>
                </a:solidFill>
              </a:rPr>
              <a:t>S1 · Observe and report</a:t>
            </a:r>
            <a:endParaRPr lang="en-US" sz="3600" dirty="0"/>
          </a:p>
        </p:txBody>
      </p:sp>
      <p:pic>
        <p:nvPicPr>
          <p:cNvPr id="3" name="coconut" descr="/home/claude/deck/coconut.jpg">    </p:cNvPr>
          <p:cNvPicPr>
            <a:picLocks noChangeAspect="1"/>
          </p:cNvPicPr>
          <p:nvPr/>
        </p:nvPicPr>
        <p:blipFill>
          <a:blip r:embed="rId1"/>
          <a:stretch>
            <a:fillRect/>
          </a:stretch>
        </p:blipFill>
        <p:spPr>
          <a:xfrm>
            <a:off x="548640" y="1371600"/>
            <a:ext cx="4572000" cy="4297680"/>
          </a:xfrm>
          <a:prstGeom prst="rect">
            <a:avLst/>
          </a:prstGeom>
        </p:spPr>
      </p:pic>
      <p:sp>
        <p:nvSpPr>
          <p:cNvPr id="4" name="frames"/>
          <p:cNvSpPr/>
          <p:nvPr/>
        </p:nvSpPr>
        <p:spPr>
          <a:xfrm>
            <a:off x="5486400" y="1371600"/>
            <a:ext cx="6126480" cy="1828800"/>
          </a:xfrm>
          <a:prstGeom prst="roundRect">
            <a:avLst>
              <a:gd name="adj" fmla="val 6000"/>
            </a:avLst>
          </a:prstGeom>
          <a:solidFill>
            <a:srgbClr val="FFFFFF"/>
          </a:solidFill>
          <a:ln w="19050">
            <a:solidFill>
              <a:srgbClr val="C9A227"/>
            </a:solidFill>
            <a:prstDash val="solid"/>
          </a:ln>
        </p:spPr>
      </p:sp>
      <p:sp>
        <p:nvSpPr>
          <p:cNvPr id="5" name="frame text"/>
          <p:cNvSpPr txBox="1"/>
          <p:nvPr/>
        </p:nvSpPr>
        <p:spPr>
          <a:xfrm>
            <a:off x="5715000" y="1554480"/>
            <a:ext cx="5669280" cy="1463040"/>
          </a:xfrm>
          <a:prstGeom prst="rect">
            <a:avLst/>
          </a:prstGeom>
          <a:noFill/>
          <a:ln/>
        </p:spPr>
        <p:txBody>
          <a:bodyPr wrap="square" lIns="0" tIns="0" rIns="0" bIns="0" rtlCol="0" anchor="t"/>
          <a:lstStyle/>
          <a:p>
            <a:pPr indent="0" marL="0">
              <a:spcAft>
                <a:spcPts val="600"/>
              </a:spcAft>
              <a:buNone/>
            </a:pPr>
            <a:r>
              <a:rPr lang="en-US" sz="2000" dirty="0">
                <a:solidFill>
                  <a:srgbClr val="1E2761"/>
                </a:solidFill>
                <a:latin typeface="Georgia" pitchFamily="34" charset="0"/>
                <a:ea typeface="Georgia" pitchFamily="34" charset="-122"/>
                <a:cs typeface="Georgia" pitchFamily="34" charset="-120"/>
              </a:rPr>
              <a:t>I see ______.</a:t>
            </a:r>
            <a:endParaRPr lang="en-US" sz="2000" dirty="0"/>
          </a:p>
          <a:p>
            <a:pPr indent="0" marL="0">
              <a:spcAft>
                <a:spcPts val="600"/>
              </a:spcAft>
              <a:buNone/>
            </a:pPr>
            <a:r>
              <a:rPr lang="en-US" sz="2000" dirty="0">
                <a:solidFill>
                  <a:srgbClr val="1E2761"/>
                </a:solidFill>
                <a:latin typeface="Georgia" pitchFamily="34" charset="0"/>
                <a:ea typeface="Georgia" pitchFamily="34" charset="-122"/>
                <a:cs typeface="Georgia" pitchFamily="34" charset="-120"/>
              </a:rPr>
              <a:t>It has ______.</a:t>
            </a:r>
            <a:endParaRPr lang="en-US" sz="2000" dirty="0"/>
          </a:p>
          <a:p>
            <a:pPr indent="0" marL="0">
              <a:spcAft>
                <a:spcPts val="600"/>
              </a:spcAft>
              <a:buNone/>
            </a:pPr>
            <a:r>
              <a:rPr lang="en-US" sz="2000" dirty="0">
                <a:solidFill>
                  <a:srgbClr val="1E2761"/>
                </a:solidFill>
                <a:latin typeface="Georgia" pitchFamily="34" charset="0"/>
                <a:ea typeface="Georgia" pitchFamily="34" charset="-122"/>
                <a:cs typeface="Georgia" pitchFamily="34" charset="-120"/>
              </a:rPr>
              <a:t>It looks ______ because ______.</a:t>
            </a:r>
            <a:endParaRPr lang="en-US" sz="2000" dirty="0"/>
          </a:p>
        </p:txBody>
      </p:sp>
      <p:sp>
        <p:nvSpPr>
          <p:cNvPr id="6" name="lanes"/>
          <p:cNvSpPr txBox="1"/>
          <p:nvPr/>
        </p:nvSpPr>
        <p:spPr>
          <a:xfrm>
            <a:off x="5486400" y="3383280"/>
            <a:ext cx="6126480" cy="1005840"/>
          </a:xfrm>
          <a:prstGeom prst="rect">
            <a:avLst/>
          </a:prstGeom>
          <a:noFill/>
          <a:ln/>
        </p:spPr>
        <p:txBody>
          <a:bodyPr wrap="square" lIns="0" tIns="0" rIns="0" bIns="0" rtlCol="0" anchor="ctr"/>
          <a:lstStyle/>
          <a:p>
            <a:pPr indent="0" marL="0">
              <a:buNone/>
            </a:pPr>
            <a:r>
              <a:rPr lang="en-US" sz="1500" dirty="0">
                <a:solidFill>
                  <a:srgbClr val="5B6078"/>
                </a:solidFill>
              </a:rPr>
              <a:t>Newcomer: three words. Emerging: three sentences. Progressing / Challenge: describe it and guess how it tastes, with because.</a:t>
            </a:r>
            <a:endParaRPr lang="en-US" sz="1500" dirty="0"/>
          </a:p>
        </p:txBody>
      </p:sp>
      <p:sp>
        <p:nvSpPr>
          <p:cNvPr id="7" name="sayback"/>
          <p:cNvSpPr txBox="1"/>
          <p:nvPr/>
        </p:nvSpPr>
        <p:spPr>
          <a:xfrm>
            <a:off x="5486400" y="4480560"/>
            <a:ext cx="6126480" cy="457200"/>
          </a:xfrm>
          <a:prstGeom prst="rect">
            <a:avLst/>
          </a:prstGeom>
          <a:noFill/>
          <a:ln/>
        </p:spPr>
        <p:txBody>
          <a:bodyPr wrap="square" lIns="0" tIns="0" rIns="0" bIns="0" rtlCol="0" anchor="ctr"/>
          <a:lstStyle/>
          <a:p>
            <a:pPr indent="0" marL="0">
              <a:buNone/>
            </a:pPr>
            <a:r>
              <a:rPr lang="en-US" sz="2000" b="1" dirty="0">
                <a:solidFill>
                  <a:srgbClr val="17606F"/>
                </a:solidFill>
              </a:rPr>
              <a:t>Say-it-back: "You said ______."</a:t>
            </a:r>
            <a:endParaRPr lang="en-US" sz="2000" dirty="0"/>
          </a:p>
        </p:txBody>
      </p:sp>
      <p:sp>
        <p:nvSpPr>
          <p:cNvPr id="8" name="timer badge"/>
          <p:cNvSpPr/>
          <p:nvPr/>
        </p:nvSpPr>
        <p:spPr>
          <a:xfrm>
            <a:off x="9235440" y="5029200"/>
            <a:ext cx="2468880" cy="1051560"/>
          </a:xfrm>
          <a:prstGeom prst="roundRect">
            <a:avLst>
              <a:gd name="adj" fmla="val 13043"/>
            </a:avLst>
          </a:prstGeom>
          <a:solidFill>
            <a:srgbClr val="1E2761"/>
          </a:solidFill>
          <a:ln w="25400">
            <a:solidFill>
              <a:srgbClr val="C9A227"/>
            </a:solidFill>
            <a:prstDash val="solid"/>
          </a:ln>
        </p:spPr>
      </p:sp>
      <p:pic>
        <p:nvPicPr>
          <p:cNvPr id="9" name="clock" descr="preencoded.png">    </p:cNvPr>
          <p:cNvPicPr>
            <a:picLocks noChangeAspect="1"/>
          </p:cNvPicPr>
          <p:nvPr/>
        </p:nvPicPr>
        <p:blipFill>
          <a:blip r:embed="rId2"/>
          <a:stretch>
            <a:fillRect/>
          </a:stretch>
        </p:blipFill>
        <p:spPr>
          <a:xfrm>
            <a:off x="9372600" y="5285232"/>
            <a:ext cx="548640" cy="548640"/>
          </a:xfrm>
          <a:prstGeom prst="rect">
            <a:avLst/>
          </a:prstGeom>
        </p:spPr>
      </p:pic>
      <p:sp>
        <p:nvSpPr>
          <p:cNvPr id="10" name="timer link"/>
          <p:cNvSpPr txBox="1"/>
          <p:nvPr/>
        </p:nvSpPr>
        <p:spPr>
          <a:xfrm>
            <a:off x="9966960" y="5120640"/>
            <a:ext cx="1691640" cy="868680"/>
          </a:xfrm>
          <a:prstGeom prst="rect">
            <a:avLst/>
          </a:prstGeom>
          <a:noFill/>
          <a:ln/>
        </p:spPr>
        <p:txBody>
          <a:bodyPr wrap="square" lIns="0" tIns="0" rIns="0" bIns="0" rtlCol="0" anchor="ctr"/>
          <a:lstStyle/>
          <a:p>
            <a:pPr indent="0" marL="0">
              <a:buNone/>
            </a:pPr>
            <a:r>
              <a:rPr lang="en-US" sz="3000" b="1" u="sng" dirty="0">
                <a:solidFill>
                  <a:srgbClr val="FFFFFF"/>
                </a:solidFill>
                <a:hlinkClick r:id="rId3" invalidUrl="" action="" tgtFrame="" tooltip="" history="1" highlightClick="0" endSnd="0">
                  <a:extLst>
                    <a:ext uri="{A12FA001-AC4F-418D-AE19-62706E023703}">
                      <ahyp:hlinkClr xmlns:ahyp="http://schemas.microsoft.com/office/drawing/2018/hyperlinkcolor" val="tx"/>
                    </a:ext>
                  </a:extLst>
                </a:hlinkClick>
              </a:rPr>
              <a:t>4:00</a:t>
            </a:r>
            <a:endParaRPr lang="en-US" sz="3000" dirty="0"/>
          </a:p>
          <a:p>
            <a:pPr indent="0" marL="0">
              <a:buNone/>
            </a:pPr>
            <a:r>
              <a:rPr lang="en-US" sz="900" u="sng" dirty="0">
                <a:solidFill>
                  <a:srgbClr val="C9CEEA"/>
                </a:solidFill>
                <a:hlinkClick r:id="rId4" invalidUrl="" action="" tgtFrame="" tooltip="" history="1" highlightClick="0" endSnd="0">
                  <a:extLst>
                    <a:ext uri="{A12FA001-AC4F-418D-AE19-62706E023703}">
                      <ahyp:hlinkClr xmlns:ahyp="http://schemas.microsoft.com/office/drawing/2018/hyperlinkcolor" val="tx"/>
                    </a:ext>
                  </a:extLst>
                </a:hlinkClick>
              </a:rPr>
              <a:t>click to start timer</a:t>
            </a:r>
            <a:endParaRPr lang="en-US" sz="3000" dirty="0"/>
          </a:p>
        </p:txBody>
      </p:sp>
      <p:sp>
        <p:nvSpPr>
          <p:cNvPr id="12" name="Text 3"/>
          <p:cNvSpPr/>
          <p:nvPr>
            <p:ph idx="104" type="body" hasCustomPrompt="1"/>
          </p:nvPr>
        </p:nvSpPr>
        <p:spPr>
          <a:xfrm>
            <a:off x="548640" y="1463040"/>
            <a:ext cx="7315200" cy="457200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078"/>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3" type="title" hasCustomPrompt="1"/>
          </p:nvPr>
        </p:nvSpPr>
        <p:spPr>
          <a:xfrm>
            <a:off x="548640" y="411480"/>
            <a:ext cx="11064240" cy="914400"/>
          </a:xfrm>
          <a:prstGeom prst="rect">
            <a:avLst/>
          </a:prstGeom>
          <a:noFill/>
          <a:ln/>
        </p:spPr>
        <p:txBody>
          <a:bodyPr wrap="square" lIns="0" tIns="0" rIns="0" bIns="0" rtlCol="0"/>
          <a:lstStyle/>
          <a:p>
            <a:pPr indent="0" marL="0">
              <a:buNone/>
            </a:pPr>
            <a:r>
              <a:rPr lang="en-US" sz="3600" b="1" dirty="0">
                <a:solidFill>
                  <a:srgbClr val="1E2761"/>
                </a:solidFill>
              </a:rPr>
              <a:t>S3 · Classroom chat</a:t>
            </a:r>
            <a:endParaRPr lang="en-US" sz="3600" dirty="0"/>
          </a:p>
        </p:txBody>
      </p:sp>
      <p:sp>
        <p:nvSpPr>
          <p:cNvPr id="3" name="Text 3"/>
          <p:cNvSpPr/>
          <p:nvPr>
            <p:ph idx="104" type="body" hasCustomPrompt="1"/>
          </p:nvPr>
        </p:nvSpPr>
        <p:spPr>
          <a:xfrm>
            <a:off x="548640" y="1463040"/>
            <a:ext cx="7315200" cy="45720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F2340"/>
                </a:solidFill>
              </a:rPr>
              <a:t>Which pie would you like to try? Why?</a:t>
            </a:r>
            <a:endParaRPr lang="en-US" sz="2000" dirty="0"/>
          </a:p>
          <a:p>
            <a:pPr marL="342900" indent="-342900">
              <a:spcAft>
                <a:spcPts val="800"/>
              </a:spcAft>
              <a:buSzPct val="100000"/>
              <a:buChar char="•"/>
            </a:pPr>
            <a:r>
              <a:rPr lang="en-US" sz="2000" dirty="0">
                <a:solidFill>
                  <a:srgbClr val="1F2340"/>
                </a:solidFill>
              </a:rPr>
              <a:t>Is there a dessert like this in your family or your country? What is in it?</a:t>
            </a:r>
            <a:endParaRPr lang="en-US" sz="2000" dirty="0"/>
          </a:p>
          <a:p>
            <a:pPr marL="342900" indent="-342900">
              <a:spcAft>
                <a:spcPts val="800"/>
              </a:spcAft>
              <a:buSzPct val="100000"/>
              <a:buChar char="•"/>
            </a:pPr>
            <a:r>
              <a:rPr lang="en-US" sz="2000" dirty="0">
                <a:solidFill>
                  <a:srgbClr val="1F2340"/>
                </a:solidFill>
              </a:rPr>
              <a:t>Which pie do you think is the easiest to make? Why?</a:t>
            </a:r>
            <a:endParaRPr lang="en-US" sz="2000" dirty="0"/>
          </a:p>
        </p:txBody>
      </p:sp>
      <p:sp>
        <p:nvSpPr>
          <p:cNvPr id="4" name="frames"/>
          <p:cNvSpPr/>
          <p:nvPr/>
        </p:nvSpPr>
        <p:spPr>
          <a:xfrm>
            <a:off x="548640" y="4206240"/>
            <a:ext cx="7863840" cy="1828800"/>
          </a:xfrm>
          <a:prstGeom prst="roundRect">
            <a:avLst>
              <a:gd name="adj" fmla="val 6000"/>
            </a:avLst>
          </a:prstGeom>
          <a:solidFill>
            <a:srgbClr val="FFFFFF"/>
          </a:solidFill>
          <a:ln w="19050">
            <a:solidFill>
              <a:srgbClr val="C9A227"/>
            </a:solidFill>
            <a:prstDash val="solid"/>
          </a:ln>
        </p:spPr>
      </p:sp>
      <p:sp>
        <p:nvSpPr>
          <p:cNvPr id="5" name="frame text"/>
          <p:cNvSpPr txBox="1"/>
          <p:nvPr/>
        </p:nvSpPr>
        <p:spPr>
          <a:xfrm>
            <a:off x="777240" y="4389120"/>
            <a:ext cx="7406640" cy="1463040"/>
          </a:xfrm>
          <a:prstGeom prst="rect">
            <a:avLst/>
          </a:prstGeom>
          <a:noFill/>
          <a:ln/>
        </p:spPr>
        <p:txBody>
          <a:bodyPr wrap="square" lIns="0" tIns="0" rIns="0" bIns="0" rtlCol="0" anchor="t"/>
          <a:lstStyle/>
          <a:p>
            <a:pPr indent="0" marL="0">
              <a:spcAft>
                <a:spcPts val="600"/>
              </a:spcAft>
              <a:buNone/>
            </a:pPr>
            <a:r>
              <a:rPr lang="en-US" sz="2000" dirty="0">
                <a:solidFill>
                  <a:srgbClr val="1E2761"/>
                </a:solidFill>
                <a:latin typeface="Georgia" pitchFamily="34" charset="0"/>
                <a:ea typeface="Georgia" pitchFamily="34" charset="-122"/>
                <a:cs typeface="Georgia" pitchFamily="34" charset="-120"/>
              </a:rPr>
              <a:t>I would like to try ______ because ______.</a:t>
            </a:r>
            <a:endParaRPr lang="en-US" sz="2000" dirty="0"/>
          </a:p>
          <a:p>
            <a:pPr indent="0" marL="0">
              <a:spcAft>
                <a:spcPts val="600"/>
              </a:spcAft>
              <a:buNone/>
            </a:pPr>
            <a:r>
              <a:rPr lang="en-US" sz="2000" dirty="0">
                <a:solidFill>
                  <a:srgbClr val="1E2761"/>
                </a:solidFill>
                <a:latin typeface="Georgia" pitchFamily="34" charset="0"/>
                <a:ea typeface="Georgia" pitchFamily="34" charset="-122"/>
                <a:cs typeface="Georgia" pitchFamily="34" charset="-120"/>
              </a:rPr>
              <a:t>In my family we make ______. It has ______.</a:t>
            </a:r>
            <a:endParaRPr lang="en-US" sz="2000" dirty="0"/>
          </a:p>
          <a:p>
            <a:pPr indent="0" marL="0">
              <a:spcAft>
                <a:spcPts val="600"/>
              </a:spcAft>
              <a:buNone/>
            </a:pPr>
            <a:r>
              <a:rPr lang="en-US" sz="2000" dirty="0">
                <a:solidFill>
                  <a:srgbClr val="1E2761"/>
                </a:solidFill>
                <a:latin typeface="Georgia" pitchFamily="34" charset="0"/>
                <a:ea typeface="Georgia" pitchFamily="34" charset="-122"/>
                <a:cs typeface="Georgia" pitchFamily="34" charset="-120"/>
              </a:rPr>
              <a:t>My partner said ______.</a:t>
            </a:r>
            <a:endParaRPr lang="en-US" sz="2000" dirty="0"/>
          </a:p>
        </p:txBody>
      </p:sp>
      <p:sp>
        <p:nvSpPr>
          <p:cNvPr id="6" name="timer badge"/>
          <p:cNvSpPr/>
          <p:nvPr/>
        </p:nvSpPr>
        <p:spPr>
          <a:xfrm>
            <a:off x="9235440" y="1371600"/>
            <a:ext cx="2468880" cy="1051560"/>
          </a:xfrm>
          <a:prstGeom prst="roundRect">
            <a:avLst>
              <a:gd name="adj" fmla="val 13043"/>
            </a:avLst>
          </a:prstGeom>
          <a:solidFill>
            <a:srgbClr val="1E2761"/>
          </a:solidFill>
          <a:ln w="25400">
            <a:solidFill>
              <a:srgbClr val="C9A227"/>
            </a:solidFill>
            <a:prstDash val="solid"/>
          </a:ln>
        </p:spPr>
      </p:sp>
      <p:pic>
        <p:nvPicPr>
          <p:cNvPr id="7" name="clock" descr="preencoded.png">    </p:cNvPr>
          <p:cNvPicPr>
            <a:picLocks noChangeAspect="1"/>
          </p:cNvPicPr>
          <p:nvPr/>
        </p:nvPicPr>
        <p:blipFill>
          <a:blip r:embed="rId1"/>
          <a:stretch>
            <a:fillRect/>
          </a:stretch>
        </p:blipFill>
        <p:spPr>
          <a:xfrm>
            <a:off x="9372600" y="1627632"/>
            <a:ext cx="548640" cy="548640"/>
          </a:xfrm>
          <a:prstGeom prst="rect">
            <a:avLst/>
          </a:prstGeom>
        </p:spPr>
      </p:pic>
      <p:sp>
        <p:nvSpPr>
          <p:cNvPr id="8" name="timer link"/>
          <p:cNvSpPr txBox="1"/>
          <p:nvPr/>
        </p:nvSpPr>
        <p:spPr>
          <a:xfrm>
            <a:off x="9966960" y="1463040"/>
            <a:ext cx="1691640" cy="868680"/>
          </a:xfrm>
          <a:prstGeom prst="rect">
            <a:avLst/>
          </a:prstGeom>
          <a:noFill/>
          <a:ln/>
        </p:spPr>
        <p:txBody>
          <a:bodyPr wrap="square" lIns="0" tIns="0" rIns="0" bIns="0" rtlCol="0" anchor="ctr"/>
          <a:lstStyle/>
          <a:p>
            <a:pPr indent="0" marL="0">
              <a:buNone/>
            </a:pPr>
            <a:r>
              <a:rPr lang="en-US" sz="3000" b="1" u="sng" dirty="0">
                <a:solidFill>
                  <a:srgbClr val="FFFFFF"/>
                </a:solidFill>
                <a:hlinkClick r:id="rId2" invalidUrl="" action="" tgtFrame="" tooltip="" history="1" highlightClick="0" endSnd="0">
                  <a:extLst>
                    <a:ext uri="{A12FA001-AC4F-418D-AE19-62706E023703}">
                      <ahyp:hlinkClr xmlns:ahyp="http://schemas.microsoft.com/office/drawing/2018/hyperlinkcolor" val="tx"/>
                    </a:ext>
                  </a:extLst>
                </a:hlinkClick>
              </a:rPr>
              <a:t>6:00</a:t>
            </a:r>
            <a:endParaRPr lang="en-US" sz="3000" dirty="0"/>
          </a:p>
          <a:p>
            <a:pPr indent="0" marL="0">
              <a:buNone/>
            </a:pPr>
            <a:r>
              <a:rPr lang="en-US" sz="900" u="sng" dirty="0">
                <a:solidFill>
                  <a:srgbClr val="C9CEEA"/>
                </a:solidFill>
                <a:hlinkClick r:id="rId3" invalidUrl="" action="" tgtFrame="" tooltip="" history="1" highlightClick="0" endSnd="0">
                  <a:extLst>
                    <a:ext uri="{A12FA001-AC4F-418D-AE19-62706E023703}">
                      <ahyp:hlinkClr xmlns:ahyp="http://schemas.microsoft.com/office/drawing/2018/hyperlinkcolor" val="tx"/>
                    </a:ext>
                  </a:extLst>
                </a:hlinkClick>
              </a:rPr>
              <a:t>click to start timer</a:t>
            </a:r>
            <a:endParaRPr lang="en-US" sz="3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078"/>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me range"/>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spc="300" kern="0" dirty="0">
                <a:solidFill>
                  <a:srgbClr val="C9A227"/>
                </a:solidFill>
              </a:rPr>
              <a:t>60–80 min</a:t>
            </a:r>
            <a:endParaRPr lang="en-US" sz="1400" dirty="0"/>
          </a:p>
        </p:txBody>
      </p:sp>
      <p:sp>
        <p:nvSpPr>
          <p:cNvPr id="3" name="segment title"/>
          <p:cNvSpPr txBox="1"/>
          <p:nvPr/>
        </p:nvSpPr>
        <p:spPr>
          <a:xfrm>
            <a:off x="548640" y="914400"/>
            <a:ext cx="8503920" cy="146304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Three things on the page first.</a:t>
            </a:r>
            <a:endParaRPr lang="en-US" sz="4800" dirty="0"/>
          </a:p>
        </p:txBody>
      </p:sp>
      <p:sp>
        <p:nvSpPr>
          <p:cNvPr id="4" name="segment sub"/>
          <p:cNvSpPr txBox="1"/>
          <p:nvPr/>
        </p:nvSpPr>
        <p:spPr>
          <a:xfrm>
            <a:off x="548640" y="2468880"/>
            <a:ext cx="8229600" cy="1097280"/>
          </a:xfrm>
          <a:prstGeom prst="rect">
            <a:avLst/>
          </a:prstGeom>
          <a:noFill/>
          <a:ln/>
        </p:spPr>
        <p:txBody>
          <a:bodyPr wrap="square" lIns="0" tIns="0" rIns="0" bIns="0" rtlCol="0" anchor="ctr"/>
          <a:lstStyle/>
          <a:p>
            <a:pPr indent="0" marL="0">
              <a:buNone/>
            </a:pPr>
            <a:r>
              <a:rPr lang="en-US" sz="2000" dirty="0">
                <a:solidFill>
                  <a:srgbClr val="C9CEEA"/>
                </a:solidFill>
              </a:rPr>
              <a:t>Word bank · frame · model. Then write for your lane.</a:t>
            </a:r>
            <a:endParaRPr lang="en-US" sz="2000" dirty="0"/>
          </a:p>
        </p:txBody>
      </p:sp>
      <p:pic>
        <p:nvPicPr>
          <p:cNvPr id="5" name="segment icon" descr="preencoded.png">    </p:cNvPr>
          <p:cNvPicPr>
            <a:picLocks noChangeAspect="1"/>
          </p:cNvPicPr>
          <p:nvPr/>
        </p:nvPicPr>
        <p:blipFill>
          <a:blip r:embed="rId1"/>
          <a:stretch>
            <a:fillRect/>
          </a:stretch>
        </p:blipFill>
        <p:spPr>
          <a:xfrm>
            <a:off x="548640" y="3931920"/>
            <a:ext cx="1188720" cy="1188720"/>
          </a:xfrm>
          <a:prstGeom prst="rect">
            <a:avLst/>
          </a:prstGeom>
        </p:spPr>
      </p:pic>
      <p:sp>
        <p:nvSpPr>
          <p:cNvPr id="6" name="timer badge"/>
          <p:cNvSpPr/>
          <p:nvPr/>
        </p:nvSpPr>
        <p:spPr>
          <a:xfrm>
            <a:off x="9235440" y="457200"/>
            <a:ext cx="2468880" cy="1051560"/>
          </a:xfrm>
          <a:prstGeom prst="roundRect">
            <a:avLst>
              <a:gd name="adj" fmla="val 13043"/>
            </a:avLst>
          </a:prstGeom>
          <a:solidFill>
            <a:srgbClr val="1E2761"/>
          </a:solidFill>
          <a:ln w="25400">
            <a:solidFill>
              <a:srgbClr val="C9A227"/>
            </a:solidFill>
            <a:prstDash val="solid"/>
          </a:ln>
        </p:spPr>
      </p:sp>
      <p:pic>
        <p:nvPicPr>
          <p:cNvPr id="7" name="clock" descr="preencoded.png">    </p:cNvPr>
          <p:cNvPicPr>
            <a:picLocks noChangeAspect="1"/>
          </p:cNvPicPr>
          <p:nvPr/>
        </p:nvPicPr>
        <p:blipFill>
          <a:blip r:embed="rId2"/>
          <a:stretch>
            <a:fillRect/>
          </a:stretch>
        </p:blipFill>
        <p:spPr>
          <a:xfrm>
            <a:off x="9372600" y="713232"/>
            <a:ext cx="548640" cy="548640"/>
          </a:xfrm>
          <a:prstGeom prst="rect">
            <a:avLst/>
          </a:prstGeom>
        </p:spPr>
      </p:pic>
      <p:sp>
        <p:nvSpPr>
          <p:cNvPr id="8" name="timer link"/>
          <p:cNvSpPr txBox="1"/>
          <p:nvPr/>
        </p:nvSpPr>
        <p:spPr>
          <a:xfrm>
            <a:off x="9966960" y="548640"/>
            <a:ext cx="1691640" cy="868680"/>
          </a:xfrm>
          <a:prstGeom prst="rect">
            <a:avLst/>
          </a:prstGeom>
          <a:noFill/>
          <a:ln/>
        </p:spPr>
        <p:txBody>
          <a:bodyPr wrap="square" lIns="0" tIns="0" rIns="0" bIns="0" rtlCol="0" anchor="ctr"/>
          <a:lstStyle/>
          <a:p>
            <a:pPr indent="0" marL="0">
              <a:buNone/>
            </a:pPr>
            <a:r>
              <a:rPr lang="en-US" sz="3000" b="1" u="sng" dirty="0">
                <a:solidFill>
                  <a:srgbClr val="FFFFFF"/>
                </a:solidFill>
                <a:hlinkClick r:id="rId3" invalidUrl="" action="" tgtFrame="" tooltip="" history="1" highlightClick="0" endSnd="0">
                  <a:extLst>
                    <a:ext uri="{A12FA001-AC4F-418D-AE19-62706E023703}">
                      <ahyp:hlinkClr xmlns:ahyp="http://schemas.microsoft.com/office/drawing/2018/hyperlinkcolor" val="tx"/>
                    </a:ext>
                  </a:extLst>
                </a:hlinkClick>
              </a:rPr>
              <a:t>20:00</a:t>
            </a:r>
            <a:endParaRPr lang="en-US" sz="3000" dirty="0"/>
          </a:p>
          <a:p>
            <a:pPr indent="0" marL="0">
              <a:buNone/>
            </a:pPr>
            <a:r>
              <a:rPr lang="en-US" sz="900" u="sng" dirty="0">
                <a:solidFill>
                  <a:srgbClr val="C9CEEA"/>
                </a:solidFill>
                <a:hlinkClick r:id="rId4" invalidUrl="" action="" tgtFrame="" tooltip="" history="1" highlightClick="0" endSnd="0">
                  <a:extLst>
                    <a:ext uri="{A12FA001-AC4F-418D-AE19-62706E023703}">
                      <ahyp:hlinkClr xmlns:ahyp="http://schemas.microsoft.com/office/drawing/2018/hyperlinkcolor" val="tx"/>
                    </a:ext>
                  </a:extLst>
                </a:hlinkClick>
              </a:rPr>
              <a:t>click to start timer</a:t>
            </a:r>
            <a:endParaRPr lang="en-US" sz="3000" dirty="0"/>
          </a:p>
        </p:txBody>
      </p:sp>
      <p:sp>
        <p:nvSpPr>
          <p:cNvPr id="9" name="agenda Open"/>
          <p:cNvSpPr/>
          <p:nvPr/>
        </p:nvSpPr>
        <p:spPr>
          <a:xfrm>
            <a:off x="548640" y="5577840"/>
            <a:ext cx="587248" cy="384048"/>
          </a:xfrm>
          <a:prstGeom prst="rect">
            <a:avLst/>
          </a:prstGeom>
          <a:solidFill>
            <a:srgbClr val="2B3470"/>
          </a:solidFill>
          <a:ln w="12700">
            <a:solidFill>
              <a:srgbClr val="1E2761"/>
            </a:solidFill>
            <a:prstDash val="solid"/>
          </a:ln>
        </p:spPr>
      </p:sp>
      <p:sp>
        <p:nvSpPr>
          <p:cNvPr id="10" name="agenda Five words"/>
          <p:cNvSpPr/>
          <p:nvPr/>
        </p:nvSpPr>
        <p:spPr>
          <a:xfrm>
            <a:off x="1163320" y="5577840"/>
            <a:ext cx="833120" cy="384048"/>
          </a:xfrm>
          <a:prstGeom prst="rect">
            <a:avLst/>
          </a:prstGeom>
          <a:solidFill>
            <a:srgbClr val="2B3470"/>
          </a:solidFill>
          <a:ln w="12700">
            <a:solidFill>
              <a:srgbClr val="1E2761"/>
            </a:solidFill>
            <a:prstDash val="solid"/>
          </a:ln>
        </p:spPr>
      </p:sp>
      <p:sp>
        <p:nvSpPr>
          <p:cNvPr id="11" name="agenda label Five words"/>
          <p:cNvSpPr txBox="1"/>
          <p:nvPr/>
        </p:nvSpPr>
        <p:spPr>
          <a:xfrm>
            <a:off x="1163320" y="5577840"/>
            <a:ext cx="833120" cy="384048"/>
          </a:xfrm>
          <a:prstGeom prst="rect">
            <a:avLst/>
          </a:prstGeom>
          <a:noFill/>
          <a:ln/>
        </p:spPr>
        <p:txBody>
          <a:bodyPr wrap="square" lIns="0" tIns="0" rIns="0" bIns="0" rtlCol="0" anchor="ctr"/>
          <a:lstStyle/>
          <a:p>
            <a:pPr algn="ctr" indent="0" marL="0">
              <a:buNone/>
            </a:pPr>
            <a:r>
              <a:rPr lang="en-US" sz="900" dirty="0">
                <a:solidFill>
                  <a:srgbClr val="AEB5DA"/>
                </a:solidFill>
              </a:rPr>
              <a:t>Five words</a:t>
            </a:r>
            <a:endParaRPr lang="en-US" sz="900" dirty="0"/>
          </a:p>
        </p:txBody>
      </p:sp>
      <p:sp>
        <p:nvSpPr>
          <p:cNvPr id="12" name="agenda Cognates"/>
          <p:cNvSpPr/>
          <p:nvPr/>
        </p:nvSpPr>
        <p:spPr>
          <a:xfrm>
            <a:off x="2023872" y="5577840"/>
            <a:ext cx="710184" cy="384048"/>
          </a:xfrm>
          <a:prstGeom prst="rect">
            <a:avLst/>
          </a:prstGeom>
          <a:solidFill>
            <a:srgbClr val="2B3470"/>
          </a:solidFill>
          <a:ln w="12700">
            <a:solidFill>
              <a:srgbClr val="1E2761"/>
            </a:solidFill>
            <a:prstDash val="solid"/>
          </a:ln>
        </p:spPr>
      </p:sp>
      <p:sp>
        <p:nvSpPr>
          <p:cNvPr id="13" name="agenda label Cognates"/>
          <p:cNvSpPr txBox="1"/>
          <p:nvPr/>
        </p:nvSpPr>
        <p:spPr>
          <a:xfrm>
            <a:off x="2023872" y="5577840"/>
            <a:ext cx="710184" cy="384048"/>
          </a:xfrm>
          <a:prstGeom prst="rect">
            <a:avLst/>
          </a:prstGeom>
          <a:noFill/>
          <a:ln/>
        </p:spPr>
        <p:txBody>
          <a:bodyPr wrap="square" lIns="0" tIns="0" rIns="0" bIns="0" rtlCol="0" anchor="ctr"/>
          <a:lstStyle/>
          <a:p>
            <a:pPr algn="ctr" indent="0" marL="0">
              <a:buNone/>
            </a:pPr>
            <a:r>
              <a:rPr lang="en-US" sz="900" dirty="0">
                <a:solidFill>
                  <a:srgbClr val="AEB5DA"/>
                </a:solidFill>
              </a:rPr>
              <a:t>Cognates</a:t>
            </a:r>
            <a:endParaRPr lang="en-US" sz="900" dirty="0"/>
          </a:p>
        </p:txBody>
      </p:sp>
      <p:sp>
        <p:nvSpPr>
          <p:cNvPr id="14" name="agenda Listening"/>
          <p:cNvSpPr/>
          <p:nvPr/>
        </p:nvSpPr>
        <p:spPr>
          <a:xfrm>
            <a:off x="2761488" y="5577840"/>
            <a:ext cx="1816608" cy="384048"/>
          </a:xfrm>
          <a:prstGeom prst="rect">
            <a:avLst/>
          </a:prstGeom>
          <a:solidFill>
            <a:srgbClr val="2B3470"/>
          </a:solidFill>
          <a:ln w="12700">
            <a:solidFill>
              <a:srgbClr val="1E2761"/>
            </a:solidFill>
            <a:prstDash val="solid"/>
          </a:ln>
        </p:spPr>
      </p:sp>
      <p:sp>
        <p:nvSpPr>
          <p:cNvPr id="15" name="agenda label Listening"/>
          <p:cNvSpPr txBox="1"/>
          <p:nvPr/>
        </p:nvSpPr>
        <p:spPr>
          <a:xfrm>
            <a:off x="2761488" y="5577840"/>
            <a:ext cx="1816608" cy="384048"/>
          </a:xfrm>
          <a:prstGeom prst="rect">
            <a:avLst/>
          </a:prstGeom>
          <a:noFill/>
          <a:ln/>
        </p:spPr>
        <p:txBody>
          <a:bodyPr wrap="square" lIns="0" tIns="0" rIns="0" bIns="0" rtlCol="0" anchor="ctr"/>
          <a:lstStyle/>
          <a:p>
            <a:pPr algn="ctr" indent="0" marL="0">
              <a:buNone/>
            </a:pPr>
            <a:r>
              <a:rPr lang="en-US" sz="900" dirty="0">
                <a:solidFill>
                  <a:srgbClr val="AEB5DA"/>
                </a:solidFill>
              </a:rPr>
              <a:t>Listening</a:t>
            </a:r>
            <a:endParaRPr lang="en-US" sz="900" dirty="0"/>
          </a:p>
        </p:txBody>
      </p:sp>
      <p:sp>
        <p:nvSpPr>
          <p:cNvPr id="16" name="agenda Reading"/>
          <p:cNvSpPr/>
          <p:nvPr/>
        </p:nvSpPr>
        <p:spPr>
          <a:xfrm>
            <a:off x="4605528" y="5577840"/>
            <a:ext cx="2062480" cy="384048"/>
          </a:xfrm>
          <a:prstGeom prst="rect">
            <a:avLst/>
          </a:prstGeom>
          <a:solidFill>
            <a:srgbClr val="2B3470"/>
          </a:solidFill>
          <a:ln w="12700">
            <a:solidFill>
              <a:srgbClr val="1E2761"/>
            </a:solidFill>
            <a:prstDash val="solid"/>
          </a:ln>
        </p:spPr>
      </p:sp>
      <p:sp>
        <p:nvSpPr>
          <p:cNvPr id="17" name="agenda label Reading"/>
          <p:cNvSpPr txBox="1"/>
          <p:nvPr/>
        </p:nvSpPr>
        <p:spPr>
          <a:xfrm>
            <a:off x="4605528" y="5577840"/>
            <a:ext cx="2062480" cy="384048"/>
          </a:xfrm>
          <a:prstGeom prst="rect">
            <a:avLst/>
          </a:prstGeom>
          <a:noFill/>
          <a:ln/>
        </p:spPr>
        <p:txBody>
          <a:bodyPr wrap="square" lIns="0" tIns="0" rIns="0" bIns="0" rtlCol="0" anchor="ctr"/>
          <a:lstStyle/>
          <a:p>
            <a:pPr algn="ctr" indent="0" marL="0">
              <a:buNone/>
            </a:pPr>
            <a:r>
              <a:rPr lang="en-US" sz="900" dirty="0">
                <a:solidFill>
                  <a:srgbClr val="AEB5DA"/>
                </a:solidFill>
              </a:rPr>
              <a:t>Reading</a:t>
            </a:r>
            <a:endParaRPr lang="en-US" sz="900" dirty="0"/>
          </a:p>
        </p:txBody>
      </p:sp>
      <p:sp>
        <p:nvSpPr>
          <p:cNvPr id="18" name="agenda Talk"/>
          <p:cNvSpPr/>
          <p:nvPr/>
        </p:nvSpPr>
        <p:spPr>
          <a:xfrm>
            <a:off x="6695440" y="5577840"/>
            <a:ext cx="1201928" cy="384048"/>
          </a:xfrm>
          <a:prstGeom prst="rect">
            <a:avLst/>
          </a:prstGeom>
          <a:solidFill>
            <a:srgbClr val="2B3470"/>
          </a:solidFill>
          <a:ln w="12700">
            <a:solidFill>
              <a:srgbClr val="1E2761"/>
            </a:solidFill>
            <a:prstDash val="solid"/>
          </a:ln>
        </p:spPr>
      </p:sp>
      <p:sp>
        <p:nvSpPr>
          <p:cNvPr id="19" name="agenda label Talk"/>
          <p:cNvSpPr txBox="1"/>
          <p:nvPr/>
        </p:nvSpPr>
        <p:spPr>
          <a:xfrm>
            <a:off x="6695440" y="5577840"/>
            <a:ext cx="1201928" cy="384048"/>
          </a:xfrm>
          <a:prstGeom prst="rect">
            <a:avLst/>
          </a:prstGeom>
          <a:noFill/>
          <a:ln/>
        </p:spPr>
        <p:txBody>
          <a:bodyPr wrap="square" lIns="0" tIns="0" rIns="0" bIns="0" rtlCol="0" anchor="ctr"/>
          <a:lstStyle/>
          <a:p>
            <a:pPr algn="ctr" indent="0" marL="0">
              <a:buNone/>
            </a:pPr>
            <a:r>
              <a:rPr lang="en-US" sz="900" dirty="0">
                <a:solidFill>
                  <a:srgbClr val="AEB5DA"/>
                </a:solidFill>
              </a:rPr>
              <a:t>Talk</a:t>
            </a:r>
            <a:endParaRPr lang="en-US" sz="900" dirty="0"/>
          </a:p>
        </p:txBody>
      </p:sp>
      <p:sp>
        <p:nvSpPr>
          <p:cNvPr id="20" name="agenda Writing"/>
          <p:cNvSpPr/>
          <p:nvPr/>
        </p:nvSpPr>
        <p:spPr>
          <a:xfrm>
            <a:off x="7924800" y="5577840"/>
            <a:ext cx="2431288" cy="384048"/>
          </a:xfrm>
          <a:prstGeom prst="rect">
            <a:avLst/>
          </a:prstGeom>
          <a:solidFill>
            <a:srgbClr val="C9A227"/>
          </a:solidFill>
          <a:ln w="12700">
            <a:solidFill>
              <a:srgbClr val="1E2761"/>
            </a:solidFill>
            <a:prstDash val="solid"/>
          </a:ln>
        </p:spPr>
      </p:sp>
      <p:sp>
        <p:nvSpPr>
          <p:cNvPr id="21" name="agenda label Writing"/>
          <p:cNvSpPr txBox="1"/>
          <p:nvPr/>
        </p:nvSpPr>
        <p:spPr>
          <a:xfrm>
            <a:off x="7924800" y="5577840"/>
            <a:ext cx="2431288" cy="384048"/>
          </a:xfrm>
          <a:prstGeom prst="rect">
            <a:avLst/>
          </a:prstGeom>
          <a:noFill/>
          <a:ln/>
        </p:spPr>
        <p:txBody>
          <a:bodyPr wrap="square" lIns="0" tIns="0" rIns="0" bIns="0" rtlCol="0" anchor="ctr"/>
          <a:lstStyle/>
          <a:p>
            <a:pPr algn="ctr" indent="0" marL="0">
              <a:buNone/>
            </a:pPr>
            <a:r>
              <a:rPr lang="en-US" sz="900" dirty="0">
                <a:solidFill>
                  <a:srgbClr val="1E2761"/>
                </a:solidFill>
              </a:rPr>
              <a:t>Writing</a:t>
            </a:r>
            <a:endParaRPr lang="en-US" sz="900" dirty="0"/>
          </a:p>
        </p:txBody>
      </p:sp>
      <p:sp>
        <p:nvSpPr>
          <p:cNvPr id="22" name="agenda S4 / S2"/>
          <p:cNvSpPr/>
          <p:nvPr/>
        </p:nvSpPr>
        <p:spPr>
          <a:xfrm>
            <a:off x="10383520" y="5577840"/>
            <a:ext cx="833120" cy="384048"/>
          </a:xfrm>
          <a:prstGeom prst="rect">
            <a:avLst/>
          </a:prstGeom>
          <a:solidFill>
            <a:srgbClr val="2B3470"/>
          </a:solidFill>
          <a:ln w="12700">
            <a:solidFill>
              <a:srgbClr val="1E2761"/>
            </a:solidFill>
            <a:prstDash val="solid"/>
          </a:ln>
        </p:spPr>
      </p:sp>
      <p:sp>
        <p:nvSpPr>
          <p:cNvPr id="23" name="agenda label S4 / S2"/>
          <p:cNvSpPr txBox="1"/>
          <p:nvPr/>
        </p:nvSpPr>
        <p:spPr>
          <a:xfrm>
            <a:off x="10383520" y="5577840"/>
            <a:ext cx="833120" cy="384048"/>
          </a:xfrm>
          <a:prstGeom prst="rect">
            <a:avLst/>
          </a:prstGeom>
          <a:noFill/>
          <a:ln/>
        </p:spPr>
        <p:txBody>
          <a:bodyPr wrap="square" lIns="0" tIns="0" rIns="0" bIns="0" rtlCol="0" anchor="ctr"/>
          <a:lstStyle/>
          <a:p>
            <a:pPr algn="ctr" indent="0" marL="0">
              <a:buNone/>
            </a:pPr>
            <a:r>
              <a:rPr lang="en-US" sz="900" dirty="0">
                <a:solidFill>
                  <a:srgbClr val="AEB5DA"/>
                </a:solidFill>
              </a:rPr>
              <a:t>S4 / S2</a:t>
            </a:r>
            <a:endParaRPr lang="en-US" sz="900" dirty="0"/>
          </a:p>
        </p:txBody>
      </p:sp>
      <p:sp>
        <p:nvSpPr>
          <p:cNvPr id="24" name="agenda Exit"/>
          <p:cNvSpPr/>
          <p:nvPr/>
        </p:nvSpPr>
        <p:spPr>
          <a:xfrm>
            <a:off x="11244072" y="5577840"/>
            <a:ext cx="341376" cy="384048"/>
          </a:xfrm>
          <a:prstGeom prst="rect">
            <a:avLst/>
          </a:prstGeom>
          <a:solidFill>
            <a:srgbClr val="2B3470"/>
          </a:solidFill>
          <a:ln w="12700">
            <a:solidFill>
              <a:srgbClr val="1E2761"/>
            </a:solidFill>
            <a:prstDash val="solid"/>
          </a:ln>
        </p:spPr>
      </p:sp>
      <p:sp>
        <p:nvSpPr>
          <p:cNvPr id="25" name="Text 2"/>
          <p:cNvSpPr/>
          <p:nvPr>
            <p:ph idx="102" type="title" hasCustomPrompt="1"/>
          </p:nvPr>
        </p:nvSpPr>
        <p:spPr>
          <a:xfrm>
            <a:off x="548640" y="457200"/>
            <a:ext cx="11064240" cy="1005840"/>
          </a:xfrm>
          <a:prstGeom prst="rect">
            <a:avLst/>
          </a:prstGeom>
          <a:noFill/>
          <a:ln/>
        </p:spPr>
        <p:txBody>
          <a:bodyPr wrap="square" lIns="0" tIns="0" rIns="0" bIns="0" rtlCol="0"/>
          <a:lstStyle/>
          <a:p>
            <a:pPr indent="0" marL="0">
              <a:buNone/>
            </a:pPr>
            <a:endParaRPr lang="en-US" sz="4000" dirty="0"/>
          </a:p>
        </p:txBody>
      </p:sp>
      <p:sp>
        <p:nvSpPr>
          <p:cNvPr id="26" name="Text 2"/>
          <p:cNvSpPr/>
          <p:nvPr>
            <p:ph idx="103" type="body" hasCustomPrompt="1"/>
          </p:nvPr>
        </p:nvSpPr>
        <p:spPr>
          <a:xfrm>
            <a:off x="548640" y="1554480"/>
            <a:ext cx="7498080" cy="448056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5DA"/>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3"/>
          <p:cNvSpPr/>
          <p:nvPr>
            <p:ph idx="103" type="title" hasCustomPrompt="1"/>
          </p:nvPr>
        </p:nvSpPr>
        <p:spPr>
          <a:xfrm>
            <a:off x="548640" y="411480"/>
            <a:ext cx="11064240" cy="914400"/>
          </a:xfrm>
          <a:prstGeom prst="rect">
            <a:avLst/>
          </a:prstGeom>
          <a:noFill/>
          <a:ln/>
        </p:spPr>
        <p:txBody>
          <a:bodyPr wrap="square" lIns="0" tIns="0" rIns="0" bIns="0" rtlCol="0"/>
          <a:lstStyle/>
          <a:p>
            <a:pPr indent="0" marL="0">
              <a:buNone/>
            </a:pPr>
            <a:r>
              <a:rPr lang="en-US" sz="3600" b="1" dirty="0">
                <a:solidFill>
                  <a:srgbClr val="1E2761"/>
                </a:solidFill>
              </a:rPr>
              <a:t>Word bank</a:t>
            </a:r>
            <a:endParaRPr lang="en-US" sz="3600" dirty="0"/>
          </a:p>
        </p:txBody>
      </p:sp>
      <p:sp>
        <p:nvSpPr>
          <p:cNvPr id="3" name="wb 0"/>
          <p:cNvSpPr txBox="1"/>
          <p:nvPr/>
        </p:nvSpPr>
        <p:spPr>
          <a:xfrm>
            <a:off x="548640" y="1417320"/>
            <a:ext cx="2103120" cy="548640"/>
          </a:xfrm>
          <a:prstGeom prst="rect">
            <a:avLst/>
          </a:prstGeom>
          <a:solidFill>
            <a:srgbClr val="FFFFFF"/>
          </a:solidFill>
          <a:ln w="12700">
            <a:solidFill>
              <a:srgbClr val="C9A227"/>
            </a:solidFill>
          </a:ln>
        </p:spPr>
        <p:txBody>
          <a:bodyPr wrap="square" lIns="0" tIns="0" rIns="0" bIns="0" rtlCol="0" anchor="ctr"/>
          <a:lstStyle/>
          <a:p>
            <a:pPr algn="ctr" indent="0" marL="0">
              <a:buNone/>
            </a:pPr>
            <a:r>
              <a:rPr lang="en-US" sz="1800" dirty="0">
                <a:solidFill>
                  <a:srgbClr val="1E2761"/>
                </a:solidFill>
              </a:rPr>
              <a:t>ingredients</a:t>
            </a:r>
            <a:endParaRPr lang="en-US" sz="1800" dirty="0"/>
          </a:p>
        </p:txBody>
      </p:sp>
      <p:sp>
        <p:nvSpPr>
          <p:cNvPr id="4" name="wb 1"/>
          <p:cNvSpPr txBox="1"/>
          <p:nvPr/>
        </p:nvSpPr>
        <p:spPr>
          <a:xfrm>
            <a:off x="2788920" y="1417320"/>
            <a:ext cx="2103120" cy="548640"/>
          </a:xfrm>
          <a:prstGeom prst="rect">
            <a:avLst/>
          </a:prstGeom>
          <a:solidFill>
            <a:srgbClr val="FFFFFF"/>
          </a:solidFill>
          <a:ln w="12700">
            <a:solidFill>
              <a:srgbClr val="C9A227"/>
            </a:solidFill>
          </a:ln>
        </p:spPr>
        <p:txBody>
          <a:bodyPr wrap="square" lIns="0" tIns="0" rIns="0" bIns="0" rtlCol="0" anchor="ctr"/>
          <a:lstStyle/>
          <a:p>
            <a:pPr algn="ctr" indent="0" marL="0">
              <a:buNone/>
            </a:pPr>
            <a:r>
              <a:rPr lang="en-US" sz="1800" dirty="0">
                <a:solidFill>
                  <a:srgbClr val="1E2761"/>
                </a:solidFill>
              </a:rPr>
              <a:t>both</a:t>
            </a:r>
            <a:endParaRPr lang="en-US" sz="1800" dirty="0"/>
          </a:p>
        </p:txBody>
      </p:sp>
      <p:sp>
        <p:nvSpPr>
          <p:cNvPr id="5" name="wb 2"/>
          <p:cNvSpPr txBox="1"/>
          <p:nvPr/>
        </p:nvSpPr>
        <p:spPr>
          <a:xfrm>
            <a:off x="5029200" y="1417320"/>
            <a:ext cx="2103120" cy="548640"/>
          </a:xfrm>
          <a:prstGeom prst="rect">
            <a:avLst/>
          </a:prstGeom>
          <a:solidFill>
            <a:srgbClr val="FFFFFF"/>
          </a:solidFill>
          <a:ln w="12700">
            <a:solidFill>
              <a:srgbClr val="C9A227"/>
            </a:solidFill>
          </a:ln>
        </p:spPr>
        <p:txBody>
          <a:bodyPr wrap="square" lIns="0" tIns="0" rIns="0" bIns="0" rtlCol="0" anchor="ctr"/>
          <a:lstStyle/>
          <a:p>
            <a:pPr algn="ctr" indent="0" marL="0">
              <a:buNone/>
            </a:pPr>
            <a:r>
              <a:rPr lang="en-US" sz="1800" dirty="0">
                <a:solidFill>
                  <a:srgbClr val="1E2761"/>
                </a:solidFill>
              </a:rPr>
              <a:t>only</a:t>
            </a:r>
            <a:endParaRPr lang="en-US" sz="1800" dirty="0"/>
          </a:p>
        </p:txBody>
      </p:sp>
      <p:sp>
        <p:nvSpPr>
          <p:cNvPr id="6" name="wb 3"/>
          <p:cNvSpPr txBox="1"/>
          <p:nvPr/>
        </p:nvSpPr>
        <p:spPr>
          <a:xfrm>
            <a:off x="7269480" y="1417320"/>
            <a:ext cx="2103120" cy="548640"/>
          </a:xfrm>
          <a:prstGeom prst="rect">
            <a:avLst/>
          </a:prstGeom>
          <a:solidFill>
            <a:srgbClr val="FFFFFF"/>
          </a:solidFill>
          <a:ln w="12700">
            <a:solidFill>
              <a:srgbClr val="C9A227"/>
            </a:solidFill>
          </a:ln>
        </p:spPr>
        <p:txBody>
          <a:bodyPr wrap="square" lIns="0" tIns="0" rIns="0" bIns="0" rtlCol="0" anchor="ctr"/>
          <a:lstStyle/>
          <a:p>
            <a:pPr algn="ctr" indent="0" marL="0">
              <a:buNone/>
            </a:pPr>
            <a:r>
              <a:rPr lang="en-US" sz="1800" dirty="0">
                <a:solidFill>
                  <a:srgbClr val="1E2761"/>
                </a:solidFill>
              </a:rPr>
              <a:t>unlike</a:t>
            </a:r>
            <a:endParaRPr lang="en-US" sz="1800" dirty="0"/>
          </a:p>
        </p:txBody>
      </p:sp>
      <p:sp>
        <p:nvSpPr>
          <p:cNvPr id="7" name="wb 4"/>
          <p:cNvSpPr txBox="1"/>
          <p:nvPr/>
        </p:nvSpPr>
        <p:spPr>
          <a:xfrm>
            <a:off x="9509760" y="1417320"/>
            <a:ext cx="2103120" cy="548640"/>
          </a:xfrm>
          <a:prstGeom prst="rect">
            <a:avLst/>
          </a:prstGeom>
          <a:solidFill>
            <a:srgbClr val="FFFFFF"/>
          </a:solidFill>
          <a:ln w="12700">
            <a:solidFill>
              <a:srgbClr val="C9A227"/>
            </a:solidFill>
          </a:ln>
        </p:spPr>
        <p:txBody>
          <a:bodyPr wrap="square" lIns="0" tIns="0" rIns="0" bIns="0" rtlCol="0" anchor="ctr"/>
          <a:lstStyle/>
          <a:p>
            <a:pPr algn="ctr" indent="0" marL="0">
              <a:buNone/>
            </a:pPr>
            <a:r>
              <a:rPr lang="en-US" sz="1800" dirty="0">
                <a:solidFill>
                  <a:srgbClr val="1E2761"/>
                </a:solidFill>
              </a:rPr>
              <a:t>because</a:t>
            </a:r>
            <a:endParaRPr lang="en-US" sz="1800" dirty="0"/>
          </a:p>
        </p:txBody>
      </p:sp>
      <p:sp>
        <p:nvSpPr>
          <p:cNvPr id="8" name="wb 5"/>
          <p:cNvSpPr txBox="1"/>
          <p:nvPr/>
        </p:nvSpPr>
        <p:spPr>
          <a:xfrm>
            <a:off x="548640" y="2103120"/>
            <a:ext cx="2103120" cy="548640"/>
          </a:xfrm>
          <a:prstGeom prst="rect">
            <a:avLst/>
          </a:prstGeom>
          <a:solidFill>
            <a:srgbClr val="FFFFFF"/>
          </a:solidFill>
          <a:ln w="12700">
            <a:solidFill>
              <a:srgbClr val="C9A227"/>
            </a:solidFill>
          </a:ln>
        </p:spPr>
        <p:txBody>
          <a:bodyPr wrap="square" lIns="0" tIns="0" rIns="0" bIns="0" rtlCol="0" anchor="ctr"/>
          <a:lstStyle/>
          <a:p>
            <a:pPr algn="ctr" indent="0" marL="0">
              <a:buNone/>
            </a:pPr>
            <a:r>
              <a:rPr lang="en-US" sz="1800" dirty="0">
                <a:solidFill>
                  <a:srgbClr val="1E2761"/>
                </a:solidFill>
              </a:rPr>
              <a:t>however</a:t>
            </a:r>
            <a:endParaRPr lang="en-US" sz="1800" dirty="0"/>
          </a:p>
        </p:txBody>
      </p:sp>
      <p:sp>
        <p:nvSpPr>
          <p:cNvPr id="9" name="wb 6"/>
          <p:cNvSpPr txBox="1"/>
          <p:nvPr/>
        </p:nvSpPr>
        <p:spPr>
          <a:xfrm>
            <a:off x="2788920" y="2103120"/>
            <a:ext cx="2103120" cy="548640"/>
          </a:xfrm>
          <a:prstGeom prst="rect">
            <a:avLst/>
          </a:prstGeom>
          <a:solidFill>
            <a:srgbClr val="FFFFFF"/>
          </a:solidFill>
          <a:ln w="12700">
            <a:solidFill>
              <a:srgbClr val="C9A227"/>
            </a:solidFill>
          </a:ln>
        </p:spPr>
        <p:txBody>
          <a:bodyPr wrap="square" lIns="0" tIns="0" rIns="0" bIns="0" rtlCol="0" anchor="ctr"/>
          <a:lstStyle/>
          <a:p>
            <a:pPr algn="ctr" indent="0" marL="0">
              <a:buNone/>
            </a:pPr>
            <a:r>
              <a:rPr lang="en-US" sz="1800" dirty="0">
                <a:solidFill>
                  <a:srgbClr val="1E2761"/>
                </a:solidFill>
              </a:rPr>
              <a:t>similar</a:t>
            </a:r>
            <a:endParaRPr lang="en-US" sz="1800" dirty="0"/>
          </a:p>
        </p:txBody>
      </p:sp>
      <p:sp>
        <p:nvSpPr>
          <p:cNvPr id="10" name="wb 7"/>
          <p:cNvSpPr txBox="1"/>
          <p:nvPr/>
        </p:nvSpPr>
        <p:spPr>
          <a:xfrm>
            <a:off x="5029200" y="2103120"/>
            <a:ext cx="2103120" cy="548640"/>
          </a:xfrm>
          <a:prstGeom prst="rect">
            <a:avLst/>
          </a:prstGeom>
          <a:solidFill>
            <a:srgbClr val="FFFFFF"/>
          </a:solidFill>
          <a:ln w="12700">
            <a:solidFill>
              <a:srgbClr val="C9A227"/>
            </a:solidFill>
          </a:ln>
        </p:spPr>
        <p:txBody>
          <a:bodyPr wrap="square" lIns="0" tIns="0" rIns="0" bIns="0" rtlCol="0" anchor="ctr"/>
          <a:lstStyle/>
          <a:p>
            <a:pPr algn="ctr" indent="0" marL="0">
              <a:buNone/>
            </a:pPr>
            <a:r>
              <a:rPr lang="en-US" sz="1800" dirty="0">
                <a:solidFill>
                  <a:srgbClr val="1E2761"/>
                </a:solidFill>
              </a:rPr>
              <a:t>different</a:t>
            </a:r>
            <a:endParaRPr lang="en-US" sz="1800" dirty="0"/>
          </a:p>
        </p:txBody>
      </p:sp>
      <p:sp>
        <p:nvSpPr>
          <p:cNvPr id="11" name="wb 8"/>
          <p:cNvSpPr txBox="1"/>
          <p:nvPr/>
        </p:nvSpPr>
        <p:spPr>
          <a:xfrm>
            <a:off x="7269480" y="2103120"/>
            <a:ext cx="2103120" cy="548640"/>
          </a:xfrm>
          <a:prstGeom prst="rect">
            <a:avLst/>
          </a:prstGeom>
          <a:solidFill>
            <a:srgbClr val="FFFFFF"/>
          </a:solidFill>
          <a:ln w="12700">
            <a:solidFill>
              <a:srgbClr val="C9A227"/>
            </a:solidFill>
          </a:ln>
        </p:spPr>
        <p:txBody>
          <a:bodyPr wrap="square" lIns="0" tIns="0" rIns="0" bIns="0" rtlCol="0" anchor="ctr"/>
          <a:lstStyle/>
          <a:p>
            <a:pPr algn="ctr" indent="0" marL="0">
              <a:buNone/>
            </a:pPr>
            <a:r>
              <a:rPr lang="en-US" sz="1800" dirty="0">
                <a:solidFill>
                  <a:srgbClr val="1E2761"/>
                </a:solidFill>
              </a:rPr>
              <a:t>sweet</a:t>
            </a:r>
            <a:endParaRPr lang="en-US" sz="1800" dirty="0"/>
          </a:p>
        </p:txBody>
      </p:sp>
      <p:sp>
        <p:nvSpPr>
          <p:cNvPr id="12" name="wb 9"/>
          <p:cNvSpPr txBox="1"/>
          <p:nvPr/>
        </p:nvSpPr>
        <p:spPr>
          <a:xfrm>
            <a:off x="9509760" y="2103120"/>
            <a:ext cx="2103120" cy="548640"/>
          </a:xfrm>
          <a:prstGeom prst="rect">
            <a:avLst/>
          </a:prstGeom>
          <a:solidFill>
            <a:srgbClr val="FFFFFF"/>
          </a:solidFill>
          <a:ln w="12700">
            <a:solidFill>
              <a:srgbClr val="C9A227"/>
            </a:solidFill>
          </a:ln>
        </p:spPr>
        <p:txBody>
          <a:bodyPr wrap="square" lIns="0" tIns="0" rIns="0" bIns="0" rtlCol="0" anchor="ctr"/>
          <a:lstStyle/>
          <a:p>
            <a:pPr algn="ctr" indent="0" marL="0">
              <a:buNone/>
            </a:pPr>
            <a:r>
              <a:rPr lang="en-US" sz="1800" dirty="0">
                <a:solidFill>
                  <a:srgbClr val="1E2761"/>
                </a:solidFill>
              </a:rPr>
              <a:t>creamy</a:t>
            </a:r>
            <a:endParaRPr lang="en-US" sz="1800" dirty="0"/>
          </a:p>
        </p:txBody>
      </p:sp>
      <p:sp>
        <p:nvSpPr>
          <p:cNvPr id="13" name="wb 10"/>
          <p:cNvSpPr txBox="1"/>
          <p:nvPr/>
        </p:nvSpPr>
        <p:spPr>
          <a:xfrm>
            <a:off x="548640" y="2788920"/>
            <a:ext cx="2103120" cy="548640"/>
          </a:xfrm>
          <a:prstGeom prst="rect">
            <a:avLst/>
          </a:prstGeom>
          <a:solidFill>
            <a:srgbClr val="FFFFFF"/>
          </a:solidFill>
          <a:ln w="12700">
            <a:solidFill>
              <a:srgbClr val="C9A227"/>
            </a:solidFill>
          </a:ln>
        </p:spPr>
        <p:txBody>
          <a:bodyPr wrap="square" lIns="0" tIns="0" rIns="0" bIns="0" rtlCol="0" anchor="ctr"/>
          <a:lstStyle/>
          <a:p>
            <a:pPr algn="ctr" indent="0" marL="0">
              <a:buNone/>
            </a:pPr>
            <a:r>
              <a:rPr lang="en-US" sz="1800" dirty="0">
                <a:solidFill>
                  <a:srgbClr val="1E2761"/>
                </a:solidFill>
              </a:rPr>
              <a:t>crunchy</a:t>
            </a:r>
            <a:endParaRPr lang="en-US" sz="1800" dirty="0"/>
          </a:p>
        </p:txBody>
      </p:sp>
      <p:sp>
        <p:nvSpPr>
          <p:cNvPr id="14" name="wb 11"/>
          <p:cNvSpPr txBox="1"/>
          <p:nvPr/>
        </p:nvSpPr>
        <p:spPr>
          <a:xfrm>
            <a:off x="2788920" y="2788920"/>
            <a:ext cx="2103120" cy="548640"/>
          </a:xfrm>
          <a:prstGeom prst="rect">
            <a:avLst/>
          </a:prstGeom>
          <a:solidFill>
            <a:srgbClr val="FFFFFF"/>
          </a:solidFill>
          <a:ln w="12700">
            <a:solidFill>
              <a:srgbClr val="C9A227"/>
            </a:solidFill>
          </a:ln>
        </p:spPr>
        <p:txBody>
          <a:bodyPr wrap="square" lIns="0" tIns="0" rIns="0" bIns="0" rtlCol="0" anchor="ctr"/>
          <a:lstStyle/>
          <a:p>
            <a:pPr algn="ctr" indent="0" marL="0">
              <a:buNone/>
            </a:pPr>
            <a:r>
              <a:rPr lang="en-US" sz="1800" dirty="0">
                <a:solidFill>
                  <a:srgbClr val="1E2761"/>
                </a:solidFill>
              </a:rPr>
              <a:t>traditional</a:t>
            </a:r>
            <a:endParaRPr lang="en-US" sz="1800" dirty="0"/>
          </a:p>
        </p:txBody>
      </p:sp>
      <p:sp>
        <p:nvSpPr>
          <p:cNvPr id="15" name="wb 12"/>
          <p:cNvSpPr txBox="1"/>
          <p:nvPr/>
        </p:nvSpPr>
        <p:spPr>
          <a:xfrm>
            <a:off x="5029200" y="2788920"/>
            <a:ext cx="2103120" cy="548640"/>
          </a:xfrm>
          <a:prstGeom prst="rect">
            <a:avLst/>
          </a:prstGeom>
          <a:solidFill>
            <a:srgbClr val="FFFFFF"/>
          </a:solidFill>
          <a:ln w="12700">
            <a:solidFill>
              <a:srgbClr val="C9A227"/>
            </a:solidFill>
          </a:ln>
        </p:spPr>
        <p:txBody>
          <a:bodyPr wrap="square" lIns="0" tIns="0" rIns="0" bIns="0" rtlCol="0" anchor="ctr"/>
          <a:lstStyle/>
          <a:p>
            <a:pPr algn="ctr" indent="0" marL="0">
              <a:buNone/>
            </a:pPr>
            <a:r>
              <a:rPr lang="en-US" sz="1800" dirty="0">
                <a:solidFill>
                  <a:srgbClr val="1E2761"/>
                </a:solidFill>
              </a:rPr>
              <a:t>first · then · finally</a:t>
            </a:r>
            <a:endParaRPr lang="en-US" sz="1800" dirty="0"/>
          </a:p>
        </p:txBody>
      </p:sp>
      <p:sp>
        <p:nvSpPr>
          <p:cNvPr id="16" name="wb 13"/>
          <p:cNvSpPr txBox="1"/>
          <p:nvPr/>
        </p:nvSpPr>
        <p:spPr>
          <a:xfrm>
            <a:off x="7269480" y="2788920"/>
            <a:ext cx="2103120" cy="548640"/>
          </a:xfrm>
          <a:prstGeom prst="rect">
            <a:avLst/>
          </a:prstGeom>
          <a:solidFill>
            <a:srgbClr val="FFFFFF"/>
          </a:solidFill>
          <a:ln w="12700">
            <a:solidFill>
              <a:srgbClr val="C9A227"/>
            </a:solidFill>
          </a:ln>
        </p:spPr>
        <p:txBody>
          <a:bodyPr wrap="square" lIns="0" tIns="0" rIns="0" bIns="0" rtlCol="0" anchor="ctr"/>
          <a:lstStyle/>
          <a:p>
            <a:pPr algn="ctr" indent="0" marL="0">
              <a:buNone/>
            </a:pPr>
            <a:r>
              <a:rPr lang="en-US" sz="1800" dirty="0">
                <a:solidFill>
                  <a:srgbClr val="1E2761"/>
                </a:solidFill>
              </a:rPr>
              <a:t>in my opinion</a:t>
            </a:r>
            <a:endParaRPr lang="en-US" sz="1800" dirty="0"/>
          </a:p>
        </p:txBody>
      </p:sp>
      <p:sp>
        <p:nvSpPr>
          <p:cNvPr id="17" name="wb 14"/>
          <p:cNvSpPr txBox="1"/>
          <p:nvPr/>
        </p:nvSpPr>
        <p:spPr>
          <a:xfrm>
            <a:off x="9509760" y="2788920"/>
            <a:ext cx="2103120" cy="548640"/>
          </a:xfrm>
          <a:prstGeom prst="rect">
            <a:avLst/>
          </a:prstGeom>
          <a:solidFill>
            <a:srgbClr val="FFFFFF"/>
          </a:solidFill>
          <a:ln w="12700">
            <a:solidFill>
              <a:srgbClr val="C9A227"/>
            </a:solidFill>
          </a:ln>
        </p:spPr>
        <p:txBody>
          <a:bodyPr wrap="square" lIns="0" tIns="0" rIns="0" bIns="0" rtlCol="0" anchor="ctr"/>
          <a:lstStyle/>
          <a:p>
            <a:pPr algn="ctr" indent="0" marL="0">
              <a:buNone/>
            </a:pPr>
            <a:r>
              <a:rPr lang="en-US" sz="1800" dirty="0">
                <a:solidFill>
                  <a:srgbClr val="1E2761"/>
                </a:solidFill>
              </a:rPr>
              <a:t>for example</a:t>
            </a:r>
            <a:endParaRPr lang="en-US" sz="1800" dirty="0"/>
          </a:p>
        </p:txBody>
      </p:sp>
      <p:sp>
        <p:nvSpPr>
          <p:cNvPr id="18" name="model"/>
          <p:cNvSpPr txBox="1"/>
          <p:nvPr/>
        </p:nvSpPr>
        <p:spPr>
          <a:xfrm>
            <a:off x="548640" y="3657600"/>
            <a:ext cx="11064240" cy="914400"/>
          </a:xfrm>
          <a:prstGeom prst="rect">
            <a:avLst/>
          </a:prstGeom>
          <a:noFill/>
          <a:ln/>
        </p:spPr>
        <p:txBody>
          <a:bodyPr wrap="square" lIns="0" tIns="0" rIns="0" bIns="0" rtlCol="0" anchor="ctr"/>
          <a:lstStyle/>
          <a:p>
            <a:pPr indent="0" marL="0">
              <a:buNone/>
            </a:pPr>
            <a:r>
              <a:rPr lang="en-US" sz="1800" i="1" dirty="0">
                <a:solidFill>
                  <a:srgbClr val="1E2761"/>
                </a:solidFill>
                <a:latin typeface="Georgia" pitchFamily="34" charset="0"/>
                <a:ea typeface="Georgia" pitchFamily="34" charset="-122"/>
                <a:cs typeface="Georgia" pitchFamily="34" charset="-120"/>
              </a:rPr>
              <a:t>Model (a different topic): Both a bike and a car have wheels. Only a car has an engine. Unlike a bike, a car needs gas. However, a bike is cheaper.</a:t>
            </a:r>
            <a:endParaRPr lang="en-US" sz="1800" dirty="0"/>
          </a:p>
        </p:txBody>
      </p:sp>
      <p:sp>
        <p:nvSpPr>
          <p:cNvPr id="19" name="lane NEWCOMER"/>
          <p:cNvSpPr/>
          <p:nvPr/>
        </p:nvSpPr>
        <p:spPr>
          <a:xfrm>
            <a:off x="548640" y="4754880"/>
            <a:ext cx="2697480" cy="1143000"/>
          </a:xfrm>
          <a:prstGeom prst="roundRect">
            <a:avLst>
              <a:gd name="adj" fmla="val 8000"/>
            </a:avLst>
          </a:prstGeom>
          <a:solidFill>
            <a:srgbClr val="FFFFFF"/>
          </a:solidFill>
          <a:ln w="19050">
            <a:solidFill>
              <a:srgbClr val="B5213F"/>
            </a:solidFill>
            <a:prstDash val="solid"/>
          </a:ln>
        </p:spPr>
      </p:sp>
      <p:sp>
        <p:nvSpPr>
          <p:cNvPr id="20" name="lane text NEWCOMER"/>
          <p:cNvSpPr txBox="1"/>
          <p:nvPr/>
        </p:nvSpPr>
        <p:spPr>
          <a:xfrm>
            <a:off x="658368" y="4828032"/>
            <a:ext cx="2514600" cy="1005840"/>
          </a:xfrm>
          <a:prstGeom prst="rect">
            <a:avLst/>
          </a:prstGeom>
          <a:noFill/>
          <a:ln/>
        </p:spPr>
        <p:txBody>
          <a:bodyPr wrap="square" lIns="0" tIns="0" rIns="0" bIns="0" rtlCol="0" anchor="t"/>
          <a:lstStyle/>
          <a:p>
            <a:pPr indent="0" marL="0">
              <a:buNone/>
            </a:pPr>
            <a:r>
              <a:rPr lang="en-US" sz="900" b="1" spc="200" kern="0" dirty="0">
                <a:solidFill>
                  <a:srgbClr val="B5213F"/>
                </a:solidFill>
              </a:rPr>
              <a:t>NEWCOMER</a:t>
            </a:r>
            <a:endParaRPr lang="en-US" sz="900" dirty="0"/>
          </a:p>
          <a:p>
            <a:pPr indent="0" marL="0">
              <a:buNone/>
            </a:pPr>
            <a:r>
              <a:rPr lang="en-US" sz="1150" dirty="0">
                <a:solidFill>
                  <a:srgbClr val="1F2340"/>
                </a:solidFill>
              </a:rPr>
              <a:t>W1 · Label the three pie photos. Complete three frames.</a:t>
            </a:r>
            <a:endParaRPr lang="en-US" sz="900" dirty="0"/>
          </a:p>
        </p:txBody>
      </p:sp>
      <p:sp>
        <p:nvSpPr>
          <p:cNvPr id="21" name="lane EMERGING"/>
          <p:cNvSpPr/>
          <p:nvPr/>
        </p:nvSpPr>
        <p:spPr>
          <a:xfrm>
            <a:off x="3364992" y="4754880"/>
            <a:ext cx="2697480" cy="1143000"/>
          </a:xfrm>
          <a:prstGeom prst="roundRect">
            <a:avLst>
              <a:gd name="adj" fmla="val 8000"/>
            </a:avLst>
          </a:prstGeom>
          <a:solidFill>
            <a:srgbClr val="FFFFFF"/>
          </a:solidFill>
          <a:ln w="19050">
            <a:solidFill>
              <a:srgbClr val="7A5F0E"/>
            </a:solidFill>
            <a:prstDash val="solid"/>
          </a:ln>
        </p:spPr>
      </p:sp>
      <p:sp>
        <p:nvSpPr>
          <p:cNvPr id="22" name="lane text EMERGING"/>
          <p:cNvSpPr txBox="1"/>
          <p:nvPr/>
        </p:nvSpPr>
        <p:spPr>
          <a:xfrm>
            <a:off x="3474720" y="4828032"/>
            <a:ext cx="2514600" cy="1005840"/>
          </a:xfrm>
          <a:prstGeom prst="rect">
            <a:avLst/>
          </a:prstGeom>
          <a:noFill/>
          <a:ln/>
        </p:spPr>
        <p:txBody>
          <a:bodyPr wrap="square" lIns="0" tIns="0" rIns="0" bIns="0" rtlCol="0" anchor="t"/>
          <a:lstStyle/>
          <a:p>
            <a:pPr indent="0" marL="0">
              <a:buNone/>
            </a:pPr>
            <a:r>
              <a:rPr lang="en-US" sz="900" b="1" spc="200" kern="0" dirty="0">
                <a:solidFill>
                  <a:srgbClr val="7A5F0E"/>
                </a:solidFill>
              </a:rPr>
              <a:t>EMERGING</a:t>
            </a:r>
            <a:endParaRPr lang="en-US" sz="900" dirty="0"/>
          </a:p>
          <a:p>
            <a:pPr indent="0" marL="0">
              <a:buNone/>
            </a:pPr>
            <a:r>
              <a:rPr lang="en-US" sz="1150" dirty="0">
                <a:solidFill>
                  <a:srgbClr val="1F2340"/>
                </a:solidFill>
              </a:rPr>
              <a:t>W2 · Two pies, four frames: both / only / unlike / because.</a:t>
            </a:r>
            <a:endParaRPr lang="en-US" sz="900" dirty="0"/>
          </a:p>
        </p:txBody>
      </p:sp>
      <p:sp>
        <p:nvSpPr>
          <p:cNvPr id="23" name="lane PROGRESSING"/>
          <p:cNvSpPr/>
          <p:nvPr/>
        </p:nvSpPr>
        <p:spPr>
          <a:xfrm>
            <a:off x="6181344" y="4754880"/>
            <a:ext cx="2697480" cy="1143000"/>
          </a:xfrm>
          <a:prstGeom prst="roundRect">
            <a:avLst>
              <a:gd name="adj" fmla="val 8000"/>
            </a:avLst>
          </a:prstGeom>
          <a:solidFill>
            <a:srgbClr val="FFFFFF"/>
          </a:solidFill>
          <a:ln w="19050">
            <a:solidFill>
              <a:srgbClr val="17606F"/>
            </a:solidFill>
            <a:prstDash val="solid"/>
          </a:ln>
        </p:spPr>
      </p:sp>
      <p:sp>
        <p:nvSpPr>
          <p:cNvPr id="24" name="lane text PROGRESSING"/>
          <p:cNvSpPr txBox="1"/>
          <p:nvPr/>
        </p:nvSpPr>
        <p:spPr>
          <a:xfrm>
            <a:off x="6291072" y="4828032"/>
            <a:ext cx="2514600" cy="1005840"/>
          </a:xfrm>
          <a:prstGeom prst="rect">
            <a:avLst/>
          </a:prstGeom>
          <a:noFill/>
          <a:ln/>
        </p:spPr>
        <p:txBody>
          <a:bodyPr wrap="square" lIns="0" tIns="0" rIns="0" bIns="0" rtlCol="0" anchor="t"/>
          <a:lstStyle/>
          <a:p>
            <a:pPr indent="0" marL="0">
              <a:buNone/>
            </a:pPr>
            <a:r>
              <a:rPr lang="en-US" sz="900" b="1" spc="200" kern="0" dirty="0">
                <a:solidFill>
                  <a:srgbClr val="17606F"/>
                </a:solidFill>
              </a:rPr>
              <a:t>PROGRESSING</a:t>
            </a:r>
            <a:endParaRPr lang="en-US" sz="900" dirty="0"/>
          </a:p>
          <a:p>
            <a:pPr indent="0" marL="0">
              <a:buNone/>
            </a:pPr>
            <a:r>
              <a:rPr lang="en-US" sz="1150" dirty="0">
                <a:solidFill>
                  <a:srgbClr val="1F2340"/>
                </a:solidFill>
              </a:rPr>
              <a:t>W3 · One paragraph, 5–7 sentences, with both, however, unlike. Three ingredients.</a:t>
            </a:r>
            <a:endParaRPr lang="en-US" sz="900" dirty="0"/>
          </a:p>
        </p:txBody>
      </p:sp>
      <p:sp>
        <p:nvSpPr>
          <p:cNvPr id="25" name="lane CHALLENGE"/>
          <p:cNvSpPr/>
          <p:nvPr/>
        </p:nvSpPr>
        <p:spPr>
          <a:xfrm>
            <a:off x="8997696" y="4754880"/>
            <a:ext cx="2697480" cy="1143000"/>
          </a:xfrm>
          <a:prstGeom prst="roundRect">
            <a:avLst>
              <a:gd name="adj" fmla="val 8000"/>
            </a:avLst>
          </a:prstGeom>
          <a:solidFill>
            <a:srgbClr val="FFFFFF"/>
          </a:solidFill>
          <a:ln w="19050">
            <a:solidFill>
              <a:srgbClr val="5B3FA8"/>
            </a:solidFill>
            <a:prstDash val="solid"/>
          </a:ln>
        </p:spPr>
      </p:sp>
      <p:sp>
        <p:nvSpPr>
          <p:cNvPr id="26" name="lane text CHALLENGE"/>
          <p:cNvSpPr txBox="1"/>
          <p:nvPr/>
        </p:nvSpPr>
        <p:spPr>
          <a:xfrm>
            <a:off x="9107424" y="4828032"/>
            <a:ext cx="2514600" cy="1005840"/>
          </a:xfrm>
          <a:prstGeom prst="rect">
            <a:avLst/>
          </a:prstGeom>
          <a:noFill/>
          <a:ln/>
        </p:spPr>
        <p:txBody>
          <a:bodyPr wrap="square" lIns="0" tIns="0" rIns="0" bIns="0" rtlCol="0" anchor="t"/>
          <a:lstStyle/>
          <a:p>
            <a:pPr indent="0" marL="0">
              <a:buNone/>
            </a:pPr>
            <a:r>
              <a:rPr lang="en-US" sz="900" b="1" spc="200" kern="0" dirty="0">
                <a:solidFill>
                  <a:srgbClr val="5B3FA8"/>
                </a:solidFill>
              </a:rPr>
              <a:t>CHALLENGE</a:t>
            </a:r>
            <a:endParaRPr lang="en-US" sz="900" dirty="0"/>
          </a:p>
          <a:p>
            <a:pPr indent="0" marL="0">
              <a:buNone/>
            </a:pPr>
            <a:r>
              <a:rPr lang="en-US" sz="1150" dirty="0">
                <a:solidFill>
                  <a:srgbClr val="1F2340"/>
                </a:solidFill>
              </a:rPr>
              <a:t>W4 · Opinion essay or email to the cafeteria manager: which pie for Thanksgiving?</a:t>
            </a:r>
            <a:endParaRPr lang="en-US" sz="900" dirty="0"/>
          </a:p>
        </p:txBody>
      </p:sp>
      <p:sp>
        <p:nvSpPr>
          <p:cNvPr id="28" name="Text 3"/>
          <p:cNvSpPr/>
          <p:nvPr>
            <p:ph idx="104" type="body" hasCustomPrompt="1"/>
          </p:nvPr>
        </p:nvSpPr>
        <p:spPr>
          <a:xfrm>
            <a:off x="548640" y="1463040"/>
            <a:ext cx="7315200" cy="457200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078"/>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3"/>
          <p:cNvSpPr/>
          <p:nvPr>
            <p:ph idx="103" type="title" hasCustomPrompt="1"/>
          </p:nvPr>
        </p:nvSpPr>
        <p:spPr>
          <a:xfrm>
            <a:off x="548640" y="411480"/>
            <a:ext cx="11064240" cy="914400"/>
          </a:xfrm>
          <a:prstGeom prst="rect">
            <a:avLst/>
          </a:prstGeom>
          <a:noFill/>
          <a:ln/>
        </p:spPr>
        <p:txBody>
          <a:bodyPr wrap="square" lIns="0" tIns="0" rIns="0" bIns="0" rtlCol="0"/>
          <a:lstStyle/>
          <a:p>
            <a:pPr indent="0" marL="0">
              <a:buNone/>
            </a:pPr>
            <a:r>
              <a:rPr lang="en-US" sz="3600" b="1" dirty="0">
                <a:solidFill>
                  <a:srgbClr val="1E2761"/>
                </a:solidFill>
              </a:rPr>
              <a:t>W2 · Compare two pies</a:t>
            </a:r>
            <a:endParaRPr lang="en-US" sz="3600" dirty="0"/>
          </a:p>
        </p:txBody>
      </p:sp>
      <p:pic>
        <p:nvPicPr>
          <p:cNvPr id="3" name="pie pecan" descr="/home/claude/deck/pecan.jpg">    </p:cNvPr>
          <p:cNvPicPr>
            <a:picLocks noChangeAspect="1"/>
          </p:cNvPicPr>
          <p:nvPr/>
        </p:nvPicPr>
        <p:blipFill>
          <a:blip r:embed="rId1"/>
          <a:stretch>
            <a:fillRect/>
          </a:stretch>
        </p:blipFill>
        <p:spPr>
          <a:xfrm>
            <a:off x="548640" y="1417320"/>
            <a:ext cx="1938528" cy="1828800"/>
          </a:xfrm>
          <a:prstGeom prst="rect">
            <a:avLst/>
          </a:prstGeom>
        </p:spPr>
      </p:pic>
      <p:sp>
        <p:nvSpPr>
          <p:cNvPr id="4" name="pie label pecan"/>
          <p:cNvSpPr txBox="1"/>
          <p:nvPr/>
        </p:nvSpPr>
        <p:spPr>
          <a:xfrm>
            <a:off x="548640" y="3264408"/>
            <a:ext cx="1938528" cy="274320"/>
          </a:xfrm>
          <a:prstGeom prst="rect">
            <a:avLst/>
          </a:prstGeom>
          <a:noFill/>
          <a:ln/>
        </p:spPr>
        <p:txBody>
          <a:bodyPr wrap="square" lIns="0" tIns="0" rIns="0" bIns="0" rtlCol="0" anchor="ctr"/>
          <a:lstStyle/>
          <a:p>
            <a:pPr algn="ctr" indent="0" marL="0">
              <a:buNone/>
            </a:pPr>
            <a:r>
              <a:rPr lang="en-US" sz="1100" dirty="0">
                <a:solidFill>
                  <a:srgbClr val="1F2340"/>
                </a:solidFill>
              </a:rPr>
              <a:t>5 Pecan</a:t>
            </a:r>
            <a:endParaRPr lang="en-US" sz="1100" dirty="0"/>
          </a:p>
        </p:txBody>
      </p:sp>
      <p:pic>
        <p:nvPicPr>
          <p:cNvPr id="5" name="pie lemon" descr="/home/claude/deck/lemon.jpg">    </p:cNvPr>
          <p:cNvPicPr>
            <a:picLocks noChangeAspect="1"/>
          </p:cNvPicPr>
          <p:nvPr/>
        </p:nvPicPr>
        <p:blipFill>
          <a:blip r:embed="rId2"/>
          <a:stretch>
            <a:fillRect/>
          </a:stretch>
        </p:blipFill>
        <p:spPr>
          <a:xfrm>
            <a:off x="2670048" y="1417320"/>
            <a:ext cx="1938528" cy="1828800"/>
          </a:xfrm>
          <a:prstGeom prst="rect">
            <a:avLst/>
          </a:prstGeom>
        </p:spPr>
      </p:pic>
      <p:sp>
        <p:nvSpPr>
          <p:cNvPr id="6" name="pie label lemon"/>
          <p:cNvSpPr txBox="1"/>
          <p:nvPr/>
        </p:nvSpPr>
        <p:spPr>
          <a:xfrm>
            <a:off x="2670048" y="3264408"/>
            <a:ext cx="1938528" cy="274320"/>
          </a:xfrm>
          <a:prstGeom prst="rect">
            <a:avLst/>
          </a:prstGeom>
          <a:noFill/>
          <a:ln/>
        </p:spPr>
        <p:txBody>
          <a:bodyPr wrap="square" lIns="0" tIns="0" rIns="0" bIns="0" rtlCol="0" anchor="ctr"/>
          <a:lstStyle/>
          <a:p>
            <a:pPr algn="ctr" indent="0" marL="0">
              <a:buNone/>
            </a:pPr>
            <a:r>
              <a:rPr lang="en-US" sz="1100" dirty="0">
                <a:solidFill>
                  <a:srgbClr val="1F2340"/>
                </a:solidFill>
              </a:rPr>
              <a:t>6 Lemon icebox</a:t>
            </a:r>
            <a:endParaRPr lang="en-US" sz="1100" dirty="0"/>
          </a:p>
        </p:txBody>
      </p:sp>
      <p:pic>
        <p:nvPicPr>
          <p:cNvPr id="7" name="pie sweetpotato" descr="/home/claude/deck/sweetpotato.jpg">    </p:cNvPr>
          <p:cNvPicPr>
            <a:picLocks noChangeAspect="1"/>
          </p:cNvPicPr>
          <p:nvPr/>
        </p:nvPicPr>
        <p:blipFill>
          <a:blip r:embed="rId3"/>
          <a:stretch>
            <a:fillRect/>
          </a:stretch>
        </p:blipFill>
        <p:spPr>
          <a:xfrm>
            <a:off x="4791456" y="1417320"/>
            <a:ext cx="1938528" cy="1828800"/>
          </a:xfrm>
          <a:prstGeom prst="rect">
            <a:avLst/>
          </a:prstGeom>
        </p:spPr>
      </p:pic>
      <p:sp>
        <p:nvSpPr>
          <p:cNvPr id="8" name="pie label sweetpotato"/>
          <p:cNvSpPr txBox="1"/>
          <p:nvPr/>
        </p:nvSpPr>
        <p:spPr>
          <a:xfrm>
            <a:off x="4791456" y="3264408"/>
            <a:ext cx="1938528" cy="274320"/>
          </a:xfrm>
          <a:prstGeom prst="rect">
            <a:avLst/>
          </a:prstGeom>
          <a:noFill/>
          <a:ln/>
        </p:spPr>
        <p:txBody>
          <a:bodyPr wrap="square" lIns="0" tIns="0" rIns="0" bIns="0" rtlCol="0" anchor="ctr"/>
          <a:lstStyle/>
          <a:p>
            <a:pPr algn="ctr" indent="0" marL="0">
              <a:buNone/>
            </a:pPr>
            <a:r>
              <a:rPr lang="en-US" sz="1100" dirty="0">
                <a:solidFill>
                  <a:srgbClr val="1F2340"/>
                </a:solidFill>
              </a:rPr>
              <a:t>4 Sweet potato</a:t>
            </a:r>
            <a:endParaRPr lang="en-US" sz="1100" dirty="0"/>
          </a:p>
        </p:txBody>
      </p:sp>
      <p:sp>
        <p:nvSpPr>
          <p:cNvPr id="9" name="frames"/>
          <p:cNvSpPr/>
          <p:nvPr/>
        </p:nvSpPr>
        <p:spPr>
          <a:xfrm>
            <a:off x="6675120" y="1417320"/>
            <a:ext cx="4937760" cy="2286000"/>
          </a:xfrm>
          <a:prstGeom prst="roundRect">
            <a:avLst>
              <a:gd name="adj" fmla="val 4800"/>
            </a:avLst>
          </a:prstGeom>
          <a:solidFill>
            <a:srgbClr val="FFFFFF"/>
          </a:solidFill>
          <a:ln w="19050">
            <a:solidFill>
              <a:srgbClr val="C9A227"/>
            </a:solidFill>
            <a:prstDash val="solid"/>
          </a:ln>
        </p:spPr>
      </p:sp>
      <p:sp>
        <p:nvSpPr>
          <p:cNvPr id="10" name="frame text"/>
          <p:cNvSpPr txBox="1"/>
          <p:nvPr/>
        </p:nvSpPr>
        <p:spPr>
          <a:xfrm>
            <a:off x="6903720" y="1600200"/>
            <a:ext cx="4480560" cy="1920240"/>
          </a:xfrm>
          <a:prstGeom prst="rect">
            <a:avLst/>
          </a:prstGeom>
          <a:noFill/>
          <a:ln/>
        </p:spPr>
        <p:txBody>
          <a:bodyPr wrap="square" lIns="0" tIns="0" rIns="0" bIns="0" rtlCol="0" anchor="t"/>
          <a:lstStyle/>
          <a:p>
            <a:pPr indent="0" marL="0">
              <a:spcAft>
                <a:spcPts val="600"/>
              </a:spcAft>
              <a:buNone/>
            </a:pPr>
            <a:r>
              <a:rPr lang="en-US" sz="2000" dirty="0">
                <a:solidFill>
                  <a:srgbClr val="1E2761"/>
                </a:solidFill>
                <a:latin typeface="Georgia" pitchFamily="34" charset="0"/>
                <a:ea typeface="Georgia" pitchFamily="34" charset="-122"/>
                <a:cs typeface="Georgia" pitchFamily="34" charset="-120"/>
              </a:rPr>
              <a:t>Both ______ and ______ have ______.</a:t>
            </a:r>
            <a:endParaRPr lang="en-US" sz="2000" dirty="0"/>
          </a:p>
          <a:p>
            <a:pPr indent="0" marL="0">
              <a:spcAft>
                <a:spcPts val="600"/>
              </a:spcAft>
              <a:buNone/>
            </a:pPr>
            <a:r>
              <a:rPr lang="en-US" sz="2000" dirty="0">
                <a:solidFill>
                  <a:srgbClr val="1E2761"/>
                </a:solidFill>
                <a:latin typeface="Georgia" pitchFamily="34" charset="0"/>
                <a:ea typeface="Georgia" pitchFamily="34" charset="-122"/>
                <a:cs typeface="Georgia" pitchFamily="34" charset="-120"/>
              </a:rPr>
              <a:t>Only ______ has ______.</a:t>
            </a:r>
            <a:endParaRPr lang="en-US" sz="2000" dirty="0"/>
          </a:p>
          <a:p>
            <a:pPr indent="0" marL="0">
              <a:spcAft>
                <a:spcPts val="600"/>
              </a:spcAft>
              <a:buNone/>
            </a:pPr>
            <a:r>
              <a:rPr lang="en-US" sz="2000" dirty="0">
                <a:solidFill>
                  <a:srgbClr val="1E2761"/>
                </a:solidFill>
                <a:latin typeface="Georgia" pitchFamily="34" charset="0"/>
                <a:ea typeface="Georgia" pitchFamily="34" charset="-122"/>
                <a:cs typeface="Georgia" pitchFamily="34" charset="-120"/>
              </a:rPr>
              <a:t>Unlike ______, ______ is ______.</a:t>
            </a:r>
            <a:endParaRPr lang="en-US" sz="2000" dirty="0"/>
          </a:p>
          <a:p>
            <a:pPr indent="0" marL="0">
              <a:spcAft>
                <a:spcPts val="600"/>
              </a:spcAft>
              <a:buNone/>
            </a:pPr>
            <a:r>
              <a:rPr lang="en-US" sz="2000" dirty="0">
                <a:solidFill>
                  <a:srgbClr val="1E2761"/>
                </a:solidFill>
                <a:latin typeface="Georgia" pitchFamily="34" charset="0"/>
                <a:ea typeface="Georgia" pitchFamily="34" charset="-122"/>
                <a:cs typeface="Georgia" pitchFamily="34" charset="-120"/>
              </a:rPr>
              <a:t>I would choose ______ because ______.</a:t>
            </a:r>
            <a:endParaRPr lang="en-US" sz="2000" dirty="0"/>
          </a:p>
        </p:txBody>
      </p:sp>
      <p:sp>
        <p:nvSpPr>
          <p:cNvPr id="11" name="push"/>
          <p:cNvSpPr txBox="1"/>
          <p:nvPr/>
        </p:nvSpPr>
        <p:spPr>
          <a:xfrm>
            <a:off x="548640" y="3840480"/>
            <a:ext cx="5943600" cy="1097280"/>
          </a:xfrm>
          <a:prstGeom prst="rect">
            <a:avLst/>
          </a:prstGeom>
          <a:noFill/>
          <a:ln/>
        </p:spPr>
        <p:txBody>
          <a:bodyPr wrap="square" lIns="0" tIns="0" rIns="0" bIns="0" rtlCol="0" anchor="ctr"/>
          <a:lstStyle/>
          <a:p>
            <a:pPr indent="0" marL="0">
              <a:buNone/>
            </a:pPr>
            <a:r>
              <a:rPr lang="en-US" sz="1400" dirty="0">
                <a:solidFill>
                  <a:srgbClr val="5B6078"/>
                </a:solidFill>
              </a:rPr>
              <a:t>Progressing: turn the four sentences into one paragraph with however. Challenge: add a counterargument — "Some people might say ___; however, ___."</a:t>
            </a:r>
            <a:endParaRPr lang="en-US" sz="1400" dirty="0"/>
          </a:p>
        </p:txBody>
      </p:sp>
      <p:sp>
        <p:nvSpPr>
          <p:cNvPr id="12" name="timer badge"/>
          <p:cNvSpPr/>
          <p:nvPr/>
        </p:nvSpPr>
        <p:spPr>
          <a:xfrm>
            <a:off x="9235440" y="4846320"/>
            <a:ext cx="2468880" cy="1051560"/>
          </a:xfrm>
          <a:prstGeom prst="roundRect">
            <a:avLst>
              <a:gd name="adj" fmla="val 13043"/>
            </a:avLst>
          </a:prstGeom>
          <a:solidFill>
            <a:srgbClr val="1E2761"/>
          </a:solidFill>
          <a:ln w="25400">
            <a:solidFill>
              <a:srgbClr val="C9A227"/>
            </a:solidFill>
            <a:prstDash val="solid"/>
          </a:ln>
        </p:spPr>
      </p:sp>
      <p:pic>
        <p:nvPicPr>
          <p:cNvPr id="13" name="clock" descr="preencoded.png">    </p:cNvPr>
          <p:cNvPicPr>
            <a:picLocks noChangeAspect="1"/>
          </p:cNvPicPr>
          <p:nvPr/>
        </p:nvPicPr>
        <p:blipFill>
          <a:blip r:embed="rId4"/>
          <a:stretch>
            <a:fillRect/>
          </a:stretch>
        </p:blipFill>
        <p:spPr>
          <a:xfrm>
            <a:off x="9372600" y="5102352"/>
            <a:ext cx="548640" cy="548640"/>
          </a:xfrm>
          <a:prstGeom prst="rect">
            <a:avLst/>
          </a:prstGeom>
        </p:spPr>
      </p:pic>
      <p:sp>
        <p:nvSpPr>
          <p:cNvPr id="14" name="timer link"/>
          <p:cNvSpPr txBox="1"/>
          <p:nvPr/>
        </p:nvSpPr>
        <p:spPr>
          <a:xfrm>
            <a:off x="9966960" y="4937760"/>
            <a:ext cx="1691640" cy="868680"/>
          </a:xfrm>
          <a:prstGeom prst="rect">
            <a:avLst/>
          </a:prstGeom>
          <a:noFill/>
          <a:ln/>
        </p:spPr>
        <p:txBody>
          <a:bodyPr wrap="square" lIns="0" tIns="0" rIns="0" bIns="0" rtlCol="0" anchor="ctr"/>
          <a:lstStyle/>
          <a:p>
            <a:pPr indent="0" marL="0">
              <a:buNone/>
            </a:pPr>
            <a:r>
              <a:rPr lang="en-US" sz="3000" b="1" u="sng" dirty="0">
                <a:solidFill>
                  <a:srgbClr val="FFFFFF"/>
                </a:solidFill>
                <a:hlinkClick r:id="rId5" invalidUrl="" action="" tgtFrame="" tooltip="" history="1" highlightClick="0" endSnd="0">
                  <a:extLst>
                    <a:ext uri="{A12FA001-AC4F-418D-AE19-62706E023703}">
                      <ahyp:hlinkClr xmlns:ahyp="http://schemas.microsoft.com/office/drawing/2018/hyperlinkcolor" val="tx"/>
                    </a:ext>
                  </a:extLst>
                </a:hlinkClick>
              </a:rPr>
              <a:t>20:00</a:t>
            </a:r>
            <a:endParaRPr lang="en-US" sz="3000" dirty="0"/>
          </a:p>
          <a:p>
            <a:pPr indent="0" marL="0">
              <a:buNone/>
            </a:pPr>
            <a:r>
              <a:rPr lang="en-US" sz="900" u="sng" dirty="0">
                <a:solidFill>
                  <a:srgbClr val="C9CEEA"/>
                </a:solidFill>
                <a:hlinkClick r:id="rId6" invalidUrl="" action="" tgtFrame="" tooltip="" history="1" highlightClick="0" endSnd="0">
                  <a:extLst>
                    <a:ext uri="{A12FA001-AC4F-418D-AE19-62706E023703}">
                      <ahyp:hlinkClr xmlns:ahyp="http://schemas.microsoft.com/office/drawing/2018/hyperlinkcolor" val="tx"/>
                    </a:ext>
                  </a:extLst>
                </a:hlinkClick>
              </a:rPr>
              <a:t>click to start timer</a:t>
            </a:r>
            <a:endParaRPr lang="en-US" sz="3000" dirty="0"/>
          </a:p>
        </p:txBody>
      </p:sp>
      <p:sp>
        <p:nvSpPr>
          <p:cNvPr id="16" name="Text 3"/>
          <p:cNvSpPr/>
          <p:nvPr>
            <p:ph idx="104" type="body" hasCustomPrompt="1"/>
          </p:nvPr>
        </p:nvSpPr>
        <p:spPr>
          <a:xfrm>
            <a:off x="548640" y="1463040"/>
            <a:ext cx="7315200" cy="457200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078"/>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me range"/>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spc="300" kern="0" dirty="0">
                <a:solidFill>
                  <a:srgbClr val="C9A227"/>
                </a:solidFill>
              </a:rPr>
              <a:t>80–87 min</a:t>
            </a:r>
            <a:endParaRPr lang="en-US" sz="1400" dirty="0"/>
          </a:p>
        </p:txBody>
      </p:sp>
      <p:sp>
        <p:nvSpPr>
          <p:cNvPr id="3" name="segment title"/>
          <p:cNvSpPr txBox="1"/>
          <p:nvPr/>
        </p:nvSpPr>
        <p:spPr>
          <a:xfrm>
            <a:off x="548640" y="914400"/>
            <a:ext cx="8503920" cy="146304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Record it. Or say the steps.</a:t>
            </a:r>
            <a:endParaRPr lang="en-US" sz="4800" dirty="0"/>
          </a:p>
        </p:txBody>
      </p:sp>
      <p:sp>
        <p:nvSpPr>
          <p:cNvPr id="4" name="segment sub"/>
          <p:cNvSpPr txBox="1"/>
          <p:nvPr/>
        </p:nvSpPr>
        <p:spPr>
          <a:xfrm>
            <a:off x="548640" y="2468880"/>
            <a:ext cx="8229600" cy="1097280"/>
          </a:xfrm>
          <a:prstGeom prst="rect">
            <a:avLst/>
          </a:prstGeom>
          <a:noFill/>
          <a:ln/>
        </p:spPr>
        <p:txBody>
          <a:bodyPr wrap="square" lIns="0" tIns="0" rIns="0" bIns="0" rtlCol="0" anchor="ctr"/>
          <a:lstStyle/>
          <a:p>
            <a:pPr indent="0" marL="0">
              <a:buNone/>
            </a:pPr>
            <a:r>
              <a:rPr lang="en-US" sz="2000" dirty="0">
                <a:solidFill>
                  <a:srgbClr val="C9CEEA"/>
                </a:solidFill>
              </a:rPr>
              <a:t>Progressing and Challenge: an opinion, 45–60 seconds. Newcomer and Emerging: the steps for pecan pie with the teacher.</a:t>
            </a:r>
            <a:endParaRPr lang="en-US" sz="2000" dirty="0"/>
          </a:p>
        </p:txBody>
      </p:sp>
      <p:pic>
        <p:nvPicPr>
          <p:cNvPr id="5" name="segment icon" descr="preencoded.png">    </p:cNvPr>
          <p:cNvPicPr>
            <a:picLocks noChangeAspect="1"/>
          </p:cNvPicPr>
          <p:nvPr/>
        </p:nvPicPr>
        <p:blipFill>
          <a:blip r:embed="rId1"/>
          <a:stretch>
            <a:fillRect/>
          </a:stretch>
        </p:blipFill>
        <p:spPr>
          <a:xfrm>
            <a:off x="548640" y="3931920"/>
            <a:ext cx="1188720" cy="1188720"/>
          </a:xfrm>
          <a:prstGeom prst="rect">
            <a:avLst/>
          </a:prstGeom>
        </p:spPr>
      </p:pic>
      <p:sp>
        <p:nvSpPr>
          <p:cNvPr id="6" name="timer badge"/>
          <p:cNvSpPr/>
          <p:nvPr/>
        </p:nvSpPr>
        <p:spPr>
          <a:xfrm>
            <a:off x="9235440" y="457200"/>
            <a:ext cx="2468880" cy="1051560"/>
          </a:xfrm>
          <a:prstGeom prst="roundRect">
            <a:avLst>
              <a:gd name="adj" fmla="val 13043"/>
            </a:avLst>
          </a:prstGeom>
          <a:solidFill>
            <a:srgbClr val="1E2761"/>
          </a:solidFill>
          <a:ln w="25400">
            <a:solidFill>
              <a:srgbClr val="C9A227"/>
            </a:solidFill>
            <a:prstDash val="solid"/>
          </a:ln>
        </p:spPr>
      </p:sp>
      <p:pic>
        <p:nvPicPr>
          <p:cNvPr id="7" name="clock" descr="preencoded.png">    </p:cNvPr>
          <p:cNvPicPr>
            <a:picLocks noChangeAspect="1"/>
          </p:cNvPicPr>
          <p:nvPr/>
        </p:nvPicPr>
        <p:blipFill>
          <a:blip r:embed="rId2"/>
          <a:stretch>
            <a:fillRect/>
          </a:stretch>
        </p:blipFill>
        <p:spPr>
          <a:xfrm>
            <a:off x="9372600" y="713232"/>
            <a:ext cx="548640" cy="548640"/>
          </a:xfrm>
          <a:prstGeom prst="rect">
            <a:avLst/>
          </a:prstGeom>
        </p:spPr>
      </p:pic>
      <p:sp>
        <p:nvSpPr>
          <p:cNvPr id="8" name="timer link"/>
          <p:cNvSpPr txBox="1"/>
          <p:nvPr/>
        </p:nvSpPr>
        <p:spPr>
          <a:xfrm>
            <a:off x="9966960" y="548640"/>
            <a:ext cx="1691640" cy="868680"/>
          </a:xfrm>
          <a:prstGeom prst="rect">
            <a:avLst/>
          </a:prstGeom>
          <a:noFill/>
          <a:ln/>
        </p:spPr>
        <p:txBody>
          <a:bodyPr wrap="square" lIns="0" tIns="0" rIns="0" bIns="0" rtlCol="0" anchor="ctr"/>
          <a:lstStyle/>
          <a:p>
            <a:pPr indent="0" marL="0">
              <a:buNone/>
            </a:pPr>
            <a:r>
              <a:rPr lang="en-US" sz="3000" b="1" u="sng" dirty="0">
                <a:solidFill>
                  <a:srgbClr val="FFFFFF"/>
                </a:solidFill>
                <a:hlinkClick r:id="rId3" invalidUrl="" action="" tgtFrame="" tooltip="" history="1" highlightClick="0" endSnd="0">
                  <a:extLst>
                    <a:ext uri="{A12FA001-AC4F-418D-AE19-62706E023703}">
                      <ahyp:hlinkClr xmlns:ahyp="http://schemas.microsoft.com/office/drawing/2018/hyperlinkcolor" val="tx"/>
                    </a:ext>
                  </a:extLst>
                </a:hlinkClick>
              </a:rPr>
              <a:t>7:00</a:t>
            </a:r>
            <a:endParaRPr lang="en-US" sz="3000" dirty="0"/>
          </a:p>
          <a:p>
            <a:pPr indent="0" marL="0">
              <a:buNone/>
            </a:pPr>
            <a:r>
              <a:rPr lang="en-US" sz="900" u="sng" dirty="0">
                <a:solidFill>
                  <a:srgbClr val="C9CEEA"/>
                </a:solidFill>
                <a:hlinkClick r:id="rId4" invalidUrl="" action="" tgtFrame="" tooltip="" history="1" highlightClick="0" endSnd="0">
                  <a:extLst>
                    <a:ext uri="{A12FA001-AC4F-418D-AE19-62706E023703}">
                      <ahyp:hlinkClr xmlns:ahyp="http://schemas.microsoft.com/office/drawing/2018/hyperlinkcolor" val="tx"/>
                    </a:ext>
                  </a:extLst>
                </a:hlinkClick>
              </a:rPr>
              <a:t>click to start timer</a:t>
            </a:r>
            <a:endParaRPr lang="en-US" sz="3000" dirty="0"/>
          </a:p>
        </p:txBody>
      </p:sp>
      <p:sp>
        <p:nvSpPr>
          <p:cNvPr id="9" name="agenda Open"/>
          <p:cNvSpPr/>
          <p:nvPr/>
        </p:nvSpPr>
        <p:spPr>
          <a:xfrm>
            <a:off x="548640" y="5577840"/>
            <a:ext cx="587248" cy="384048"/>
          </a:xfrm>
          <a:prstGeom prst="rect">
            <a:avLst/>
          </a:prstGeom>
          <a:solidFill>
            <a:srgbClr val="2B3470"/>
          </a:solidFill>
          <a:ln w="12700">
            <a:solidFill>
              <a:srgbClr val="1E2761"/>
            </a:solidFill>
            <a:prstDash val="solid"/>
          </a:ln>
        </p:spPr>
      </p:sp>
      <p:sp>
        <p:nvSpPr>
          <p:cNvPr id="10" name="agenda Five words"/>
          <p:cNvSpPr/>
          <p:nvPr/>
        </p:nvSpPr>
        <p:spPr>
          <a:xfrm>
            <a:off x="1163320" y="5577840"/>
            <a:ext cx="833120" cy="384048"/>
          </a:xfrm>
          <a:prstGeom prst="rect">
            <a:avLst/>
          </a:prstGeom>
          <a:solidFill>
            <a:srgbClr val="2B3470"/>
          </a:solidFill>
          <a:ln w="12700">
            <a:solidFill>
              <a:srgbClr val="1E2761"/>
            </a:solidFill>
            <a:prstDash val="solid"/>
          </a:ln>
        </p:spPr>
      </p:sp>
      <p:sp>
        <p:nvSpPr>
          <p:cNvPr id="11" name="agenda label Five words"/>
          <p:cNvSpPr txBox="1"/>
          <p:nvPr/>
        </p:nvSpPr>
        <p:spPr>
          <a:xfrm>
            <a:off x="1163320" y="5577840"/>
            <a:ext cx="833120" cy="384048"/>
          </a:xfrm>
          <a:prstGeom prst="rect">
            <a:avLst/>
          </a:prstGeom>
          <a:noFill/>
          <a:ln/>
        </p:spPr>
        <p:txBody>
          <a:bodyPr wrap="square" lIns="0" tIns="0" rIns="0" bIns="0" rtlCol="0" anchor="ctr"/>
          <a:lstStyle/>
          <a:p>
            <a:pPr algn="ctr" indent="0" marL="0">
              <a:buNone/>
            </a:pPr>
            <a:r>
              <a:rPr lang="en-US" sz="900" dirty="0">
                <a:solidFill>
                  <a:srgbClr val="AEB5DA"/>
                </a:solidFill>
              </a:rPr>
              <a:t>Five words</a:t>
            </a:r>
            <a:endParaRPr lang="en-US" sz="900" dirty="0"/>
          </a:p>
        </p:txBody>
      </p:sp>
      <p:sp>
        <p:nvSpPr>
          <p:cNvPr id="12" name="agenda Cognates"/>
          <p:cNvSpPr/>
          <p:nvPr/>
        </p:nvSpPr>
        <p:spPr>
          <a:xfrm>
            <a:off x="2023872" y="5577840"/>
            <a:ext cx="710184" cy="384048"/>
          </a:xfrm>
          <a:prstGeom prst="rect">
            <a:avLst/>
          </a:prstGeom>
          <a:solidFill>
            <a:srgbClr val="2B3470"/>
          </a:solidFill>
          <a:ln w="12700">
            <a:solidFill>
              <a:srgbClr val="1E2761"/>
            </a:solidFill>
            <a:prstDash val="solid"/>
          </a:ln>
        </p:spPr>
      </p:sp>
      <p:sp>
        <p:nvSpPr>
          <p:cNvPr id="13" name="agenda label Cognates"/>
          <p:cNvSpPr txBox="1"/>
          <p:nvPr/>
        </p:nvSpPr>
        <p:spPr>
          <a:xfrm>
            <a:off x="2023872" y="5577840"/>
            <a:ext cx="710184" cy="384048"/>
          </a:xfrm>
          <a:prstGeom prst="rect">
            <a:avLst/>
          </a:prstGeom>
          <a:noFill/>
          <a:ln/>
        </p:spPr>
        <p:txBody>
          <a:bodyPr wrap="square" lIns="0" tIns="0" rIns="0" bIns="0" rtlCol="0" anchor="ctr"/>
          <a:lstStyle/>
          <a:p>
            <a:pPr algn="ctr" indent="0" marL="0">
              <a:buNone/>
            </a:pPr>
            <a:r>
              <a:rPr lang="en-US" sz="900" dirty="0">
                <a:solidFill>
                  <a:srgbClr val="AEB5DA"/>
                </a:solidFill>
              </a:rPr>
              <a:t>Cognates</a:t>
            </a:r>
            <a:endParaRPr lang="en-US" sz="900" dirty="0"/>
          </a:p>
        </p:txBody>
      </p:sp>
      <p:sp>
        <p:nvSpPr>
          <p:cNvPr id="14" name="agenda Listening"/>
          <p:cNvSpPr/>
          <p:nvPr/>
        </p:nvSpPr>
        <p:spPr>
          <a:xfrm>
            <a:off x="2761488" y="5577840"/>
            <a:ext cx="1816608" cy="384048"/>
          </a:xfrm>
          <a:prstGeom prst="rect">
            <a:avLst/>
          </a:prstGeom>
          <a:solidFill>
            <a:srgbClr val="2B3470"/>
          </a:solidFill>
          <a:ln w="12700">
            <a:solidFill>
              <a:srgbClr val="1E2761"/>
            </a:solidFill>
            <a:prstDash val="solid"/>
          </a:ln>
        </p:spPr>
      </p:sp>
      <p:sp>
        <p:nvSpPr>
          <p:cNvPr id="15" name="agenda label Listening"/>
          <p:cNvSpPr txBox="1"/>
          <p:nvPr/>
        </p:nvSpPr>
        <p:spPr>
          <a:xfrm>
            <a:off x="2761488" y="5577840"/>
            <a:ext cx="1816608" cy="384048"/>
          </a:xfrm>
          <a:prstGeom prst="rect">
            <a:avLst/>
          </a:prstGeom>
          <a:noFill/>
          <a:ln/>
        </p:spPr>
        <p:txBody>
          <a:bodyPr wrap="square" lIns="0" tIns="0" rIns="0" bIns="0" rtlCol="0" anchor="ctr"/>
          <a:lstStyle/>
          <a:p>
            <a:pPr algn="ctr" indent="0" marL="0">
              <a:buNone/>
            </a:pPr>
            <a:r>
              <a:rPr lang="en-US" sz="900" dirty="0">
                <a:solidFill>
                  <a:srgbClr val="AEB5DA"/>
                </a:solidFill>
              </a:rPr>
              <a:t>Listening</a:t>
            </a:r>
            <a:endParaRPr lang="en-US" sz="900" dirty="0"/>
          </a:p>
        </p:txBody>
      </p:sp>
      <p:sp>
        <p:nvSpPr>
          <p:cNvPr id="16" name="agenda Reading"/>
          <p:cNvSpPr/>
          <p:nvPr/>
        </p:nvSpPr>
        <p:spPr>
          <a:xfrm>
            <a:off x="4605528" y="5577840"/>
            <a:ext cx="2062480" cy="384048"/>
          </a:xfrm>
          <a:prstGeom prst="rect">
            <a:avLst/>
          </a:prstGeom>
          <a:solidFill>
            <a:srgbClr val="2B3470"/>
          </a:solidFill>
          <a:ln w="12700">
            <a:solidFill>
              <a:srgbClr val="1E2761"/>
            </a:solidFill>
            <a:prstDash val="solid"/>
          </a:ln>
        </p:spPr>
      </p:sp>
      <p:sp>
        <p:nvSpPr>
          <p:cNvPr id="17" name="agenda label Reading"/>
          <p:cNvSpPr txBox="1"/>
          <p:nvPr/>
        </p:nvSpPr>
        <p:spPr>
          <a:xfrm>
            <a:off x="4605528" y="5577840"/>
            <a:ext cx="2062480" cy="384048"/>
          </a:xfrm>
          <a:prstGeom prst="rect">
            <a:avLst/>
          </a:prstGeom>
          <a:noFill/>
          <a:ln/>
        </p:spPr>
        <p:txBody>
          <a:bodyPr wrap="square" lIns="0" tIns="0" rIns="0" bIns="0" rtlCol="0" anchor="ctr"/>
          <a:lstStyle/>
          <a:p>
            <a:pPr algn="ctr" indent="0" marL="0">
              <a:buNone/>
            </a:pPr>
            <a:r>
              <a:rPr lang="en-US" sz="900" dirty="0">
                <a:solidFill>
                  <a:srgbClr val="AEB5DA"/>
                </a:solidFill>
              </a:rPr>
              <a:t>Reading</a:t>
            </a:r>
            <a:endParaRPr lang="en-US" sz="900" dirty="0"/>
          </a:p>
        </p:txBody>
      </p:sp>
      <p:sp>
        <p:nvSpPr>
          <p:cNvPr id="18" name="agenda Talk"/>
          <p:cNvSpPr/>
          <p:nvPr/>
        </p:nvSpPr>
        <p:spPr>
          <a:xfrm>
            <a:off x="6695440" y="5577840"/>
            <a:ext cx="1201928" cy="384048"/>
          </a:xfrm>
          <a:prstGeom prst="rect">
            <a:avLst/>
          </a:prstGeom>
          <a:solidFill>
            <a:srgbClr val="2B3470"/>
          </a:solidFill>
          <a:ln w="12700">
            <a:solidFill>
              <a:srgbClr val="1E2761"/>
            </a:solidFill>
            <a:prstDash val="solid"/>
          </a:ln>
        </p:spPr>
      </p:sp>
      <p:sp>
        <p:nvSpPr>
          <p:cNvPr id="19" name="agenda label Talk"/>
          <p:cNvSpPr txBox="1"/>
          <p:nvPr/>
        </p:nvSpPr>
        <p:spPr>
          <a:xfrm>
            <a:off x="6695440" y="5577840"/>
            <a:ext cx="1201928" cy="384048"/>
          </a:xfrm>
          <a:prstGeom prst="rect">
            <a:avLst/>
          </a:prstGeom>
          <a:noFill/>
          <a:ln/>
        </p:spPr>
        <p:txBody>
          <a:bodyPr wrap="square" lIns="0" tIns="0" rIns="0" bIns="0" rtlCol="0" anchor="ctr"/>
          <a:lstStyle/>
          <a:p>
            <a:pPr algn="ctr" indent="0" marL="0">
              <a:buNone/>
            </a:pPr>
            <a:r>
              <a:rPr lang="en-US" sz="900" dirty="0">
                <a:solidFill>
                  <a:srgbClr val="AEB5DA"/>
                </a:solidFill>
              </a:rPr>
              <a:t>Talk</a:t>
            </a:r>
            <a:endParaRPr lang="en-US" sz="900" dirty="0"/>
          </a:p>
        </p:txBody>
      </p:sp>
      <p:sp>
        <p:nvSpPr>
          <p:cNvPr id="20" name="agenda Writing"/>
          <p:cNvSpPr/>
          <p:nvPr/>
        </p:nvSpPr>
        <p:spPr>
          <a:xfrm>
            <a:off x="7924800" y="5577840"/>
            <a:ext cx="2431288" cy="384048"/>
          </a:xfrm>
          <a:prstGeom prst="rect">
            <a:avLst/>
          </a:prstGeom>
          <a:solidFill>
            <a:srgbClr val="2B3470"/>
          </a:solidFill>
          <a:ln w="12700">
            <a:solidFill>
              <a:srgbClr val="1E2761"/>
            </a:solidFill>
            <a:prstDash val="solid"/>
          </a:ln>
        </p:spPr>
      </p:sp>
      <p:sp>
        <p:nvSpPr>
          <p:cNvPr id="21" name="agenda label Writing"/>
          <p:cNvSpPr txBox="1"/>
          <p:nvPr/>
        </p:nvSpPr>
        <p:spPr>
          <a:xfrm>
            <a:off x="7924800" y="5577840"/>
            <a:ext cx="2431288" cy="384048"/>
          </a:xfrm>
          <a:prstGeom prst="rect">
            <a:avLst/>
          </a:prstGeom>
          <a:noFill/>
          <a:ln/>
        </p:spPr>
        <p:txBody>
          <a:bodyPr wrap="square" lIns="0" tIns="0" rIns="0" bIns="0" rtlCol="0" anchor="ctr"/>
          <a:lstStyle/>
          <a:p>
            <a:pPr algn="ctr" indent="0" marL="0">
              <a:buNone/>
            </a:pPr>
            <a:r>
              <a:rPr lang="en-US" sz="900" dirty="0">
                <a:solidFill>
                  <a:srgbClr val="AEB5DA"/>
                </a:solidFill>
              </a:rPr>
              <a:t>Writing</a:t>
            </a:r>
            <a:endParaRPr lang="en-US" sz="900" dirty="0"/>
          </a:p>
        </p:txBody>
      </p:sp>
      <p:sp>
        <p:nvSpPr>
          <p:cNvPr id="22" name="agenda S4 / S2"/>
          <p:cNvSpPr/>
          <p:nvPr/>
        </p:nvSpPr>
        <p:spPr>
          <a:xfrm>
            <a:off x="10383520" y="5577840"/>
            <a:ext cx="833120" cy="384048"/>
          </a:xfrm>
          <a:prstGeom prst="rect">
            <a:avLst/>
          </a:prstGeom>
          <a:solidFill>
            <a:srgbClr val="C9A227"/>
          </a:solidFill>
          <a:ln w="12700">
            <a:solidFill>
              <a:srgbClr val="1E2761"/>
            </a:solidFill>
            <a:prstDash val="solid"/>
          </a:ln>
        </p:spPr>
      </p:sp>
      <p:sp>
        <p:nvSpPr>
          <p:cNvPr id="23" name="agenda label S4 / S2"/>
          <p:cNvSpPr txBox="1"/>
          <p:nvPr/>
        </p:nvSpPr>
        <p:spPr>
          <a:xfrm>
            <a:off x="10383520" y="5577840"/>
            <a:ext cx="833120" cy="384048"/>
          </a:xfrm>
          <a:prstGeom prst="rect">
            <a:avLst/>
          </a:prstGeom>
          <a:noFill/>
          <a:ln/>
        </p:spPr>
        <p:txBody>
          <a:bodyPr wrap="square" lIns="0" tIns="0" rIns="0" bIns="0" rtlCol="0" anchor="ctr"/>
          <a:lstStyle/>
          <a:p>
            <a:pPr algn="ctr" indent="0" marL="0">
              <a:buNone/>
            </a:pPr>
            <a:r>
              <a:rPr lang="en-US" sz="900" dirty="0">
                <a:solidFill>
                  <a:srgbClr val="1E2761"/>
                </a:solidFill>
              </a:rPr>
              <a:t>S4 / S2</a:t>
            </a:r>
            <a:endParaRPr lang="en-US" sz="900" dirty="0"/>
          </a:p>
        </p:txBody>
      </p:sp>
      <p:sp>
        <p:nvSpPr>
          <p:cNvPr id="24" name="agenda Exit"/>
          <p:cNvSpPr/>
          <p:nvPr/>
        </p:nvSpPr>
        <p:spPr>
          <a:xfrm>
            <a:off x="11244072" y="5577840"/>
            <a:ext cx="341376" cy="384048"/>
          </a:xfrm>
          <a:prstGeom prst="rect">
            <a:avLst/>
          </a:prstGeom>
          <a:solidFill>
            <a:srgbClr val="2B3470"/>
          </a:solidFill>
          <a:ln w="12700">
            <a:solidFill>
              <a:srgbClr val="1E2761"/>
            </a:solidFill>
            <a:prstDash val="solid"/>
          </a:ln>
        </p:spPr>
      </p:sp>
      <p:sp>
        <p:nvSpPr>
          <p:cNvPr id="25" name="Text 2"/>
          <p:cNvSpPr/>
          <p:nvPr>
            <p:ph idx="102" type="title" hasCustomPrompt="1"/>
          </p:nvPr>
        </p:nvSpPr>
        <p:spPr>
          <a:xfrm>
            <a:off x="548640" y="457200"/>
            <a:ext cx="11064240" cy="1005840"/>
          </a:xfrm>
          <a:prstGeom prst="rect">
            <a:avLst/>
          </a:prstGeom>
          <a:noFill/>
          <a:ln/>
        </p:spPr>
        <p:txBody>
          <a:bodyPr wrap="square" lIns="0" tIns="0" rIns="0" bIns="0" rtlCol="0"/>
          <a:lstStyle/>
          <a:p>
            <a:pPr indent="0" marL="0">
              <a:buNone/>
            </a:pPr>
            <a:endParaRPr lang="en-US" sz="4000" dirty="0"/>
          </a:p>
        </p:txBody>
      </p:sp>
      <p:sp>
        <p:nvSpPr>
          <p:cNvPr id="26" name="Text 2"/>
          <p:cNvSpPr/>
          <p:nvPr>
            <p:ph idx="103" type="body" hasCustomPrompt="1"/>
          </p:nvPr>
        </p:nvSpPr>
        <p:spPr>
          <a:xfrm>
            <a:off x="548640" y="1554480"/>
            <a:ext cx="7498080" cy="448056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5DA"/>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3"/>
          <p:cNvSpPr/>
          <p:nvPr>
            <p:ph idx="103" type="title" hasCustomPrompt="1"/>
          </p:nvPr>
        </p:nvSpPr>
        <p:spPr>
          <a:xfrm>
            <a:off x="548640" y="411480"/>
            <a:ext cx="11064240" cy="914400"/>
          </a:xfrm>
          <a:prstGeom prst="rect">
            <a:avLst/>
          </a:prstGeom>
          <a:noFill/>
          <a:ln/>
        </p:spPr>
        <p:txBody>
          <a:bodyPr wrap="square" lIns="0" tIns="0" rIns="0" bIns="0" rtlCol="0"/>
          <a:lstStyle/>
          <a:p>
            <a:pPr indent="0" marL="0">
              <a:buNone/>
            </a:pPr>
            <a:r>
              <a:rPr lang="en-US" sz="3600" b="1" dirty="0">
                <a:solidFill>
                  <a:srgbClr val="1E2761"/>
                </a:solidFill>
              </a:rPr>
              <a:t>S4 · Opinion  ·  S2 · Give the steps</a:t>
            </a:r>
            <a:endParaRPr lang="en-US" sz="3600" dirty="0"/>
          </a:p>
        </p:txBody>
      </p:sp>
      <p:sp>
        <p:nvSpPr>
          <p:cNvPr id="3" name="s4 box"/>
          <p:cNvSpPr/>
          <p:nvPr/>
        </p:nvSpPr>
        <p:spPr>
          <a:xfrm>
            <a:off x="548640" y="1371600"/>
            <a:ext cx="5486400" cy="4480560"/>
          </a:xfrm>
          <a:prstGeom prst="roundRect">
            <a:avLst>
              <a:gd name="adj" fmla="val 2449"/>
            </a:avLst>
          </a:prstGeom>
          <a:solidFill>
            <a:srgbClr val="FFFFFF"/>
          </a:solidFill>
          <a:ln w="25400">
            <a:solidFill>
              <a:srgbClr val="17606F"/>
            </a:solidFill>
            <a:prstDash val="solid"/>
          </a:ln>
        </p:spPr>
      </p:sp>
      <p:sp>
        <p:nvSpPr>
          <p:cNvPr id="4" name="s4 text"/>
          <p:cNvSpPr txBox="1"/>
          <p:nvPr/>
        </p:nvSpPr>
        <p:spPr>
          <a:xfrm>
            <a:off x="777240" y="1508760"/>
            <a:ext cx="5029200" cy="4206240"/>
          </a:xfrm>
          <a:prstGeom prst="rect">
            <a:avLst/>
          </a:prstGeom>
          <a:noFill/>
          <a:ln/>
        </p:spPr>
        <p:txBody>
          <a:bodyPr wrap="square" lIns="0" tIns="0" rIns="0" bIns="0" rtlCol="0" anchor="t"/>
          <a:lstStyle/>
          <a:p>
            <a:pPr indent="0" marL="0">
              <a:buNone/>
            </a:pPr>
            <a:r>
              <a:rPr lang="en-US" sz="2000" b="1" dirty="0">
                <a:solidFill>
                  <a:srgbClr val="17606F"/>
                </a:solidFill>
              </a:rPr>
              <a:t>S4 · Which pie for the Thanksgiving lunch?
</a:t>
            </a:r>
            <a:pPr indent="0" marL="0">
              <a:buNone/>
            </a:pPr>
            <a:r>
              <a:rPr lang="en-US" sz="1700" dirty="0">
                <a:solidFill>
                  <a:srgbClr val="1E2761"/>
                </a:solidFill>
                <a:latin typeface="Georgia" pitchFamily="34" charset="0"/>
                <a:ea typeface="Georgia" pitchFamily="34" charset="-122"/>
                <a:cs typeface="Georgia" pitchFamily="34" charset="-120"/>
              </a:rPr>
              <a:t>In my opinion, the cafeteria should serve ___ because ___ and ___. First, ___. Second, ___. Some people might say ___; however, ___.
</a:t>
            </a:r>
            <a:pPr indent="0" marL="0">
              <a:buNone/>
            </a:pPr>
            <a:r>
              <a:rPr lang="en-US" sz="1400" dirty="0">
                <a:solidFill>
                  <a:srgbClr val="5B6078"/>
                </a:solidFill>
              </a:rPr>
              <a:t>45–60 seconds. Two reasons. Challenge: answer the other side.</a:t>
            </a:r>
            <a:endParaRPr lang="en-US" sz="2000" dirty="0"/>
          </a:p>
        </p:txBody>
      </p:sp>
      <p:sp>
        <p:nvSpPr>
          <p:cNvPr id="5" name="s2 box"/>
          <p:cNvSpPr/>
          <p:nvPr/>
        </p:nvSpPr>
        <p:spPr>
          <a:xfrm>
            <a:off x="6309360" y="1371600"/>
            <a:ext cx="5303520" cy="4480560"/>
          </a:xfrm>
          <a:prstGeom prst="roundRect">
            <a:avLst>
              <a:gd name="adj" fmla="val 2449"/>
            </a:avLst>
          </a:prstGeom>
          <a:solidFill>
            <a:srgbClr val="FFFFFF"/>
          </a:solidFill>
          <a:ln w="25400">
            <a:solidFill>
              <a:srgbClr val="B5213F"/>
            </a:solidFill>
            <a:prstDash val="solid"/>
          </a:ln>
        </p:spPr>
      </p:sp>
      <p:pic>
        <p:nvPicPr>
          <p:cNvPr id="6" name="pecan small" descr="/home/claude/deck/pecan.jpg">    </p:cNvPr>
          <p:cNvPicPr>
            <a:picLocks noChangeAspect="1"/>
          </p:cNvPicPr>
          <p:nvPr/>
        </p:nvPicPr>
        <p:blipFill>
          <a:blip r:embed="rId1"/>
          <a:stretch>
            <a:fillRect/>
          </a:stretch>
        </p:blipFill>
        <p:spPr>
          <a:xfrm>
            <a:off x="6492240" y="1554480"/>
            <a:ext cx="2011680" cy="1920240"/>
          </a:xfrm>
          <a:prstGeom prst="rect">
            <a:avLst/>
          </a:prstGeom>
        </p:spPr>
      </p:pic>
      <p:sp>
        <p:nvSpPr>
          <p:cNvPr id="7" name="s2 text"/>
          <p:cNvSpPr txBox="1"/>
          <p:nvPr/>
        </p:nvSpPr>
        <p:spPr>
          <a:xfrm>
            <a:off x="8686800" y="1508760"/>
            <a:ext cx="2834640" cy="4206240"/>
          </a:xfrm>
          <a:prstGeom prst="rect">
            <a:avLst/>
          </a:prstGeom>
          <a:noFill/>
          <a:ln/>
        </p:spPr>
        <p:txBody>
          <a:bodyPr wrap="square" lIns="0" tIns="0" rIns="0" bIns="0" rtlCol="0" anchor="t"/>
          <a:lstStyle/>
          <a:p>
            <a:pPr indent="0" marL="0">
              <a:buNone/>
            </a:pPr>
            <a:r>
              <a:rPr lang="en-US" sz="2000" b="1" dirty="0">
                <a:solidFill>
                  <a:srgbClr val="B5213F"/>
                </a:solidFill>
              </a:rPr>
              <a:t>S2 · How do you make pecan pie?
</a:t>
            </a:r>
            <a:pPr indent="0" marL="0">
              <a:buNone/>
            </a:pPr>
            <a:r>
              <a:rPr lang="en-US" sz="1800" dirty="0">
                <a:solidFill>
                  <a:srgbClr val="1E2761"/>
                </a:solidFill>
                <a:latin typeface="Georgia" pitchFamily="34" charset="0"/>
                <a:ea typeface="Georgia" pitchFamily="34" charset="-122"/>
                <a:cs typeface="Georgia" pitchFamily="34" charset="-120"/>
              </a:rPr>
              <a:t>First, ___.
Then, ___.
Next, ___.
Finally, ___.
</a:t>
            </a:r>
            <a:pPr indent="0" marL="0">
              <a:buNone/>
            </a:pPr>
            <a:r>
              <a:rPr lang="en-US" sz="1300" dirty="0">
                <a:solidFill>
                  <a:srgbClr val="5B6078"/>
                </a:solidFill>
              </a:rPr>
              <a:t>Use the ingredient list: pecans, brown sugar, eggs, butter, corn syrup, pie crust.</a:t>
            </a:r>
            <a:endParaRPr lang="en-US" sz="2000" dirty="0"/>
          </a:p>
        </p:txBody>
      </p:sp>
      <p:sp>
        <p:nvSpPr>
          <p:cNvPr id="9" name="Text 3"/>
          <p:cNvSpPr/>
          <p:nvPr>
            <p:ph idx="104" type="body" hasCustomPrompt="1"/>
          </p:nvPr>
        </p:nvSpPr>
        <p:spPr>
          <a:xfrm>
            <a:off x="548640" y="1463040"/>
            <a:ext cx="7315200" cy="457200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078"/>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ime range"/>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spc="300" kern="0" dirty="0">
                <a:solidFill>
                  <a:srgbClr val="C9A227"/>
                </a:solidFill>
              </a:rPr>
              <a:t>87–90 min</a:t>
            </a:r>
            <a:endParaRPr lang="en-US" sz="1400" dirty="0"/>
          </a:p>
        </p:txBody>
      </p:sp>
      <p:sp>
        <p:nvSpPr>
          <p:cNvPr id="3" name="segment title"/>
          <p:cNvSpPr txBox="1"/>
          <p:nvPr/>
        </p:nvSpPr>
        <p:spPr>
          <a:xfrm>
            <a:off x="548640" y="914400"/>
            <a:ext cx="8503920" cy="146304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Exit ticket.</a:t>
            </a:r>
            <a:endParaRPr lang="en-US" sz="4800" dirty="0"/>
          </a:p>
        </p:txBody>
      </p:sp>
      <p:sp>
        <p:nvSpPr>
          <p:cNvPr id="4" name="segment sub"/>
          <p:cNvSpPr txBox="1"/>
          <p:nvPr/>
        </p:nvSpPr>
        <p:spPr>
          <a:xfrm>
            <a:off x="548640" y="2468880"/>
            <a:ext cx="8229600" cy="1097280"/>
          </a:xfrm>
          <a:prstGeom prst="rect">
            <a:avLst/>
          </a:prstGeom>
          <a:noFill/>
          <a:ln/>
        </p:spPr>
        <p:txBody>
          <a:bodyPr wrap="square" lIns="0" tIns="0" rIns="0" bIns="0" rtlCol="0" anchor="ctr"/>
          <a:lstStyle/>
          <a:p>
            <a:pPr indent="0" marL="0">
              <a:buNone/>
            </a:pPr>
            <a:r>
              <a:rPr lang="en-US" sz="2000" dirty="0">
                <a:solidFill>
                  <a:srgbClr val="C9CEEA"/>
                </a:solidFill>
              </a:rPr>
              <a:t>One sentence. Any lane.</a:t>
            </a:r>
            <a:endParaRPr lang="en-US" sz="2000" dirty="0"/>
          </a:p>
        </p:txBody>
      </p:sp>
      <p:pic>
        <p:nvPicPr>
          <p:cNvPr id="5" name="segment icon" descr="preencoded.png">    </p:cNvPr>
          <p:cNvPicPr>
            <a:picLocks noChangeAspect="1"/>
          </p:cNvPicPr>
          <p:nvPr/>
        </p:nvPicPr>
        <p:blipFill>
          <a:blip r:embed="rId1"/>
          <a:stretch>
            <a:fillRect/>
          </a:stretch>
        </p:blipFill>
        <p:spPr>
          <a:xfrm>
            <a:off x="548640" y="3931920"/>
            <a:ext cx="1188720" cy="1188720"/>
          </a:xfrm>
          <a:prstGeom prst="rect">
            <a:avLst/>
          </a:prstGeom>
        </p:spPr>
      </p:pic>
      <p:sp>
        <p:nvSpPr>
          <p:cNvPr id="6" name="timer badge"/>
          <p:cNvSpPr/>
          <p:nvPr/>
        </p:nvSpPr>
        <p:spPr>
          <a:xfrm>
            <a:off x="9235440" y="457200"/>
            <a:ext cx="2468880" cy="1051560"/>
          </a:xfrm>
          <a:prstGeom prst="roundRect">
            <a:avLst>
              <a:gd name="adj" fmla="val 13043"/>
            </a:avLst>
          </a:prstGeom>
          <a:solidFill>
            <a:srgbClr val="1E2761"/>
          </a:solidFill>
          <a:ln w="25400">
            <a:solidFill>
              <a:srgbClr val="C9A227"/>
            </a:solidFill>
            <a:prstDash val="solid"/>
          </a:ln>
        </p:spPr>
      </p:sp>
      <p:pic>
        <p:nvPicPr>
          <p:cNvPr id="7" name="clock" descr="preencoded.png">    </p:cNvPr>
          <p:cNvPicPr>
            <a:picLocks noChangeAspect="1"/>
          </p:cNvPicPr>
          <p:nvPr/>
        </p:nvPicPr>
        <p:blipFill>
          <a:blip r:embed="rId2"/>
          <a:stretch>
            <a:fillRect/>
          </a:stretch>
        </p:blipFill>
        <p:spPr>
          <a:xfrm>
            <a:off x="9372600" y="713232"/>
            <a:ext cx="548640" cy="548640"/>
          </a:xfrm>
          <a:prstGeom prst="rect">
            <a:avLst/>
          </a:prstGeom>
        </p:spPr>
      </p:pic>
      <p:sp>
        <p:nvSpPr>
          <p:cNvPr id="8" name="timer link"/>
          <p:cNvSpPr txBox="1"/>
          <p:nvPr/>
        </p:nvSpPr>
        <p:spPr>
          <a:xfrm>
            <a:off x="9966960" y="548640"/>
            <a:ext cx="1691640" cy="868680"/>
          </a:xfrm>
          <a:prstGeom prst="rect">
            <a:avLst/>
          </a:prstGeom>
          <a:noFill/>
          <a:ln/>
        </p:spPr>
        <p:txBody>
          <a:bodyPr wrap="square" lIns="0" tIns="0" rIns="0" bIns="0" rtlCol="0" anchor="ctr"/>
          <a:lstStyle/>
          <a:p>
            <a:pPr indent="0" marL="0">
              <a:buNone/>
            </a:pPr>
            <a:r>
              <a:rPr lang="en-US" sz="3000" b="1" u="sng" dirty="0">
                <a:solidFill>
                  <a:srgbClr val="FFFFFF"/>
                </a:solidFill>
                <a:hlinkClick r:id="rId3" invalidUrl="" action="" tgtFrame="" tooltip="" history="1" highlightClick="0" endSnd="0">
                  <a:extLst>
                    <a:ext uri="{A12FA001-AC4F-418D-AE19-62706E023703}">
                      <ahyp:hlinkClr xmlns:ahyp="http://schemas.microsoft.com/office/drawing/2018/hyperlinkcolor" val="tx"/>
                    </a:ext>
                  </a:extLst>
                </a:hlinkClick>
              </a:rPr>
              <a:t>3:00</a:t>
            </a:r>
            <a:endParaRPr lang="en-US" sz="3000" dirty="0"/>
          </a:p>
          <a:p>
            <a:pPr indent="0" marL="0">
              <a:buNone/>
            </a:pPr>
            <a:r>
              <a:rPr lang="en-US" sz="900" u="sng" dirty="0">
                <a:solidFill>
                  <a:srgbClr val="C9CEEA"/>
                </a:solidFill>
                <a:hlinkClick r:id="rId4" invalidUrl="" action="" tgtFrame="" tooltip="" history="1" highlightClick="0" endSnd="0">
                  <a:extLst>
                    <a:ext uri="{A12FA001-AC4F-418D-AE19-62706E023703}">
                      <ahyp:hlinkClr xmlns:ahyp="http://schemas.microsoft.com/office/drawing/2018/hyperlinkcolor" val="tx"/>
                    </a:ext>
                  </a:extLst>
                </a:hlinkClick>
              </a:rPr>
              <a:t>click to start timer</a:t>
            </a:r>
            <a:endParaRPr lang="en-US" sz="3000" dirty="0"/>
          </a:p>
        </p:txBody>
      </p:sp>
      <p:sp>
        <p:nvSpPr>
          <p:cNvPr id="9" name="agenda Open"/>
          <p:cNvSpPr/>
          <p:nvPr/>
        </p:nvSpPr>
        <p:spPr>
          <a:xfrm>
            <a:off x="548640" y="5577840"/>
            <a:ext cx="587248" cy="384048"/>
          </a:xfrm>
          <a:prstGeom prst="rect">
            <a:avLst/>
          </a:prstGeom>
          <a:solidFill>
            <a:srgbClr val="2B3470"/>
          </a:solidFill>
          <a:ln w="12700">
            <a:solidFill>
              <a:srgbClr val="1E2761"/>
            </a:solidFill>
            <a:prstDash val="solid"/>
          </a:ln>
        </p:spPr>
      </p:sp>
      <p:sp>
        <p:nvSpPr>
          <p:cNvPr id="10" name="agenda Five words"/>
          <p:cNvSpPr/>
          <p:nvPr/>
        </p:nvSpPr>
        <p:spPr>
          <a:xfrm>
            <a:off x="1163320" y="5577840"/>
            <a:ext cx="833120" cy="384048"/>
          </a:xfrm>
          <a:prstGeom prst="rect">
            <a:avLst/>
          </a:prstGeom>
          <a:solidFill>
            <a:srgbClr val="2B3470"/>
          </a:solidFill>
          <a:ln w="12700">
            <a:solidFill>
              <a:srgbClr val="1E2761"/>
            </a:solidFill>
            <a:prstDash val="solid"/>
          </a:ln>
        </p:spPr>
      </p:sp>
      <p:sp>
        <p:nvSpPr>
          <p:cNvPr id="11" name="agenda label Five words"/>
          <p:cNvSpPr txBox="1"/>
          <p:nvPr/>
        </p:nvSpPr>
        <p:spPr>
          <a:xfrm>
            <a:off x="1163320" y="5577840"/>
            <a:ext cx="833120" cy="384048"/>
          </a:xfrm>
          <a:prstGeom prst="rect">
            <a:avLst/>
          </a:prstGeom>
          <a:noFill/>
          <a:ln/>
        </p:spPr>
        <p:txBody>
          <a:bodyPr wrap="square" lIns="0" tIns="0" rIns="0" bIns="0" rtlCol="0" anchor="ctr"/>
          <a:lstStyle/>
          <a:p>
            <a:pPr algn="ctr" indent="0" marL="0">
              <a:buNone/>
            </a:pPr>
            <a:r>
              <a:rPr lang="en-US" sz="900" dirty="0">
                <a:solidFill>
                  <a:srgbClr val="AEB5DA"/>
                </a:solidFill>
              </a:rPr>
              <a:t>Five words</a:t>
            </a:r>
            <a:endParaRPr lang="en-US" sz="900" dirty="0"/>
          </a:p>
        </p:txBody>
      </p:sp>
      <p:sp>
        <p:nvSpPr>
          <p:cNvPr id="12" name="agenda Cognates"/>
          <p:cNvSpPr/>
          <p:nvPr/>
        </p:nvSpPr>
        <p:spPr>
          <a:xfrm>
            <a:off x="2023872" y="5577840"/>
            <a:ext cx="710184" cy="384048"/>
          </a:xfrm>
          <a:prstGeom prst="rect">
            <a:avLst/>
          </a:prstGeom>
          <a:solidFill>
            <a:srgbClr val="2B3470"/>
          </a:solidFill>
          <a:ln w="12700">
            <a:solidFill>
              <a:srgbClr val="1E2761"/>
            </a:solidFill>
            <a:prstDash val="solid"/>
          </a:ln>
        </p:spPr>
      </p:sp>
      <p:sp>
        <p:nvSpPr>
          <p:cNvPr id="13" name="agenda label Cognates"/>
          <p:cNvSpPr txBox="1"/>
          <p:nvPr/>
        </p:nvSpPr>
        <p:spPr>
          <a:xfrm>
            <a:off x="2023872" y="5577840"/>
            <a:ext cx="710184" cy="384048"/>
          </a:xfrm>
          <a:prstGeom prst="rect">
            <a:avLst/>
          </a:prstGeom>
          <a:noFill/>
          <a:ln/>
        </p:spPr>
        <p:txBody>
          <a:bodyPr wrap="square" lIns="0" tIns="0" rIns="0" bIns="0" rtlCol="0" anchor="ctr"/>
          <a:lstStyle/>
          <a:p>
            <a:pPr algn="ctr" indent="0" marL="0">
              <a:buNone/>
            </a:pPr>
            <a:r>
              <a:rPr lang="en-US" sz="900" dirty="0">
                <a:solidFill>
                  <a:srgbClr val="AEB5DA"/>
                </a:solidFill>
              </a:rPr>
              <a:t>Cognates</a:t>
            </a:r>
            <a:endParaRPr lang="en-US" sz="900" dirty="0"/>
          </a:p>
        </p:txBody>
      </p:sp>
      <p:sp>
        <p:nvSpPr>
          <p:cNvPr id="14" name="agenda Listening"/>
          <p:cNvSpPr/>
          <p:nvPr/>
        </p:nvSpPr>
        <p:spPr>
          <a:xfrm>
            <a:off x="2761488" y="5577840"/>
            <a:ext cx="1816608" cy="384048"/>
          </a:xfrm>
          <a:prstGeom prst="rect">
            <a:avLst/>
          </a:prstGeom>
          <a:solidFill>
            <a:srgbClr val="2B3470"/>
          </a:solidFill>
          <a:ln w="12700">
            <a:solidFill>
              <a:srgbClr val="1E2761"/>
            </a:solidFill>
            <a:prstDash val="solid"/>
          </a:ln>
        </p:spPr>
      </p:sp>
      <p:sp>
        <p:nvSpPr>
          <p:cNvPr id="15" name="agenda label Listening"/>
          <p:cNvSpPr txBox="1"/>
          <p:nvPr/>
        </p:nvSpPr>
        <p:spPr>
          <a:xfrm>
            <a:off x="2761488" y="5577840"/>
            <a:ext cx="1816608" cy="384048"/>
          </a:xfrm>
          <a:prstGeom prst="rect">
            <a:avLst/>
          </a:prstGeom>
          <a:noFill/>
          <a:ln/>
        </p:spPr>
        <p:txBody>
          <a:bodyPr wrap="square" lIns="0" tIns="0" rIns="0" bIns="0" rtlCol="0" anchor="ctr"/>
          <a:lstStyle/>
          <a:p>
            <a:pPr algn="ctr" indent="0" marL="0">
              <a:buNone/>
            </a:pPr>
            <a:r>
              <a:rPr lang="en-US" sz="900" dirty="0">
                <a:solidFill>
                  <a:srgbClr val="AEB5DA"/>
                </a:solidFill>
              </a:rPr>
              <a:t>Listening</a:t>
            </a:r>
            <a:endParaRPr lang="en-US" sz="900" dirty="0"/>
          </a:p>
        </p:txBody>
      </p:sp>
      <p:sp>
        <p:nvSpPr>
          <p:cNvPr id="16" name="agenda Reading"/>
          <p:cNvSpPr/>
          <p:nvPr/>
        </p:nvSpPr>
        <p:spPr>
          <a:xfrm>
            <a:off x="4605528" y="5577840"/>
            <a:ext cx="2062480" cy="384048"/>
          </a:xfrm>
          <a:prstGeom prst="rect">
            <a:avLst/>
          </a:prstGeom>
          <a:solidFill>
            <a:srgbClr val="2B3470"/>
          </a:solidFill>
          <a:ln w="12700">
            <a:solidFill>
              <a:srgbClr val="1E2761"/>
            </a:solidFill>
            <a:prstDash val="solid"/>
          </a:ln>
        </p:spPr>
      </p:sp>
      <p:sp>
        <p:nvSpPr>
          <p:cNvPr id="17" name="agenda label Reading"/>
          <p:cNvSpPr txBox="1"/>
          <p:nvPr/>
        </p:nvSpPr>
        <p:spPr>
          <a:xfrm>
            <a:off x="4605528" y="5577840"/>
            <a:ext cx="2062480" cy="384048"/>
          </a:xfrm>
          <a:prstGeom prst="rect">
            <a:avLst/>
          </a:prstGeom>
          <a:noFill/>
          <a:ln/>
        </p:spPr>
        <p:txBody>
          <a:bodyPr wrap="square" lIns="0" tIns="0" rIns="0" bIns="0" rtlCol="0" anchor="ctr"/>
          <a:lstStyle/>
          <a:p>
            <a:pPr algn="ctr" indent="0" marL="0">
              <a:buNone/>
            </a:pPr>
            <a:r>
              <a:rPr lang="en-US" sz="900" dirty="0">
                <a:solidFill>
                  <a:srgbClr val="AEB5DA"/>
                </a:solidFill>
              </a:rPr>
              <a:t>Reading</a:t>
            </a:r>
            <a:endParaRPr lang="en-US" sz="900" dirty="0"/>
          </a:p>
        </p:txBody>
      </p:sp>
      <p:sp>
        <p:nvSpPr>
          <p:cNvPr id="18" name="agenda Talk"/>
          <p:cNvSpPr/>
          <p:nvPr/>
        </p:nvSpPr>
        <p:spPr>
          <a:xfrm>
            <a:off x="6695440" y="5577840"/>
            <a:ext cx="1201928" cy="384048"/>
          </a:xfrm>
          <a:prstGeom prst="rect">
            <a:avLst/>
          </a:prstGeom>
          <a:solidFill>
            <a:srgbClr val="2B3470"/>
          </a:solidFill>
          <a:ln w="12700">
            <a:solidFill>
              <a:srgbClr val="1E2761"/>
            </a:solidFill>
            <a:prstDash val="solid"/>
          </a:ln>
        </p:spPr>
      </p:sp>
      <p:sp>
        <p:nvSpPr>
          <p:cNvPr id="19" name="agenda label Talk"/>
          <p:cNvSpPr txBox="1"/>
          <p:nvPr/>
        </p:nvSpPr>
        <p:spPr>
          <a:xfrm>
            <a:off x="6695440" y="5577840"/>
            <a:ext cx="1201928" cy="384048"/>
          </a:xfrm>
          <a:prstGeom prst="rect">
            <a:avLst/>
          </a:prstGeom>
          <a:noFill/>
          <a:ln/>
        </p:spPr>
        <p:txBody>
          <a:bodyPr wrap="square" lIns="0" tIns="0" rIns="0" bIns="0" rtlCol="0" anchor="ctr"/>
          <a:lstStyle/>
          <a:p>
            <a:pPr algn="ctr" indent="0" marL="0">
              <a:buNone/>
            </a:pPr>
            <a:r>
              <a:rPr lang="en-US" sz="900" dirty="0">
                <a:solidFill>
                  <a:srgbClr val="AEB5DA"/>
                </a:solidFill>
              </a:rPr>
              <a:t>Talk</a:t>
            </a:r>
            <a:endParaRPr lang="en-US" sz="900" dirty="0"/>
          </a:p>
        </p:txBody>
      </p:sp>
      <p:sp>
        <p:nvSpPr>
          <p:cNvPr id="20" name="agenda Writing"/>
          <p:cNvSpPr/>
          <p:nvPr/>
        </p:nvSpPr>
        <p:spPr>
          <a:xfrm>
            <a:off x="7924800" y="5577840"/>
            <a:ext cx="2431288" cy="384048"/>
          </a:xfrm>
          <a:prstGeom prst="rect">
            <a:avLst/>
          </a:prstGeom>
          <a:solidFill>
            <a:srgbClr val="2B3470"/>
          </a:solidFill>
          <a:ln w="12700">
            <a:solidFill>
              <a:srgbClr val="1E2761"/>
            </a:solidFill>
            <a:prstDash val="solid"/>
          </a:ln>
        </p:spPr>
      </p:sp>
      <p:sp>
        <p:nvSpPr>
          <p:cNvPr id="21" name="agenda label Writing"/>
          <p:cNvSpPr txBox="1"/>
          <p:nvPr/>
        </p:nvSpPr>
        <p:spPr>
          <a:xfrm>
            <a:off x="7924800" y="5577840"/>
            <a:ext cx="2431288" cy="384048"/>
          </a:xfrm>
          <a:prstGeom prst="rect">
            <a:avLst/>
          </a:prstGeom>
          <a:noFill/>
          <a:ln/>
        </p:spPr>
        <p:txBody>
          <a:bodyPr wrap="square" lIns="0" tIns="0" rIns="0" bIns="0" rtlCol="0" anchor="ctr"/>
          <a:lstStyle/>
          <a:p>
            <a:pPr algn="ctr" indent="0" marL="0">
              <a:buNone/>
            </a:pPr>
            <a:r>
              <a:rPr lang="en-US" sz="900" dirty="0">
                <a:solidFill>
                  <a:srgbClr val="AEB5DA"/>
                </a:solidFill>
              </a:rPr>
              <a:t>Writing</a:t>
            </a:r>
            <a:endParaRPr lang="en-US" sz="900" dirty="0"/>
          </a:p>
        </p:txBody>
      </p:sp>
      <p:sp>
        <p:nvSpPr>
          <p:cNvPr id="22" name="agenda S4 / S2"/>
          <p:cNvSpPr/>
          <p:nvPr/>
        </p:nvSpPr>
        <p:spPr>
          <a:xfrm>
            <a:off x="10383520" y="5577840"/>
            <a:ext cx="833120" cy="384048"/>
          </a:xfrm>
          <a:prstGeom prst="rect">
            <a:avLst/>
          </a:prstGeom>
          <a:solidFill>
            <a:srgbClr val="2B3470"/>
          </a:solidFill>
          <a:ln w="12700">
            <a:solidFill>
              <a:srgbClr val="1E2761"/>
            </a:solidFill>
            <a:prstDash val="solid"/>
          </a:ln>
        </p:spPr>
      </p:sp>
      <p:sp>
        <p:nvSpPr>
          <p:cNvPr id="23" name="agenda label S4 / S2"/>
          <p:cNvSpPr txBox="1"/>
          <p:nvPr/>
        </p:nvSpPr>
        <p:spPr>
          <a:xfrm>
            <a:off x="10383520" y="5577840"/>
            <a:ext cx="833120" cy="384048"/>
          </a:xfrm>
          <a:prstGeom prst="rect">
            <a:avLst/>
          </a:prstGeom>
          <a:noFill/>
          <a:ln/>
        </p:spPr>
        <p:txBody>
          <a:bodyPr wrap="square" lIns="0" tIns="0" rIns="0" bIns="0" rtlCol="0" anchor="ctr"/>
          <a:lstStyle/>
          <a:p>
            <a:pPr algn="ctr" indent="0" marL="0">
              <a:buNone/>
            </a:pPr>
            <a:r>
              <a:rPr lang="en-US" sz="900" dirty="0">
                <a:solidFill>
                  <a:srgbClr val="AEB5DA"/>
                </a:solidFill>
              </a:rPr>
              <a:t>S4 / S2</a:t>
            </a:r>
            <a:endParaRPr lang="en-US" sz="900" dirty="0"/>
          </a:p>
        </p:txBody>
      </p:sp>
      <p:sp>
        <p:nvSpPr>
          <p:cNvPr id="24" name="agenda Exit"/>
          <p:cNvSpPr/>
          <p:nvPr/>
        </p:nvSpPr>
        <p:spPr>
          <a:xfrm>
            <a:off x="11244072" y="5577840"/>
            <a:ext cx="341376" cy="384048"/>
          </a:xfrm>
          <a:prstGeom prst="rect">
            <a:avLst/>
          </a:prstGeom>
          <a:solidFill>
            <a:srgbClr val="C9A227"/>
          </a:solidFill>
          <a:ln w="12700">
            <a:solidFill>
              <a:srgbClr val="1E2761"/>
            </a:solidFill>
            <a:prstDash val="solid"/>
          </a:ln>
        </p:spPr>
      </p:sp>
      <p:sp>
        <p:nvSpPr>
          <p:cNvPr id="25" name="Text 2"/>
          <p:cNvSpPr/>
          <p:nvPr>
            <p:ph idx="102" type="title" hasCustomPrompt="1"/>
          </p:nvPr>
        </p:nvSpPr>
        <p:spPr>
          <a:xfrm>
            <a:off x="548640" y="457200"/>
            <a:ext cx="11064240" cy="1005840"/>
          </a:xfrm>
          <a:prstGeom prst="rect">
            <a:avLst/>
          </a:prstGeom>
          <a:noFill/>
          <a:ln/>
        </p:spPr>
        <p:txBody>
          <a:bodyPr wrap="square" lIns="0" tIns="0" rIns="0" bIns="0" rtlCol="0"/>
          <a:lstStyle/>
          <a:p>
            <a:pPr indent="0" marL="0">
              <a:buNone/>
            </a:pPr>
            <a:endParaRPr lang="en-US" sz="4000" dirty="0"/>
          </a:p>
        </p:txBody>
      </p:sp>
      <p:sp>
        <p:nvSpPr>
          <p:cNvPr id="26" name="Text 2"/>
          <p:cNvSpPr/>
          <p:nvPr>
            <p:ph idx="103" type="body" hasCustomPrompt="1"/>
          </p:nvPr>
        </p:nvSpPr>
        <p:spPr>
          <a:xfrm>
            <a:off x="548640" y="1554480"/>
            <a:ext cx="7498080" cy="448056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5DA"/>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exit 1"/>
          <p:cNvSpPr txBox="1"/>
          <p:nvPr/>
        </p:nvSpPr>
        <p:spPr>
          <a:xfrm>
            <a:off x="548640" y="1463040"/>
            <a:ext cx="10972800" cy="914400"/>
          </a:xfrm>
          <a:prstGeom prst="rect">
            <a:avLst/>
          </a:prstGeom>
          <a:noFill/>
          <a:ln/>
        </p:spPr>
        <p:txBody>
          <a:bodyPr wrap="square" lIns="0" tIns="0" rIns="0" bIns="0" rtlCol="0" anchor="ctr"/>
          <a:lstStyle/>
          <a:p>
            <a:pPr indent="0" marL="0">
              <a:buNone/>
            </a:pPr>
            <a:r>
              <a:rPr lang="en-US" sz="4000" dirty="0">
                <a:solidFill>
                  <a:srgbClr val="C9CEEA"/>
                </a:solidFill>
                <a:latin typeface="Georgia" pitchFamily="34" charset="0"/>
                <a:ea typeface="Georgia" pitchFamily="34" charset="-122"/>
                <a:cs typeface="Georgia" pitchFamily="34" charset="-120"/>
              </a:rPr>
              <a:t>Today I learned that</a:t>
            </a:r>
            <a:endParaRPr lang="en-US" sz="4000" dirty="0"/>
          </a:p>
        </p:txBody>
      </p:sp>
      <p:sp>
        <p:nvSpPr>
          <p:cNvPr id="3" name="exit 2"/>
          <p:cNvSpPr txBox="1"/>
          <p:nvPr/>
        </p:nvSpPr>
        <p:spPr>
          <a:xfrm>
            <a:off x="548640" y="2468880"/>
            <a:ext cx="10972800" cy="1280160"/>
          </a:xfrm>
          <a:prstGeom prst="rect">
            <a:avLst/>
          </a:prstGeom>
          <a:noFill/>
          <a:ln/>
        </p:spPr>
        <p:txBody>
          <a:bodyPr wrap="square" lIns="0" tIns="0" rIns="0" bIns="0" rtlCol="0" anchor="ctr"/>
          <a:lstStyle/>
          <a:p>
            <a:pPr indent="0" marL="0">
              <a:buNone/>
            </a:pPr>
            <a:r>
              <a:rPr lang="en-US" sz="6000" b="1" dirty="0">
                <a:solidFill>
                  <a:srgbClr val="FFFFFF"/>
                </a:solidFill>
                <a:latin typeface="Georgia" pitchFamily="34" charset="0"/>
                <a:ea typeface="Georgia" pitchFamily="34" charset="-122"/>
                <a:cs typeface="Georgia" pitchFamily="34" charset="-120"/>
              </a:rPr>
              <a:t>______ pie ______.</a:t>
            </a:r>
            <a:endParaRPr lang="en-US" sz="6000" dirty="0"/>
          </a:p>
        </p:txBody>
      </p:sp>
      <p:sp>
        <p:nvSpPr>
          <p:cNvPr id="4" name="exit lanes"/>
          <p:cNvSpPr txBox="1"/>
          <p:nvPr/>
        </p:nvSpPr>
        <p:spPr>
          <a:xfrm>
            <a:off x="548640" y="4114800"/>
            <a:ext cx="10972800" cy="548640"/>
          </a:xfrm>
          <a:prstGeom prst="rect">
            <a:avLst/>
          </a:prstGeom>
          <a:noFill/>
          <a:ln/>
        </p:spPr>
        <p:txBody>
          <a:bodyPr wrap="square" lIns="0" tIns="0" rIns="0" bIns="0" rtlCol="0" anchor="ctr"/>
          <a:lstStyle/>
          <a:p>
            <a:pPr indent="0" marL="0">
              <a:buNone/>
            </a:pPr>
            <a:r>
              <a:rPr lang="en-US" sz="1800" dirty="0">
                <a:solidFill>
                  <a:srgbClr val="C9A227"/>
                </a:solidFill>
              </a:rPr>
              <a:t>Newcomer: a word is fine.   Emerging: use the frame.   Progressing / Challenge: use because or however.</a:t>
            </a:r>
            <a:endParaRPr lang="en-US" sz="1800" dirty="0"/>
          </a:p>
        </p:txBody>
      </p:sp>
      <p:sp>
        <p:nvSpPr>
          <p:cNvPr id="5" name="timer badge"/>
          <p:cNvSpPr/>
          <p:nvPr/>
        </p:nvSpPr>
        <p:spPr>
          <a:xfrm>
            <a:off x="9235440" y="4846320"/>
            <a:ext cx="2468880" cy="1051560"/>
          </a:xfrm>
          <a:prstGeom prst="roundRect">
            <a:avLst>
              <a:gd name="adj" fmla="val 13043"/>
            </a:avLst>
          </a:prstGeom>
          <a:solidFill>
            <a:srgbClr val="1E2761"/>
          </a:solidFill>
          <a:ln w="25400">
            <a:solidFill>
              <a:srgbClr val="C9A227"/>
            </a:solidFill>
            <a:prstDash val="solid"/>
          </a:ln>
        </p:spPr>
      </p:sp>
      <p:pic>
        <p:nvPicPr>
          <p:cNvPr id="6" name="clock" descr="preencoded.png">    </p:cNvPr>
          <p:cNvPicPr>
            <a:picLocks noChangeAspect="1"/>
          </p:cNvPicPr>
          <p:nvPr/>
        </p:nvPicPr>
        <p:blipFill>
          <a:blip r:embed="rId1"/>
          <a:stretch>
            <a:fillRect/>
          </a:stretch>
        </p:blipFill>
        <p:spPr>
          <a:xfrm>
            <a:off x="9372600" y="5102352"/>
            <a:ext cx="548640" cy="548640"/>
          </a:xfrm>
          <a:prstGeom prst="rect">
            <a:avLst/>
          </a:prstGeom>
        </p:spPr>
      </p:pic>
      <p:sp>
        <p:nvSpPr>
          <p:cNvPr id="7" name="timer link"/>
          <p:cNvSpPr txBox="1"/>
          <p:nvPr/>
        </p:nvSpPr>
        <p:spPr>
          <a:xfrm>
            <a:off x="9966960" y="4937760"/>
            <a:ext cx="1691640" cy="868680"/>
          </a:xfrm>
          <a:prstGeom prst="rect">
            <a:avLst/>
          </a:prstGeom>
          <a:noFill/>
          <a:ln/>
        </p:spPr>
        <p:txBody>
          <a:bodyPr wrap="square" lIns="0" tIns="0" rIns="0" bIns="0" rtlCol="0" anchor="ctr"/>
          <a:lstStyle/>
          <a:p>
            <a:pPr indent="0" marL="0">
              <a:buNone/>
            </a:pPr>
            <a:r>
              <a:rPr lang="en-US" sz="3000" b="1" u="sng" dirty="0">
                <a:solidFill>
                  <a:srgbClr val="FFFFFF"/>
                </a:solidFill>
                <a:hlinkClick r:id="rId2" invalidUrl="" action="" tgtFrame="" tooltip="" history="1" highlightClick="0" endSnd="0">
                  <a:extLst>
                    <a:ext uri="{A12FA001-AC4F-418D-AE19-62706E023703}">
                      <ahyp:hlinkClr xmlns:ahyp="http://schemas.microsoft.com/office/drawing/2018/hyperlinkcolor" val="tx"/>
                    </a:ext>
                  </a:extLst>
                </a:hlinkClick>
              </a:rPr>
              <a:t>3:00</a:t>
            </a:r>
            <a:endParaRPr lang="en-US" sz="3000" dirty="0"/>
          </a:p>
          <a:p>
            <a:pPr indent="0" marL="0">
              <a:buNone/>
            </a:pPr>
            <a:r>
              <a:rPr lang="en-US" sz="900" u="sng" dirty="0">
                <a:solidFill>
                  <a:srgbClr val="C9CEEA"/>
                </a:solidFill>
                <a:hlinkClick r:id="rId3" invalidUrl="" action="" tgtFrame="" tooltip="" history="1" highlightClick="0" endSnd="0">
                  <a:extLst>
                    <a:ext uri="{A12FA001-AC4F-418D-AE19-62706E023703}">
                      <ahyp:hlinkClr xmlns:ahyp="http://schemas.microsoft.com/office/drawing/2018/hyperlinkcolor" val="tx"/>
                    </a:ext>
                  </a:extLst>
                </a:hlinkClick>
              </a:rPr>
              <a:t>click to start timer</a:t>
            </a:r>
            <a:endParaRPr lang="en-US" sz="3000" dirty="0"/>
          </a:p>
        </p:txBody>
      </p:sp>
      <p:sp>
        <p:nvSpPr>
          <p:cNvPr id="9" name="Text 2"/>
          <p:cNvSpPr/>
          <p:nvPr>
            <p:ph idx="102" type="title" hasCustomPrompt="1"/>
          </p:nvPr>
        </p:nvSpPr>
        <p:spPr>
          <a:xfrm>
            <a:off x="548640" y="457200"/>
            <a:ext cx="11064240" cy="1005840"/>
          </a:xfrm>
          <a:prstGeom prst="rect">
            <a:avLst/>
          </a:prstGeom>
          <a:noFill/>
          <a:ln/>
        </p:spPr>
        <p:txBody>
          <a:bodyPr wrap="square" lIns="0" tIns="0" rIns="0" bIns="0" rtlCol="0"/>
          <a:lstStyle/>
          <a:p>
            <a:pPr indent="0" marL="0">
              <a:buNone/>
            </a:pPr>
            <a:endParaRPr lang="en-US" sz="4000" dirty="0"/>
          </a:p>
        </p:txBody>
      </p:sp>
      <p:sp>
        <p:nvSpPr>
          <p:cNvPr id="10" name="Text 2"/>
          <p:cNvSpPr/>
          <p:nvPr>
            <p:ph idx="103" type="body" hasCustomPrompt="1"/>
          </p:nvPr>
        </p:nvSpPr>
        <p:spPr>
          <a:xfrm>
            <a:off x="548640" y="1554480"/>
            <a:ext cx="7498080" cy="448056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5DA"/>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3"/>
          <p:cNvSpPr/>
          <p:nvPr>
            <p:ph idx="103" type="title" hasCustomPrompt="1"/>
          </p:nvPr>
        </p:nvSpPr>
        <p:spPr>
          <a:xfrm>
            <a:off x="548640" y="411480"/>
            <a:ext cx="11064240" cy="914400"/>
          </a:xfrm>
          <a:prstGeom prst="rect">
            <a:avLst/>
          </a:prstGeom>
          <a:noFill/>
          <a:ln/>
        </p:spPr>
        <p:txBody>
          <a:bodyPr wrap="square" lIns="0" tIns="0" rIns="0" bIns="0" rtlCol="0"/>
          <a:lstStyle/>
          <a:p>
            <a:pPr indent="0" marL="0">
              <a:buNone/>
            </a:pPr>
            <a:r>
              <a:rPr lang="en-US" sz="3600" b="1" dirty="0">
                <a:solidFill>
                  <a:srgbClr val="1E2761"/>
                </a:solidFill>
              </a:rPr>
              <a:t>For the teacher</a:t>
            </a:r>
            <a:endParaRPr lang="en-US" sz="3600" dirty="0"/>
          </a:p>
        </p:txBody>
      </p:sp>
      <p:sp>
        <p:nvSpPr>
          <p:cNvPr id="3" name="Text 3"/>
          <p:cNvSpPr/>
          <p:nvPr>
            <p:ph idx="104" type="body" hasCustomPrompt="1"/>
          </p:nvPr>
        </p:nvSpPr>
        <p:spPr>
          <a:xfrm>
            <a:off x="548640" y="1463040"/>
            <a:ext cx="7315200" cy="45720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F2340"/>
                </a:solidFill>
              </a:rPr>
              <a:t>Full task set, scripts, answer key and the minute-by-minute plan: radan55.github.io/everyteacher/six-pies-elpa21.html</a:t>
            </a:r>
            <a:endParaRPr lang="en-US" sz="2000" dirty="0"/>
          </a:p>
          <a:p>
            <a:pPr marL="342900" indent="-342900">
              <a:spcAft>
                <a:spcPts val="800"/>
              </a:spcAft>
              <a:buSzPct val="100000"/>
              <a:buChar char="•"/>
            </a:pPr>
            <a:r>
              <a:rPr lang="en-US" sz="2000" dirty="0">
                <a:solidFill>
                  <a:srgbClr val="1F2340"/>
                </a:solidFill>
              </a:rPr>
              <a:t>Timer for any segment: radan55.github.io/everyteacher/timer.html?m=7&amp;t=Five+words</a:t>
            </a:r>
            <a:endParaRPr lang="en-US" sz="2000" dirty="0"/>
          </a:p>
          <a:p>
            <a:pPr marL="342900" indent="-342900">
              <a:spcAft>
                <a:spcPts val="800"/>
              </a:spcAft>
              <a:buSzPct val="100000"/>
              <a:buChar char="•"/>
            </a:pPr>
            <a:r>
              <a:rPr lang="en-US" sz="2000" dirty="0">
                <a:solidFill>
                  <a:srgbClr val="1F2340"/>
                </a:solidFill>
              </a:rPr>
              <a:t>Grade the content fully; language feedback on one pattern. File one dated product per student as LSP evidence.</a:t>
            </a:r>
            <a:endParaRPr lang="en-US" sz="2000" dirty="0"/>
          </a:p>
          <a:p>
            <a:pPr marL="342900" indent="-342900">
              <a:spcAft>
                <a:spcPts val="800"/>
              </a:spcAft>
              <a:buSzPct val="100000"/>
              <a:buChar char="•"/>
            </a:pPr>
            <a:r>
              <a:rPr lang="en-US" sz="2000" dirty="0">
                <a:solidFill>
                  <a:srgbClr val="1F2340"/>
                </a:solidFill>
              </a:rPr>
              <a:t>45-minute version: Day 1 open → reading · Day 2 unpack → writing → exit; S4 as a warm-up on day 3.</a:t>
            </a:r>
            <a:endParaRPr lang="en-US" sz="2000" dirty="0"/>
          </a:p>
          <a:p>
            <a:pPr marL="342900" indent="-342900">
              <a:spcAft>
                <a:spcPts val="800"/>
              </a:spcAft>
              <a:buSzPct val="100000"/>
              <a:buChar char="•"/>
            </a:pPr>
            <a:r>
              <a:rPr lang="en-US" sz="2000" dirty="0">
                <a:solidFill>
                  <a:srgbClr val="1F2340"/>
                </a:solidFill>
              </a:rPr>
              <a:t>Next week: students bring a dessert from home and make the ingredient card — bilingual — and that becomes the next task set.</a:t>
            </a:r>
            <a:endParaRPr lang="en-US" sz="2000" dirty="0"/>
          </a:p>
        </p:txBody>
      </p:sp>
      <p:pic>
        <p:nvPicPr>
          <p:cNvPr id="4" name="infographic small" descr="/home/claude/deck/info.jpg">    </p:cNvPr>
          <p:cNvPicPr>
            <a:picLocks noChangeAspect="1"/>
          </p:cNvPicPr>
          <p:nvPr/>
        </p:nvPicPr>
        <p:blipFill>
          <a:blip r:embed="rId1"/>
          <a:stretch>
            <a:fillRect/>
          </a:stretch>
        </p:blipFill>
        <p:spPr>
          <a:xfrm>
            <a:off x="8412480" y="1463040"/>
            <a:ext cx="3200400" cy="3364992"/>
          </a:xfrm>
          <a:prstGeom prst="rect">
            <a:avLst/>
          </a:prstGeom>
        </p:spPr>
      </p:pic>
      <p:sp>
        <p:nvSpPr>
          <p:cNvPr id="25" name="Slide Number Placeholder 0"/>
          <p:cNvSpPr>
            <a:spLocks noGrp="1"/>
          </p:cNvSpPr>
          <p:nvPr>
            <p:ph type="sldNum" sz="quarter" idx="4294967295"/>
          </p:nvPr>
        </p:nvSpPr>
        <p:spPr>
          <a:xfrm>
            <a:off x="1143000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078"/>
                </a:solidFill>
              </a:defRPr>
            </a:lvl1pPr>
          </a:lstStyle>
          <a:p>
            <a:pPr algn="l"/>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EL Publishing">
  <a:themeElements>
    <a:clrScheme name="EL Publishing">
      <a:dk1>
        <a:srgbClr val="1F2340"/>
      </a:dk1>
      <a:lt1>
        <a:srgbClr val="FFFFFF"/>
      </a:lt1>
      <a:dk2>
        <a:srgbClr val="1E2761"/>
      </a:dk2>
      <a:lt2>
        <a:srgbClr val="F4F5FA"/>
      </a:lt2>
      <a:accent1>
        <a:srgbClr val="C9A227"/>
      </a:accent1>
      <a:accent2>
        <a:srgbClr val="17606F"/>
      </a:accent2>
      <a:accent3>
        <a:srgbClr val="B5213F"/>
      </a:accent3>
      <a:accent4>
        <a:srgbClr val="5B3FA8"/>
      </a:accent4>
      <a:accent5>
        <a:srgbClr val="2E7D4F"/>
      </a:accent5>
      <a:accent6>
        <a:srgbClr val="7A5F0E"/>
      </a:accent6>
      <a:hlink>
        <a:srgbClr val="1E2761"/>
      </a:hlink>
      <a:folHlink>
        <a:srgbClr val="5B3FA8"/>
      </a:folHlink>
    </a:clrScheme>
    <a:fontScheme name="EL Publishing">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Six Southern Pies: a 90-minute ELPA21 lesson</dc:title>
  <dc:subject>PptxGenJS Presentation</dc:subject>
  <dc:creator>EL Publishing</dc:creator>
  <cp:lastModifiedBy>EL Publishing</cp:lastModifiedBy>
  <cp:revision>1</cp:revision>
  <dcterms:created xsi:type="dcterms:W3CDTF">2026-10-12T03:01:04Z</dcterms:created>
  <dcterms:modified xsi:type="dcterms:W3CDTF">2026-10-12T03:01:04Z</dcterms:modified>
</cp:coreProperties>
</file>