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every bracketed field. Keep the deck to seven slides; a board hears the recommendation on slide 7 or not at all. Numbers come from the EL Outcomes Dashboard (radan55.github.io/everyteacher/el-outcomes.html); compliance status from the Self-Audit; cost from the Title III Planner.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number of students and the number of languages out loud. Boards remember two numbers. Do not name students. Counts under 10 should be reported as "fewer than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exit standard is high by design. Frame exits as the lagging indicator and level growth as the leading one. Name the one-domain-short group as the plan for the spring.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former ELs outperform the average, say it first and say it plainly. If they do not, that is the single most important finding in the deck, and the recommendation on slide 7 should answer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Self-Audit (radan55.github.io/everyteacher/el-audit.html). Boards respond well to a score with a plan attached. Never present a legal gap without an owner and a date on the same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Title III Planner. The sentence the board needs: "Our obligation to serve English learners is statutory and does not depend on this grant."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recommendations, each with an owner, a date, and a cost. End with the specific action you want from the board. Then stop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365760" y="4754880"/>
            <a:ext cx="6400800" cy="274320"/>
          </a:xfrm>
          <a:prstGeom prst="rect">
            <a:avLst/>
          </a:prstGeom>
          <a:noFill/>
          <a:ln/>
        </p:spPr>
        <p:txBody>
          <a:bodyPr wrap="square" rtlCol="0" anchor="ctr"/>
          <a:lstStyle/>
          <a:p>
            <a:pPr indent="0" marL="0">
              <a:buNone/>
            </a:pPr>
            <a:r>
              <a:rPr lang="en-US" sz="900" dirty="0">
                <a:solidFill>
                  <a:srgbClr val="EBD9A0"/>
                </a:solidFill>
                <a:latin typeface="Calibri" pitchFamily="34" charset="0"/>
                <a:ea typeface="Calibri" pitchFamily="34" charset="-122"/>
                <a:cs typeface="Calibri" pitchFamily="34" charset="-120"/>
              </a:rPr>
              <a:t>[DISTRICT NAME] · State of English Learners · [MONTH YEAR]</a:t>
            </a:r>
            <a:endParaRPr lang="en-US" sz="900" dirty="0"/>
          </a:p>
        </p:txBody>
      </p:sp>
      <p:sp>
        <p:nvSpPr>
          <p:cNvPr id="3" name="Text 1"/>
          <p:cNvSpPr/>
          <p:nvPr/>
        </p:nvSpPr>
        <p:spPr>
          <a:xfrm>
            <a:off x="5669280" y="4754880"/>
            <a:ext cx="3200400" cy="274320"/>
          </a:xfrm>
          <a:prstGeom prst="rect">
            <a:avLst/>
          </a:prstGeom>
          <a:noFill/>
          <a:ln/>
        </p:spPr>
        <p:txBody>
          <a:bodyPr wrap="square" rtlCol="0" anchor="ctr"/>
          <a:lstStyle/>
          <a:p>
            <a:pPr algn="r" indent="0" marL="0">
              <a:buNone/>
            </a:pPr>
            <a:r>
              <a:rPr lang="en-US" sz="900" dirty="0">
                <a:solidFill>
                  <a:srgbClr val="EBD9A0"/>
                </a:solidFill>
                <a:latin typeface="Calibri" pitchFamily="34" charset="0"/>
                <a:ea typeface="Calibri" pitchFamily="34" charset="-122"/>
                <a:cs typeface="Calibri" pitchFamily="34" charset="-120"/>
              </a:rPr>
              <a:t>Template: EL Publishing · radan55.github.io/everyteacher</a:t>
            </a:r>
            <a:endParaRPr lang="en-US" sz="900" dirty="0"/>
          </a:p>
        </p:txBody>
      </p:sp>
      <p:sp>
        <p:nvSpPr>
          <p:cNvPr id="4" name="Text 2"/>
          <p:cNvSpPr/>
          <p:nvPr/>
        </p:nvSpPr>
        <p:spPr>
          <a:xfrm>
            <a:off x="457200" y="548640"/>
            <a:ext cx="8229600" cy="274320"/>
          </a:xfrm>
          <a:prstGeom prst="rect">
            <a:avLst/>
          </a:prstGeom>
          <a:noFill/>
          <a:ln/>
        </p:spPr>
        <p:txBody>
          <a:bodyPr wrap="square" rtlCol="0" anchor="ctr"/>
          <a:lstStyle/>
          <a:p>
            <a:pPr indent="0" marL="0">
              <a:buNone/>
            </a:pPr>
            <a:r>
              <a:rPr lang="en-US" sz="1100" spc="300" kern="0" dirty="0">
                <a:solidFill>
                  <a:srgbClr val="C9A227"/>
                </a:solidFill>
                <a:latin typeface="Calibri" pitchFamily="34" charset="0"/>
                <a:ea typeface="Calibri" pitchFamily="34" charset="-122"/>
                <a:cs typeface="Calibri" pitchFamily="34" charset="-120"/>
              </a:rPr>
              <a:t>EL PUBLISHING · BOARD BRIEFING TEMPLATE</a:t>
            </a:r>
            <a:endParaRPr lang="en-US" sz="1100" dirty="0"/>
          </a:p>
        </p:txBody>
      </p:sp>
      <p:sp>
        <p:nvSpPr>
          <p:cNvPr id="5" name="Text 3"/>
          <p:cNvSpPr/>
          <p:nvPr/>
        </p:nvSpPr>
        <p:spPr>
          <a:xfrm>
            <a:off x="457200" y="1188720"/>
            <a:ext cx="8229600" cy="146304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The State of English Learners in [District Name]</a:t>
            </a:r>
            <a:endParaRPr lang="en-US" sz="4000" dirty="0"/>
          </a:p>
        </p:txBody>
      </p:sp>
      <p:sp>
        <p:nvSpPr>
          <p:cNvPr id="6" name="Text 4"/>
          <p:cNvSpPr/>
          <p:nvPr/>
        </p:nvSpPr>
        <p:spPr>
          <a:xfrm>
            <a:off x="457200" y="2743200"/>
            <a:ext cx="8229600" cy="457200"/>
          </a:xfrm>
          <a:prstGeom prst="rect">
            <a:avLst/>
          </a:prstGeom>
          <a:noFill/>
          <a:ln/>
        </p:spPr>
        <p:txBody>
          <a:bodyPr wrap="square" rtlCol="0" anchor="ctr"/>
          <a:lstStyle/>
          <a:p>
            <a:pPr indent="0" marL="0">
              <a:buNone/>
            </a:pPr>
            <a:r>
              <a:rPr lang="en-US" sz="1600" dirty="0">
                <a:solidFill>
                  <a:srgbClr val="C9CEEA"/>
                </a:solidFill>
                <a:latin typeface="Calibri" pitchFamily="34" charset="0"/>
                <a:ea typeface="Calibri" pitchFamily="34" charset="-122"/>
                <a:cs typeface="Calibri" pitchFamily="34" charset="-120"/>
              </a:rPr>
              <a:t>[Month Year] · Presented by [Name, Title]</a:t>
            </a:r>
            <a:endParaRPr lang="en-US" sz="1600" dirty="0"/>
          </a:p>
        </p:txBody>
      </p:sp>
      <p:sp>
        <p:nvSpPr>
          <p:cNvPr id="7" name="Text 5"/>
          <p:cNvSpPr/>
          <p:nvPr/>
        </p:nvSpPr>
        <p:spPr>
          <a:xfrm>
            <a:off x="457200" y="3291840"/>
            <a:ext cx="8229600" cy="548640"/>
          </a:xfrm>
          <a:prstGeom prst="rect">
            <a:avLst/>
          </a:prstGeom>
          <a:noFill/>
          <a:ln/>
        </p:spPr>
        <p:txBody>
          <a:bodyPr wrap="square" rtlCol="0" anchor="ctr"/>
          <a:lstStyle/>
          <a:p>
            <a:pPr indent="0" marL="0">
              <a:buNone/>
            </a:pPr>
            <a:r>
              <a:rPr lang="en-US" sz="1300" i="1" dirty="0">
                <a:solidFill>
                  <a:srgbClr val="C9CEEA"/>
                </a:solidFill>
                <a:latin typeface="Calibri" pitchFamily="34" charset="0"/>
                <a:ea typeface="Calibri" pitchFamily="34" charset="-122"/>
                <a:cs typeface="Calibri" pitchFamily="34" charset="-120"/>
              </a:rPr>
              <a:t>Seven slides. Who they are, how they are doing, whether we are compliant, what it costs, what we recommend.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9A227"/>
          </a:solidFill>
          <a:ln w="12700">
            <a:solidFill>
              <a:srgbClr val="C9A227"/>
            </a:solidFill>
            <a:prstDash val="solid"/>
          </a:ln>
        </p:spPr>
      </p:sp>
      <p:sp>
        <p:nvSpPr>
          <p:cNvPr id="3" name="Text 1"/>
          <p:cNvSpPr/>
          <p:nvPr/>
        </p:nvSpPr>
        <p:spPr>
          <a:xfrm>
            <a:off x="365760" y="4754880"/>
            <a:ext cx="6400800" cy="274320"/>
          </a:xfrm>
          <a:prstGeom prst="rect">
            <a:avLst/>
          </a:prstGeom>
          <a:noFill/>
          <a:ln/>
        </p:spPr>
        <p:txBody>
          <a:bodyPr wrap="square" rtlCol="0" anchor="ctr"/>
          <a:lstStyle/>
          <a:p>
            <a:pPr indent="0" marL="0">
              <a:buNone/>
            </a:pPr>
            <a:r>
              <a:rPr lang="en-US" sz="900" dirty="0">
                <a:solidFill>
                  <a:srgbClr val="5D6480"/>
                </a:solidFill>
                <a:latin typeface="Calibri" pitchFamily="34" charset="0"/>
                <a:ea typeface="Calibri" pitchFamily="34" charset="-122"/>
                <a:cs typeface="Calibri" pitchFamily="34" charset="-120"/>
              </a:rPr>
              <a:t>[DISTRICT NAME] · State of English Learners · [MONTH YEAR]</a:t>
            </a:r>
            <a:endParaRPr lang="en-US" sz="900" dirty="0"/>
          </a:p>
        </p:txBody>
      </p:sp>
      <p:sp>
        <p:nvSpPr>
          <p:cNvPr id="4" name="Text 2"/>
          <p:cNvSpPr/>
          <p:nvPr/>
        </p:nvSpPr>
        <p:spPr>
          <a:xfrm>
            <a:off x="5669280" y="4754880"/>
            <a:ext cx="3200400" cy="274320"/>
          </a:xfrm>
          <a:prstGeom prst="rect">
            <a:avLst/>
          </a:prstGeom>
          <a:noFill/>
          <a:ln/>
        </p:spPr>
        <p:txBody>
          <a:bodyPr wrap="square" rtlCol="0" anchor="ctr"/>
          <a:lstStyle/>
          <a:p>
            <a:pPr algn="r" indent="0" marL="0">
              <a:buNone/>
            </a:pPr>
            <a:r>
              <a:rPr lang="en-US" sz="900" dirty="0">
                <a:solidFill>
                  <a:srgbClr val="5D6480"/>
                </a:solidFill>
                <a:latin typeface="Calibri" pitchFamily="34" charset="0"/>
                <a:ea typeface="Calibri" pitchFamily="34" charset="-122"/>
                <a:cs typeface="Calibri" pitchFamily="34" charset="-120"/>
              </a:rPr>
              <a:t>Template: EL Publishing · radan55.github.io/everyteacher</a:t>
            </a:r>
            <a:endParaRPr lang="en-US" sz="900" dirty="0"/>
          </a:p>
        </p:txBody>
      </p:sp>
      <p:sp>
        <p:nvSpPr>
          <p:cNvPr id="5" name="Text 3"/>
          <p:cNvSpPr/>
          <p:nvPr/>
        </p:nvSpPr>
        <p:spPr>
          <a:xfrm>
            <a:off x="457200" y="320040"/>
            <a:ext cx="8229600" cy="73152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Who our English learners are</a:t>
            </a:r>
            <a:endParaRPr lang="en-US" sz="3000" dirty="0"/>
          </a:p>
        </p:txBody>
      </p:sp>
      <p:sp>
        <p:nvSpPr>
          <p:cNvPr id="6" name="Text 4"/>
          <p:cNvSpPr/>
          <p:nvPr/>
        </p:nvSpPr>
        <p:spPr>
          <a:xfrm>
            <a:off x="457200" y="1005840"/>
            <a:ext cx="8229600" cy="365760"/>
          </a:xfrm>
          <a:prstGeom prst="rect">
            <a:avLst/>
          </a:prstGeom>
          <a:noFill/>
          <a:ln/>
        </p:spPr>
        <p:txBody>
          <a:bodyPr wrap="square" rtlCol="0" anchor="ctr"/>
          <a:lstStyle/>
          <a:p>
            <a:pPr indent="0" marL="0">
              <a:buNone/>
            </a:pPr>
            <a:r>
              <a:rPr lang="en-US" sz="1400" dirty="0">
                <a:solidFill>
                  <a:srgbClr val="5D6480"/>
                </a:solidFill>
                <a:latin typeface="Calibri" pitchFamily="34" charset="0"/>
                <a:ea typeface="Calibri" pitchFamily="34" charset="-122"/>
                <a:cs typeface="Calibri" pitchFamily="34" charset="-120"/>
              </a:rPr>
              <a:t>Enrollment, languages, and where they sit in our schools</a:t>
            </a:r>
            <a:endParaRPr lang="en-US" sz="1400" dirty="0"/>
          </a:p>
        </p:txBody>
      </p:sp>
      <p:sp>
        <p:nvSpPr>
          <p:cNvPr id="7" name="Shape 5"/>
          <p:cNvSpPr/>
          <p:nvPr/>
        </p:nvSpPr>
        <p:spPr>
          <a:xfrm>
            <a:off x="457200" y="1554480"/>
            <a:ext cx="1920240" cy="1371600"/>
          </a:xfrm>
          <a:prstGeom prst="rect">
            <a:avLst/>
          </a:prstGeom>
          <a:solidFill>
            <a:srgbClr val="F4F5FA"/>
          </a:solidFill>
          <a:ln w="12700">
            <a:solidFill>
              <a:srgbClr val="DCDEE9"/>
            </a:solidFill>
            <a:prstDash val="solid"/>
          </a:ln>
        </p:spPr>
      </p:sp>
      <p:sp>
        <p:nvSpPr>
          <p:cNvPr id="8" name="Shape 6"/>
          <p:cNvSpPr/>
          <p:nvPr/>
        </p:nvSpPr>
        <p:spPr>
          <a:xfrm>
            <a:off x="457200" y="1554480"/>
            <a:ext cx="1920240" cy="73152"/>
          </a:xfrm>
          <a:prstGeom prst="rect">
            <a:avLst/>
          </a:prstGeom>
          <a:solidFill>
            <a:srgbClr val="C9A227"/>
          </a:solidFill>
          <a:ln w="12700">
            <a:solidFill>
              <a:srgbClr val="C9A227"/>
            </a:solidFill>
            <a:prstDash val="solid"/>
          </a:ln>
        </p:spPr>
      </p:sp>
      <p:sp>
        <p:nvSpPr>
          <p:cNvPr id="9" name="Text 7"/>
          <p:cNvSpPr/>
          <p:nvPr/>
        </p:nvSpPr>
        <p:spPr>
          <a:xfrm>
            <a:off x="548640" y="1691640"/>
            <a:ext cx="1737360" cy="640080"/>
          </a:xfrm>
          <a:prstGeom prst="rect">
            <a:avLst/>
          </a:prstGeom>
          <a:noFill/>
          <a:ln/>
        </p:spPr>
        <p:txBody>
          <a:bodyPr wrap="square" rtlCol="0" anchor="ctr">
            <a:normAutofit/>
          </a:bodyPr>
          <a:lstStyle/>
          <a:p>
            <a:pPr indent="0" marL="0">
              <a:buNone/>
            </a:pPr>
            <a:r>
              <a:rPr lang="en-US" sz="2200" b="1" dirty="0">
                <a:solidFill>
                  <a:srgbClr val="1E2761"/>
                </a:solidFill>
                <a:latin typeface="Georgia" pitchFamily="34" charset="0"/>
                <a:ea typeface="Georgia" pitchFamily="34" charset="-122"/>
                <a:cs typeface="Georgia" pitchFamily="34" charset="-120"/>
              </a:rPr>
              <a:t>[110]</a:t>
            </a:r>
            <a:endParaRPr lang="en-US" sz="2200" dirty="0"/>
          </a:p>
        </p:txBody>
      </p:sp>
      <p:sp>
        <p:nvSpPr>
          <p:cNvPr id="10" name="Text 8"/>
          <p:cNvSpPr/>
          <p:nvPr/>
        </p:nvSpPr>
        <p:spPr>
          <a:xfrm>
            <a:off x="548640" y="2331720"/>
            <a:ext cx="1737360" cy="502920"/>
          </a:xfrm>
          <a:prstGeom prst="rect">
            <a:avLst/>
          </a:prstGeom>
          <a:noFill/>
          <a:ln/>
        </p:spPr>
        <p:txBody>
          <a:bodyPr wrap="square" rtlCol="0" anchor="ctr"/>
          <a:lstStyle/>
          <a:p>
            <a:pPr indent="0" marL="0">
              <a:buNone/>
            </a:pPr>
            <a:r>
              <a:rPr lang="en-US" sz="1100" dirty="0">
                <a:solidFill>
                  <a:srgbClr val="5D6480"/>
                </a:solidFill>
                <a:latin typeface="Calibri" pitchFamily="34" charset="0"/>
                <a:ea typeface="Calibri" pitchFamily="34" charset="-122"/>
                <a:cs typeface="Calibri" pitchFamily="34" charset="-120"/>
              </a:rPr>
              <a:t>students identified as EL</a:t>
            </a:r>
            <a:endParaRPr lang="en-US" sz="1100" dirty="0"/>
          </a:p>
        </p:txBody>
      </p:sp>
      <p:sp>
        <p:nvSpPr>
          <p:cNvPr id="11" name="Shape 9"/>
          <p:cNvSpPr/>
          <p:nvPr/>
        </p:nvSpPr>
        <p:spPr>
          <a:xfrm>
            <a:off x="2560320" y="1554480"/>
            <a:ext cx="1920240" cy="1371600"/>
          </a:xfrm>
          <a:prstGeom prst="rect">
            <a:avLst/>
          </a:prstGeom>
          <a:solidFill>
            <a:srgbClr val="F4F5FA"/>
          </a:solidFill>
          <a:ln w="12700">
            <a:solidFill>
              <a:srgbClr val="DCDEE9"/>
            </a:solidFill>
            <a:prstDash val="solid"/>
          </a:ln>
        </p:spPr>
      </p:sp>
      <p:sp>
        <p:nvSpPr>
          <p:cNvPr id="12" name="Shape 10"/>
          <p:cNvSpPr/>
          <p:nvPr/>
        </p:nvSpPr>
        <p:spPr>
          <a:xfrm>
            <a:off x="2560320" y="1554480"/>
            <a:ext cx="1920240" cy="73152"/>
          </a:xfrm>
          <a:prstGeom prst="rect">
            <a:avLst/>
          </a:prstGeom>
          <a:solidFill>
            <a:srgbClr val="C9A227"/>
          </a:solidFill>
          <a:ln w="12700">
            <a:solidFill>
              <a:srgbClr val="C9A227"/>
            </a:solidFill>
            <a:prstDash val="solid"/>
          </a:ln>
        </p:spPr>
      </p:sp>
      <p:sp>
        <p:nvSpPr>
          <p:cNvPr id="13" name="Text 11"/>
          <p:cNvSpPr/>
          <p:nvPr/>
        </p:nvSpPr>
        <p:spPr>
          <a:xfrm>
            <a:off x="2651760" y="1691640"/>
            <a:ext cx="1737360" cy="640080"/>
          </a:xfrm>
          <a:prstGeom prst="rect">
            <a:avLst/>
          </a:prstGeom>
          <a:noFill/>
          <a:ln/>
        </p:spPr>
        <p:txBody>
          <a:bodyPr wrap="square" rtlCol="0" anchor="ctr">
            <a:normAutofit/>
          </a:bodyPr>
          <a:lstStyle/>
          <a:p>
            <a:pPr indent="0" marL="0">
              <a:buNone/>
            </a:pPr>
            <a:r>
              <a:rPr lang="en-US" sz="2200" b="1" dirty="0">
                <a:solidFill>
                  <a:srgbClr val="1E2761"/>
                </a:solidFill>
                <a:latin typeface="Georgia" pitchFamily="34" charset="0"/>
                <a:ea typeface="Georgia" pitchFamily="34" charset="-122"/>
                <a:cs typeface="Georgia" pitchFamily="34" charset="-120"/>
              </a:rPr>
              <a:t>[6%]</a:t>
            </a:r>
            <a:endParaRPr lang="en-US" sz="2200" dirty="0"/>
          </a:p>
        </p:txBody>
      </p:sp>
      <p:sp>
        <p:nvSpPr>
          <p:cNvPr id="14" name="Text 12"/>
          <p:cNvSpPr/>
          <p:nvPr/>
        </p:nvSpPr>
        <p:spPr>
          <a:xfrm>
            <a:off x="2651760" y="2331720"/>
            <a:ext cx="1737360" cy="502920"/>
          </a:xfrm>
          <a:prstGeom prst="rect">
            <a:avLst/>
          </a:prstGeom>
          <a:noFill/>
          <a:ln/>
        </p:spPr>
        <p:txBody>
          <a:bodyPr wrap="square" rtlCol="0" anchor="ctr"/>
          <a:lstStyle/>
          <a:p>
            <a:pPr indent="0" marL="0">
              <a:buNone/>
            </a:pPr>
            <a:r>
              <a:rPr lang="en-US" sz="1100" dirty="0">
                <a:solidFill>
                  <a:srgbClr val="5D6480"/>
                </a:solidFill>
                <a:latin typeface="Calibri" pitchFamily="34" charset="0"/>
                <a:ea typeface="Calibri" pitchFamily="34" charset="-122"/>
                <a:cs typeface="Calibri" pitchFamily="34" charset="-120"/>
              </a:rPr>
              <a:t>percent of enrollment</a:t>
            </a:r>
            <a:endParaRPr lang="en-US" sz="1100" dirty="0"/>
          </a:p>
        </p:txBody>
      </p:sp>
      <p:sp>
        <p:nvSpPr>
          <p:cNvPr id="15" name="Shape 13"/>
          <p:cNvSpPr/>
          <p:nvPr/>
        </p:nvSpPr>
        <p:spPr>
          <a:xfrm>
            <a:off x="4663440" y="1554480"/>
            <a:ext cx="1920240" cy="1371600"/>
          </a:xfrm>
          <a:prstGeom prst="rect">
            <a:avLst/>
          </a:prstGeom>
          <a:solidFill>
            <a:srgbClr val="F4F5FA"/>
          </a:solidFill>
          <a:ln w="12700">
            <a:solidFill>
              <a:srgbClr val="DCDEE9"/>
            </a:solidFill>
            <a:prstDash val="solid"/>
          </a:ln>
        </p:spPr>
      </p:sp>
      <p:sp>
        <p:nvSpPr>
          <p:cNvPr id="16" name="Shape 14"/>
          <p:cNvSpPr/>
          <p:nvPr/>
        </p:nvSpPr>
        <p:spPr>
          <a:xfrm>
            <a:off x="4663440" y="1554480"/>
            <a:ext cx="1920240" cy="73152"/>
          </a:xfrm>
          <a:prstGeom prst="rect">
            <a:avLst/>
          </a:prstGeom>
          <a:solidFill>
            <a:srgbClr val="C9A227"/>
          </a:solidFill>
          <a:ln w="12700">
            <a:solidFill>
              <a:srgbClr val="C9A227"/>
            </a:solidFill>
            <a:prstDash val="solid"/>
          </a:ln>
        </p:spPr>
      </p:sp>
      <p:sp>
        <p:nvSpPr>
          <p:cNvPr id="17" name="Text 15"/>
          <p:cNvSpPr/>
          <p:nvPr/>
        </p:nvSpPr>
        <p:spPr>
          <a:xfrm>
            <a:off x="4754880" y="1691640"/>
            <a:ext cx="1737360" cy="640080"/>
          </a:xfrm>
          <a:prstGeom prst="rect">
            <a:avLst/>
          </a:prstGeom>
          <a:noFill/>
          <a:ln/>
        </p:spPr>
        <p:txBody>
          <a:bodyPr wrap="square" rtlCol="0" anchor="ctr">
            <a:normAutofit/>
          </a:bodyPr>
          <a:lstStyle/>
          <a:p>
            <a:pPr indent="0" marL="0">
              <a:buNone/>
            </a:pPr>
            <a:r>
              <a:rPr lang="en-US" sz="2200" b="1" dirty="0">
                <a:solidFill>
                  <a:srgbClr val="1E2761"/>
                </a:solidFill>
                <a:latin typeface="Georgia" pitchFamily="34" charset="0"/>
                <a:ea typeface="Georgia" pitchFamily="34" charset="-122"/>
                <a:cs typeface="Georgia" pitchFamily="34" charset="-120"/>
              </a:rPr>
              <a:t>[14]</a:t>
            </a:r>
            <a:endParaRPr lang="en-US" sz="2200" dirty="0"/>
          </a:p>
        </p:txBody>
      </p:sp>
      <p:sp>
        <p:nvSpPr>
          <p:cNvPr id="18" name="Text 16"/>
          <p:cNvSpPr/>
          <p:nvPr/>
        </p:nvSpPr>
        <p:spPr>
          <a:xfrm>
            <a:off x="4754880" y="2331720"/>
            <a:ext cx="1737360" cy="502920"/>
          </a:xfrm>
          <a:prstGeom prst="rect">
            <a:avLst/>
          </a:prstGeom>
          <a:noFill/>
          <a:ln/>
        </p:spPr>
        <p:txBody>
          <a:bodyPr wrap="square" rtlCol="0" anchor="ctr"/>
          <a:lstStyle/>
          <a:p>
            <a:pPr indent="0" marL="0">
              <a:buNone/>
            </a:pPr>
            <a:r>
              <a:rPr lang="en-US" sz="1100" dirty="0">
                <a:solidFill>
                  <a:srgbClr val="5D6480"/>
                </a:solidFill>
                <a:latin typeface="Calibri" pitchFamily="34" charset="0"/>
                <a:ea typeface="Calibri" pitchFamily="34" charset="-122"/>
                <a:cs typeface="Calibri" pitchFamily="34" charset="-120"/>
              </a:rPr>
              <a:t>newcomers (first year in U.S. schools)</a:t>
            </a:r>
            <a:endParaRPr lang="en-US" sz="1100" dirty="0"/>
          </a:p>
        </p:txBody>
      </p:sp>
      <p:sp>
        <p:nvSpPr>
          <p:cNvPr id="19" name="Shape 17"/>
          <p:cNvSpPr/>
          <p:nvPr/>
        </p:nvSpPr>
        <p:spPr>
          <a:xfrm>
            <a:off x="6766560" y="1554480"/>
            <a:ext cx="1920240" cy="1371600"/>
          </a:xfrm>
          <a:prstGeom prst="rect">
            <a:avLst/>
          </a:prstGeom>
          <a:solidFill>
            <a:srgbClr val="F4F5FA"/>
          </a:solidFill>
          <a:ln w="12700">
            <a:solidFill>
              <a:srgbClr val="DCDEE9"/>
            </a:solidFill>
            <a:prstDash val="solid"/>
          </a:ln>
        </p:spPr>
      </p:sp>
      <p:sp>
        <p:nvSpPr>
          <p:cNvPr id="20" name="Shape 18"/>
          <p:cNvSpPr/>
          <p:nvPr/>
        </p:nvSpPr>
        <p:spPr>
          <a:xfrm>
            <a:off x="6766560" y="1554480"/>
            <a:ext cx="1920240" cy="73152"/>
          </a:xfrm>
          <a:prstGeom prst="rect">
            <a:avLst/>
          </a:prstGeom>
          <a:solidFill>
            <a:srgbClr val="C9A227"/>
          </a:solidFill>
          <a:ln w="12700">
            <a:solidFill>
              <a:srgbClr val="C9A227"/>
            </a:solidFill>
            <a:prstDash val="solid"/>
          </a:ln>
        </p:spPr>
      </p:sp>
      <p:sp>
        <p:nvSpPr>
          <p:cNvPr id="21" name="Text 19"/>
          <p:cNvSpPr/>
          <p:nvPr/>
        </p:nvSpPr>
        <p:spPr>
          <a:xfrm>
            <a:off x="6858000" y="1691640"/>
            <a:ext cx="1737360" cy="640080"/>
          </a:xfrm>
          <a:prstGeom prst="rect">
            <a:avLst/>
          </a:prstGeom>
          <a:noFill/>
          <a:ln/>
        </p:spPr>
        <p:txBody>
          <a:bodyPr wrap="square" rtlCol="0" anchor="ctr">
            <a:normAutofit/>
          </a:bodyPr>
          <a:lstStyle/>
          <a:p>
            <a:pPr indent="0" marL="0">
              <a:buNone/>
            </a:pPr>
            <a:r>
              <a:rPr lang="en-US" sz="2200" b="1" dirty="0">
                <a:solidFill>
                  <a:srgbClr val="1E2761"/>
                </a:solidFill>
                <a:latin typeface="Georgia" pitchFamily="34" charset="0"/>
                <a:ea typeface="Georgia" pitchFamily="34" charset="-122"/>
                <a:cs typeface="Georgia" pitchFamily="34" charset="-120"/>
              </a:rPr>
              <a:t>[38]</a:t>
            </a:r>
            <a:endParaRPr lang="en-US" sz="2200" dirty="0"/>
          </a:p>
        </p:txBody>
      </p:sp>
      <p:sp>
        <p:nvSpPr>
          <p:cNvPr id="22" name="Text 20"/>
          <p:cNvSpPr/>
          <p:nvPr/>
        </p:nvSpPr>
        <p:spPr>
          <a:xfrm>
            <a:off x="6858000" y="2331720"/>
            <a:ext cx="1737360" cy="502920"/>
          </a:xfrm>
          <a:prstGeom prst="rect">
            <a:avLst/>
          </a:prstGeom>
          <a:noFill/>
          <a:ln/>
        </p:spPr>
        <p:txBody>
          <a:bodyPr wrap="square" rtlCol="0" anchor="ctr"/>
          <a:lstStyle/>
          <a:p>
            <a:pPr indent="0" marL="0">
              <a:buNone/>
            </a:pPr>
            <a:r>
              <a:rPr lang="en-US" sz="1100" dirty="0">
                <a:solidFill>
                  <a:srgbClr val="5D6480"/>
                </a:solidFill>
                <a:latin typeface="Calibri" pitchFamily="34" charset="0"/>
                <a:ea typeface="Calibri" pitchFamily="34" charset="-122"/>
                <a:cs typeface="Calibri" pitchFamily="34" charset="-120"/>
              </a:rPr>
              <a:t>former ELs being monitored</a:t>
            </a:r>
            <a:endParaRPr lang="en-US" sz="1100" dirty="0"/>
          </a:p>
        </p:txBody>
      </p:sp>
      <p:sp>
        <p:nvSpPr>
          <p:cNvPr id="23" name="Text 21"/>
          <p:cNvSpPr/>
          <p:nvPr/>
        </p:nvSpPr>
        <p:spPr>
          <a:xfrm>
            <a:off x="457200" y="3108960"/>
            <a:ext cx="8229600" cy="1554480"/>
          </a:xfrm>
          <a:prstGeom prst="rect">
            <a:avLst/>
          </a:prstGeom>
          <a:noFill/>
          <a:ln/>
        </p:spPr>
        <p:txBody>
          <a:bodyPr wrap="square" rtlCol="0" anchor="t"/>
          <a:lstStyle/>
          <a:p>
            <a:pPr marL="342900" indent="-342900">
              <a:spcAft>
                <a:spcPts val="600"/>
              </a:spcAft>
              <a:buSzPct val="100000"/>
              <a:buChar char="•"/>
            </a:pPr>
            <a:r>
              <a:rPr lang="en-US" sz="1300" dirty="0">
                <a:solidFill>
                  <a:srgbClr val="1F2330"/>
                </a:solidFill>
                <a:latin typeface="Calibri" pitchFamily="34" charset="0"/>
                <a:ea typeface="Calibri" pitchFamily="34" charset="-122"/>
                <a:cs typeface="Calibri" pitchFamily="34" charset="-120"/>
              </a:rPr>
              <a:t>Home languages: [Spanish 92%, Vietnamese 4%, other 4%]</a:t>
            </a:r>
            <a:endParaRPr lang="en-US" sz="1300" dirty="0"/>
          </a:p>
          <a:p>
            <a:pPr marL="342900" indent="-342900">
              <a:spcAft>
                <a:spcPts val="600"/>
              </a:spcAft>
              <a:buSzPct val="100000"/>
              <a:buChar char="•"/>
            </a:pPr>
            <a:r>
              <a:rPr lang="en-US" sz="1300" dirty="0">
                <a:solidFill>
                  <a:srgbClr val="1F2330"/>
                </a:solidFill>
                <a:latin typeface="Calibri" pitchFamily="34" charset="0"/>
                <a:ea typeface="Calibri" pitchFamily="34" charset="-122"/>
                <a:cs typeface="Calibri" pitchFamily="34" charset="-120"/>
              </a:rPr>
              <a:t>Schools with the largest EL enrollment: [School A (41), School B (27), School C (19)]</a:t>
            </a:r>
            <a:endParaRPr lang="en-US" sz="1300" dirty="0"/>
          </a:p>
          <a:p>
            <a:pPr marL="342900" indent="-342900">
              <a:spcAft>
                <a:spcPts val="600"/>
              </a:spcAft>
              <a:buSzPct val="100000"/>
              <a:buChar char="•"/>
            </a:pPr>
            <a:r>
              <a:rPr lang="en-US" sz="1300" dirty="0">
                <a:solidFill>
                  <a:srgbClr val="1F2330"/>
                </a:solidFill>
                <a:latin typeface="Calibri" pitchFamily="34" charset="0"/>
                <a:ea typeface="Calibri" pitchFamily="34" charset="-122"/>
                <a:cs typeface="Calibri" pitchFamily="34" charset="-120"/>
              </a:rPr>
              <a:t>ELPT levels last spring: [Level 1: 22 · Level 2: 31 · Level 3: 29 · Level 4: 18 · Level 5: 6]</a:t>
            </a:r>
            <a:endParaRPr lang="en-US" sz="1300" dirty="0"/>
          </a:p>
          <a:p>
            <a:pPr marL="342900" indent="-342900">
              <a:spcAft>
                <a:spcPts val="600"/>
              </a:spcAft>
              <a:buSzPct val="100000"/>
              <a:buChar char="•"/>
            </a:pPr>
            <a:r>
              <a:rPr lang="en-US" sz="1300" dirty="0">
                <a:solidFill>
                  <a:srgbClr val="1F2330"/>
                </a:solidFill>
                <a:latin typeface="Calibri" pitchFamily="34" charset="0"/>
                <a:ea typeface="Calibri" pitchFamily="34" charset="-122"/>
                <a:cs typeface="Calibri" pitchFamily="34" charset="-120"/>
              </a:rPr>
              <a:t>Students identified as both EL and students with disabilities: [n]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9A227"/>
          </a:solidFill>
          <a:ln w="12700">
            <a:solidFill>
              <a:srgbClr val="C9A227"/>
            </a:solidFill>
            <a:prstDash val="solid"/>
          </a:ln>
        </p:spPr>
      </p:sp>
      <p:sp>
        <p:nvSpPr>
          <p:cNvPr id="3" name="Text 1"/>
          <p:cNvSpPr/>
          <p:nvPr/>
        </p:nvSpPr>
        <p:spPr>
          <a:xfrm>
            <a:off x="365760" y="4754880"/>
            <a:ext cx="6400800" cy="274320"/>
          </a:xfrm>
          <a:prstGeom prst="rect">
            <a:avLst/>
          </a:prstGeom>
          <a:noFill/>
          <a:ln/>
        </p:spPr>
        <p:txBody>
          <a:bodyPr wrap="square" rtlCol="0" anchor="ctr"/>
          <a:lstStyle/>
          <a:p>
            <a:pPr indent="0" marL="0">
              <a:buNone/>
            </a:pPr>
            <a:r>
              <a:rPr lang="en-US" sz="900" dirty="0">
                <a:solidFill>
                  <a:srgbClr val="5D6480"/>
                </a:solidFill>
                <a:latin typeface="Calibri" pitchFamily="34" charset="0"/>
                <a:ea typeface="Calibri" pitchFamily="34" charset="-122"/>
                <a:cs typeface="Calibri" pitchFamily="34" charset="-120"/>
              </a:rPr>
              <a:t>[DISTRICT NAME] · State of English Learners · [MONTH YEAR]</a:t>
            </a:r>
            <a:endParaRPr lang="en-US" sz="900" dirty="0"/>
          </a:p>
        </p:txBody>
      </p:sp>
      <p:sp>
        <p:nvSpPr>
          <p:cNvPr id="4" name="Text 2"/>
          <p:cNvSpPr/>
          <p:nvPr/>
        </p:nvSpPr>
        <p:spPr>
          <a:xfrm>
            <a:off x="5669280" y="4754880"/>
            <a:ext cx="3200400" cy="274320"/>
          </a:xfrm>
          <a:prstGeom prst="rect">
            <a:avLst/>
          </a:prstGeom>
          <a:noFill/>
          <a:ln/>
        </p:spPr>
        <p:txBody>
          <a:bodyPr wrap="square" rtlCol="0" anchor="ctr"/>
          <a:lstStyle/>
          <a:p>
            <a:pPr algn="r" indent="0" marL="0">
              <a:buNone/>
            </a:pPr>
            <a:r>
              <a:rPr lang="en-US" sz="900" dirty="0">
                <a:solidFill>
                  <a:srgbClr val="5D6480"/>
                </a:solidFill>
                <a:latin typeface="Calibri" pitchFamily="34" charset="0"/>
                <a:ea typeface="Calibri" pitchFamily="34" charset="-122"/>
                <a:cs typeface="Calibri" pitchFamily="34" charset="-120"/>
              </a:rPr>
              <a:t>Template: EL Publishing · radan55.github.io/everyteacher</a:t>
            </a:r>
            <a:endParaRPr lang="en-US" sz="900" dirty="0"/>
          </a:p>
        </p:txBody>
      </p:sp>
      <p:sp>
        <p:nvSpPr>
          <p:cNvPr id="5" name="Text 3"/>
          <p:cNvSpPr/>
          <p:nvPr/>
        </p:nvSpPr>
        <p:spPr>
          <a:xfrm>
            <a:off x="457200" y="320040"/>
            <a:ext cx="8229600" cy="73152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Are they growing?</a:t>
            </a:r>
            <a:endParaRPr lang="en-US" sz="3000" dirty="0"/>
          </a:p>
        </p:txBody>
      </p:sp>
      <p:sp>
        <p:nvSpPr>
          <p:cNvPr id="6" name="Text 4"/>
          <p:cNvSpPr/>
          <p:nvPr/>
        </p:nvSpPr>
        <p:spPr>
          <a:xfrm>
            <a:off x="457200" y="1005840"/>
            <a:ext cx="8229600" cy="365760"/>
          </a:xfrm>
          <a:prstGeom prst="rect">
            <a:avLst/>
          </a:prstGeom>
          <a:noFill/>
          <a:ln/>
        </p:spPr>
        <p:txBody>
          <a:bodyPr wrap="square" rtlCol="0" anchor="ctr"/>
          <a:lstStyle/>
          <a:p>
            <a:pPr indent="0" marL="0">
              <a:buNone/>
            </a:pPr>
            <a:r>
              <a:rPr lang="en-US" sz="1400" dirty="0">
                <a:solidFill>
                  <a:srgbClr val="5D6480"/>
                </a:solidFill>
                <a:latin typeface="Calibri" pitchFamily="34" charset="0"/>
                <a:ea typeface="Calibri" pitchFamily="34" charset="-122"/>
                <a:cs typeface="Calibri" pitchFamily="34" charset="-120"/>
              </a:rPr>
              <a:t>ELPT growth, exits, and participation, last spring</a:t>
            </a:r>
            <a:endParaRPr lang="en-US" sz="1400" dirty="0"/>
          </a:p>
        </p:txBody>
      </p:sp>
      <p:sp>
        <p:nvSpPr>
          <p:cNvPr id="7" name="Shape 5"/>
          <p:cNvSpPr/>
          <p:nvPr/>
        </p:nvSpPr>
        <p:spPr>
          <a:xfrm>
            <a:off x="457200" y="1554480"/>
            <a:ext cx="1920240" cy="1371600"/>
          </a:xfrm>
          <a:prstGeom prst="rect">
            <a:avLst/>
          </a:prstGeom>
          <a:solidFill>
            <a:srgbClr val="F4F5FA"/>
          </a:solidFill>
          <a:ln w="12700">
            <a:solidFill>
              <a:srgbClr val="DCDEE9"/>
            </a:solidFill>
            <a:prstDash val="solid"/>
          </a:ln>
        </p:spPr>
      </p:sp>
      <p:sp>
        <p:nvSpPr>
          <p:cNvPr id="8" name="Shape 6"/>
          <p:cNvSpPr/>
          <p:nvPr/>
        </p:nvSpPr>
        <p:spPr>
          <a:xfrm>
            <a:off x="457200" y="1554480"/>
            <a:ext cx="1920240" cy="73152"/>
          </a:xfrm>
          <a:prstGeom prst="rect">
            <a:avLst/>
          </a:prstGeom>
          <a:solidFill>
            <a:srgbClr val="C9A227"/>
          </a:solidFill>
          <a:ln w="12700">
            <a:solidFill>
              <a:srgbClr val="C9A227"/>
            </a:solidFill>
            <a:prstDash val="solid"/>
          </a:ln>
        </p:spPr>
      </p:sp>
      <p:sp>
        <p:nvSpPr>
          <p:cNvPr id="9" name="Text 7"/>
          <p:cNvSpPr/>
          <p:nvPr/>
        </p:nvSpPr>
        <p:spPr>
          <a:xfrm>
            <a:off x="548640" y="1691640"/>
            <a:ext cx="1737360" cy="640080"/>
          </a:xfrm>
          <a:prstGeom prst="rect">
            <a:avLst/>
          </a:prstGeom>
          <a:noFill/>
          <a:ln/>
        </p:spPr>
        <p:txBody>
          <a:bodyPr wrap="square" rtlCol="0" anchor="ctr">
            <a:normAutofit/>
          </a:bodyPr>
          <a:lstStyle/>
          <a:p>
            <a:pPr indent="0" marL="0">
              <a:buNone/>
            </a:pPr>
            <a:r>
              <a:rPr lang="en-US" sz="2200" b="1" dirty="0">
                <a:solidFill>
                  <a:srgbClr val="1E2761"/>
                </a:solidFill>
                <a:latin typeface="Georgia" pitchFamily="34" charset="0"/>
                <a:ea typeface="Georgia" pitchFamily="34" charset="-122"/>
                <a:cs typeface="Georgia" pitchFamily="34" charset="-120"/>
              </a:rPr>
              <a:t>[53%]</a:t>
            </a:r>
            <a:endParaRPr lang="en-US" sz="2200" dirty="0"/>
          </a:p>
        </p:txBody>
      </p:sp>
      <p:sp>
        <p:nvSpPr>
          <p:cNvPr id="10" name="Text 8"/>
          <p:cNvSpPr/>
          <p:nvPr/>
        </p:nvSpPr>
        <p:spPr>
          <a:xfrm>
            <a:off x="548640" y="2331720"/>
            <a:ext cx="1737360" cy="502920"/>
          </a:xfrm>
          <a:prstGeom prst="rect">
            <a:avLst/>
          </a:prstGeom>
          <a:noFill/>
          <a:ln/>
        </p:spPr>
        <p:txBody>
          <a:bodyPr wrap="square" rtlCol="0" anchor="ctr"/>
          <a:lstStyle/>
          <a:p>
            <a:pPr indent="0" marL="0">
              <a:buNone/>
            </a:pPr>
            <a:r>
              <a:rPr lang="en-US" sz="1100" dirty="0">
                <a:solidFill>
                  <a:srgbClr val="5D6480"/>
                </a:solidFill>
                <a:latin typeface="Calibri" pitchFamily="34" charset="0"/>
                <a:ea typeface="Calibri" pitchFamily="34" charset="-122"/>
                <a:cs typeface="Calibri" pitchFamily="34" charset="-120"/>
              </a:rPr>
              <a:t>gained at least one ELPT level</a:t>
            </a:r>
            <a:endParaRPr lang="en-US" sz="1100" dirty="0"/>
          </a:p>
        </p:txBody>
      </p:sp>
      <p:sp>
        <p:nvSpPr>
          <p:cNvPr id="11" name="Shape 9"/>
          <p:cNvSpPr/>
          <p:nvPr/>
        </p:nvSpPr>
        <p:spPr>
          <a:xfrm>
            <a:off x="2560320" y="1554480"/>
            <a:ext cx="1920240" cy="1371600"/>
          </a:xfrm>
          <a:prstGeom prst="rect">
            <a:avLst/>
          </a:prstGeom>
          <a:solidFill>
            <a:srgbClr val="F4F5FA"/>
          </a:solidFill>
          <a:ln w="12700">
            <a:solidFill>
              <a:srgbClr val="DCDEE9"/>
            </a:solidFill>
            <a:prstDash val="solid"/>
          </a:ln>
        </p:spPr>
      </p:sp>
      <p:sp>
        <p:nvSpPr>
          <p:cNvPr id="12" name="Shape 10"/>
          <p:cNvSpPr/>
          <p:nvPr/>
        </p:nvSpPr>
        <p:spPr>
          <a:xfrm>
            <a:off x="2560320" y="1554480"/>
            <a:ext cx="1920240" cy="73152"/>
          </a:xfrm>
          <a:prstGeom prst="rect">
            <a:avLst/>
          </a:prstGeom>
          <a:solidFill>
            <a:srgbClr val="C9A227"/>
          </a:solidFill>
          <a:ln w="12700">
            <a:solidFill>
              <a:srgbClr val="C9A227"/>
            </a:solidFill>
            <a:prstDash val="solid"/>
          </a:ln>
        </p:spPr>
      </p:sp>
      <p:sp>
        <p:nvSpPr>
          <p:cNvPr id="13" name="Text 11"/>
          <p:cNvSpPr/>
          <p:nvPr/>
        </p:nvSpPr>
        <p:spPr>
          <a:xfrm>
            <a:off x="2651760" y="1691640"/>
            <a:ext cx="1737360" cy="640080"/>
          </a:xfrm>
          <a:prstGeom prst="rect">
            <a:avLst/>
          </a:prstGeom>
          <a:noFill/>
          <a:ln/>
        </p:spPr>
        <p:txBody>
          <a:bodyPr wrap="square" rtlCol="0" anchor="ctr">
            <a:normAutofit/>
          </a:bodyPr>
          <a:lstStyle/>
          <a:p>
            <a:pPr indent="0" marL="0">
              <a:buNone/>
            </a:pPr>
            <a:r>
              <a:rPr lang="en-US" sz="2200" b="1" dirty="0">
                <a:solidFill>
                  <a:srgbClr val="1E2761"/>
                </a:solidFill>
                <a:latin typeface="Georgia" pitchFamily="34" charset="0"/>
                <a:ea typeface="Georgia" pitchFamily="34" charset="-122"/>
                <a:cs typeface="Georgia" pitchFamily="34" charset="-120"/>
              </a:rPr>
              <a:t>[12]</a:t>
            </a:r>
            <a:endParaRPr lang="en-US" sz="2200" dirty="0"/>
          </a:p>
        </p:txBody>
      </p:sp>
      <p:sp>
        <p:nvSpPr>
          <p:cNvPr id="14" name="Text 12"/>
          <p:cNvSpPr/>
          <p:nvPr/>
        </p:nvSpPr>
        <p:spPr>
          <a:xfrm>
            <a:off x="2651760" y="2331720"/>
            <a:ext cx="1737360" cy="502920"/>
          </a:xfrm>
          <a:prstGeom prst="rect">
            <a:avLst/>
          </a:prstGeom>
          <a:noFill/>
          <a:ln/>
        </p:spPr>
        <p:txBody>
          <a:bodyPr wrap="square" rtlCol="0" anchor="ctr"/>
          <a:lstStyle/>
          <a:p>
            <a:pPr indent="0" marL="0">
              <a:buNone/>
            </a:pPr>
            <a:r>
              <a:rPr lang="en-US" sz="1100" dirty="0">
                <a:solidFill>
                  <a:srgbClr val="5D6480"/>
                </a:solidFill>
                <a:latin typeface="Calibri" pitchFamily="34" charset="0"/>
                <a:ea typeface="Calibri" pitchFamily="34" charset="-122"/>
                <a:cs typeface="Calibri" pitchFamily="34" charset="-120"/>
              </a:rPr>
              <a:t>met the exit standard (Level 4 in every domain)</a:t>
            </a:r>
            <a:endParaRPr lang="en-US" sz="1100" dirty="0"/>
          </a:p>
        </p:txBody>
      </p:sp>
      <p:sp>
        <p:nvSpPr>
          <p:cNvPr id="15" name="Shape 13"/>
          <p:cNvSpPr/>
          <p:nvPr/>
        </p:nvSpPr>
        <p:spPr>
          <a:xfrm>
            <a:off x="4663440" y="1554480"/>
            <a:ext cx="1920240" cy="1371600"/>
          </a:xfrm>
          <a:prstGeom prst="rect">
            <a:avLst/>
          </a:prstGeom>
          <a:solidFill>
            <a:srgbClr val="F4F5FA"/>
          </a:solidFill>
          <a:ln w="12700">
            <a:solidFill>
              <a:srgbClr val="DCDEE9"/>
            </a:solidFill>
            <a:prstDash val="solid"/>
          </a:ln>
        </p:spPr>
      </p:sp>
      <p:sp>
        <p:nvSpPr>
          <p:cNvPr id="16" name="Shape 14"/>
          <p:cNvSpPr/>
          <p:nvPr/>
        </p:nvSpPr>
        <p:spPr>
          <a:xfrm>
            <a:off x="4663440" y="1554480"/>
            <a:ext cx="1920240" cy="73152"/>
          </a:xfrm>
          <a:prstGeom prst="rect">
            <a:avLst/>
          </a:prstGeom>
          <a:solidFill>
            <a:srgbClr val="C9A227"/>
          </a:solidFill>
          <a:ln w="12700">
            <a:solidFill>
              <a:srgbClr val="C9A227"/>
            </a:solidFill>
            <a:prstDash val="solid"/>
          </a:ln>
        </p:spPr>
      </p:sp>
      <p:sp>
        <p:nvSpPr>
          <p:cNvPr id="17" name="Text 15"/>
          <p:cNvSpPr/>
          <p:nvPr/>
        </p:nvSpPr>
        <p:spPr>
          <a:xfrm>
            <a:off x="4754880" y="1691640"/>
            <a:ext cx="1737360" cy="640080"/>
          </a:xfrm>
          <a:prstGeom prst="rect">
            <a:avLst/>
          </a:prstGeom>
          <a:noFill/>
          <a:ln/>
        </p:spPr>
        <p:txBody>
          <a:bodyPr wrap="square" rtlCol="0" anchor="ctr">
            <a:normAutofit/>
          </a:bodyPr>
          <a:lstStyle/>
          <a:p>
            <a:pPr indent="0" marL="0">
              <a:buNone/>
            </a:pPr>
            <a:r>
              <a:rPr lang="en-US" sz="2200" b="1" dirty="0">
                <a:solidFill>
                  <a:srgbClr val="1E2761"/>
                </a:solidFill>
                <a:latin typeface="Georgia" pitchFamily="34" charset="0"/>
                <a:ea typeface="Georgia" pitchFamily="34" charset="-122"/>
                <a:cs typeface="Georgia" pitchFamily="34" charset="-120"/>
              </a:rPr>
              <a:t>[98%]</a:t>
            </a:r>
            <a:endParaRPr lang="en-US" sz="2200" dirty="0"/>
          </a:p>
        </p:txBody>
      </p:sp>
      <p:sp>
        <p:nvSpPr>
          <p:cNvPr id="18" name="Text 16"/>
          <p:cNvSpPr/>
          <p:nvPr/>
        </p:nvSpPr>
        <p:spPr>
          <a:xfrm>
            <a:off x="4754880" y="2331720"/>
            <a:ext cx="1737360" cy="502920"/>
          </a:xfrm>
          <a:prstGeom prst="rect">
            <a:avLst/>
          </a:prstGeom>
          <a:noFill/>
          <a:ln/>
        </p:spPr>
        <p:txBody>
          <a:bodyPr wrap="square" rtlCol="0" anchor="ctr"/>
          <a:lstStyle/>
          <a:p>
            <a:pPr indent="0" marL="0">
              <a:buNone/>
            </a:pPr>
            <a:r>
              <a:rPr lang="en-US" sz="1100" dirty="0">
                <a:solidFill>
                  <a:srgbClr val="5D6480"/>
                </a:solidFill>
                <a:latin typeface="Calibri" pitchFamily="34" charset="0"/>
                <a:ea typeface="Calibri" pitchFamily="34" charset="-122"/>
                <a:cs typeface="Calibri" pitchFamily="34" charset="-120"/>
              </a:rPr>
              <a:t>ELPT participation (95% required)</a:t>
            </a:r>
            <a:endParaRPr lang="en-US" sz="1100" dirty="0"/>
          </a:p>
        </p:txBody>
      </p:sp>
      <p:sp>
        <p:nvSpPr>
          <p:cNvPr id="19" name="Shape 17"/>
          <p:cNvSpPr/>
          <p:nvPr/>
        </p:nvSpPr>
        <p:spPr>
          <a:xfrm>
            <a:off x="6766560" y="1554480"/>
            <a:ext cx="1920240" cy="1371600"/>
          </a:xfrm>
          <a:prstGeom prst="rect">
            <a:avLst/>
          </a:prstGeom>
          <a:solidFill>
            <a:srgbClr val="F4F5FA"/>
          </a:solidFill>
          <a:ln w="12700">
            <a:solidFill>
              <a:srgbClr val="DCDEE9"/>
            </a:solidFill>
            <a:prstDash val="solid"/>
          </a:ln>
        </p:spPr>
      </p:sp>
      <p:sp>
        <p:nvSpPr>
          <p:cNvPr id="20" name="Shape 18"/>
          <p:cNvSpPr/>
          <p:nvPr/>
        </p:nvSpPr>
        <p:spPr>
          <a:xfrm>
            <a:off x="6766560" y="1554480"/>
            <a:ext cx="1920240" cy="73152"/>
          </a:xfrm>
          <a:prstGeom prst="rect">
            <a:avLst/>
          </a:prstGeom>
          <a:solidFill>
            <a:srgbClr val="C9A227"/>
          </a:solidFill>
          <a:ln w="12700">
            <a:solidFill>
              <a:srgbClr val="C9A227"/>
            </a:solidFill>
            <a:prstDash val="solid"/>
          </a:ln>
        </p:spPr>
      </p:sp>
      <p:sp>
        <p:nvSpPr>
          <p:cNvPr id="21" name="Text 19"/>
          <p:cNvSpPr/>
          <p:nvPr/>
        </p:nvSpPr>
        <p:spPr>
          <a:xfrm>
            <a:off x="6858000" y="1691640"/>
            <a:ext cx="1737360" cy="640080"/>
          </a:xfrm>
          <a:prstGeom prst="rect">
            <a:avLst/>
          </a:prstGeom>
          <a:noFill/>
          <a:ln/>
        </p:spPr>
        <p:txBody>
          <a:bodyPr wrap="square" rtlCol="0" anchor="ctr">
            <a:normAutofit/>
          </a:bodyPr>
          <a:lstStyle/>
          <a:p>
            <a:pPr indent="0" marL="0">
              <a:buNone/>
            </a:pPr>
            <a:r>
              <a:rPr lang="en-US" sz="2200" b="1" dirty="0">
                <a:solidFill>
                  <a:srgbClr val="1E2761"/>
                </a:solidFill>
                <a:latin typeface="Georgia" pitchFamily="34" charset="0"/>
                <a:ea typeface="Georgia" pitchFamily="34" charset="-122"/>
                <a:cs typeface="Georgia" pitchFamily="34" charset="-120"/>
              </a:rPr>
              <a:t>[+8 pts]</a:t>
            </a:r>
            <a:endParaRPr lang="en-US" sz="2200" dirty="0"/>
          </a:p>
        </p:txBody>
      </p:sp>
      <p:sp>
        <p:nvSpPr>
          <p:cNvPr id="22" name="Text 20"/>
          <p:cNvSpPr/>
          <p:nvPr/>
        </p:nvSpPr>
        <p:spPr>
          <a:xfrm>
            <a:off x="6858000" y="2331720"/>
            <a:ext cx="1737360" cy="502920"/>
          </a:xfrm>
          <a:prstGeom prst="rect">
            <a:avLst/>
          </a:prstGeom>
          <a:noFill/>
          <a:ln/>
        </p:spPr>
        <p:txBody>
          <a:bodyPr wrap="square" rtlCol="0" anchor="ctr"/>
          <a:lstStyle/>
          <a:p>
            <a:pPr indent="0" marL="0">
              <a:buNone/>
            </a:pPr>
            <a:r>
              <a:rPr lang="en-US" sz="1100" dirty="0">
                <a:solidFill>
                  <a:srgbClr val="5D6480"/>
                </a:solidFill>
                <a:latin typeface="Calibri" pitchFamily="34" charset="0"/>
                <a:ea typeface="Calibri" pitchFamily="34" charset="-122"/>
                <a:cs typeface="Calibri" pitchFamily="34" charset="-120"/>
              </a:rPr>
              <a:t>three-year trend, proficient or above</a:t>
            </a:r>
            <a:endParaRPr lang="en-US" sz="1100" dirty="0"/>
          </a:p>
        </p:txBody>
      </p:sp>
      <p:sp>
        <p:nvSpPr>
          <p:cNvPr id="23" name="Text 21"/>
          <p:cNvSpPr/>
          <p:nvPr/>
        </p:nvSpPr>
        <p:spPr>
          <a:xfrm>
            <a:off x="457200" y="3108960"/>
            <a:ext cx="8229600" cy="1554480"/>
          </a:xfrm>
          <a:prstGeom prst="rect">
            <a:avLst/>
          </a:prstGeom>
          <a:noFill/>
          <a:ln/>
        </p:spPr>
        <p:txBody>
          <a:bodyPr wrap="square" rtlCol="0" anchor="t"/>
          <a:lstStyle/>
          <a:p>
            <a:pPr marL="342900" indent="-342900">
              <a:spcAft>
                <a:spcPts val="600"/>
              </a:spcAft>
              <a:buSzPct val="100000"/>
              <a:buChar char="•"/>
            </a:pPr>
            <a:r>
              <a:rPr lang="en-US" sz="1300" dirty="0">
                <a:solidFill>
                  <a:srgbClr val="1F2330"/>
                </a:solidFill>
                <a:latin typeface="Calibri" pitchFamily="34" charset="0"/>
                <a:ea typeface="Calibri" pitchFamily="34" charset="-122"/>
                <a:cs typeface="Calibri" pitchFamily="34" charset="-120"/>
              </a:rPr>
              <a:t>The state exit standard is Level 4 in all four domains on the same test (State Board, June 2025). A student at 4-4-4-3 does not exit.</a:t>
            </a:r>
            <a:endParaRPr lang="en-US" sz="1300" dirty="0"/>
          </a:p>
          <a:p>
            <a:pPr marL="342900" indent="-342900">
              <a:spcAft>
                <a:spcPts val="600"/>
              </a:spcAft>
              <a:buSzPct val="100000"/>
              <a:buChar char="•"/>
            </a:pPr>
            <a:r>
              <a:rPr lang="en-US" sz="1300" dirty="0">
                <a:solidFill>
                  <a:srgbClr val="1F2330"/>
                </a:solidFill>
                <a:latin typeface="Calibri" pitchFamily="34" charset="0"/>
                <a:ea typeface="Calibri" pitchFamily="34" charset="-122"/>
                <a:cs typeface="Calibri" pitchFamily="34" charset="-120"/>
              </a:rPr>
              <a:t>Students one domain short of exit this spring: [n]. These are our targeted-support list.</a:t>
            </a:r>
            <a:endParaRPr lang="en-US" sz="1300" dirty="0"/>
          </a:p>
          <a:p>
            <a:pPr marL="342900" indent="-342900">
              <a:spcAft>
                <a:spcPts val="600"/>
              </a:spcAft>
              <a:buSzPct val="100000"/>
              <a:buChar char="•"/>
            </a:pPr>
            <a:r>
              <a:rPr lang="en-US" sz="1300" dirty="0">
                <a:solidFill>
                  <a:srgbClr val="1F2330"/>
                </a:solidFill>
                <a:latin typeface="Calibri" pitchFamily="34" charset="0"/>
                <a:ea typeface="Calibri" pitchFamily="34" charset="-122"/>
                <a:cs typeface="Calibri" pitchFamily="34" charset="-120"/>
              </a:rPr>
              <a:t>Where growth stalled: [domain, grade band].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9A227"/>
          </a:solidFill>
          <a:ln w="12700">
            <a:solidFill>
              <a:srgbClr val="C9A227"/>
            </a:solidFill>
            <a:prstDash val="solid"/>
          </a:ln>
        </p:spPr>
      </p:sp>
      <p:sp>
        <p:nvSpPr>
          <p:cNvPr id="3" name="Text 1"/>
          <p:cNvSpPr/>
          <p:nvPr/>
        </p:nvSpPr>
        <p:spPr>
          <a:xfrm>
            <a:off x="365760" y="4754880"/>
            <a:ext cx="6400800" cy="274320"/>
          </a:xfrm>
          <a:prstGeom prst="rect">
            <a:avLst/>
          </a:prstGeom>
          <a:noFill/>
          <a:ln/>
        </p:spPr>
        <p:txBody>
          <a:bodyPr wrap="square" rtlCol="0" anchor="ctr"/>
          <a:lstStyle/>
          <a:p>
            <a:pPr indent="0" marL="0">
              <a:buNone/>
            </a:pPr>
            <a:r>
              <a:rPr lang="en-US" sz="900" dirty="0">
                <a:solidFill>
                  <a:srgbClr val="5D6480"/>
                </a:solidFill>
                <a:latin typeface="Calibri" pitchFamily="34" charset="0"/>
                <a:ea typeface="Calibri" pitchFamily="34" charset="-122"/>
                <a:cs typeface="Calibri" pitchFamily="34" charset="-120"/>
              </a:rPr>
              <a:t>[DISTRICT NAME] · State of English Learners · [MONTH YEAR]</a:t>
            </a:r>
            <a:endParaRPr lang="en-US" sz="900" dirty="0"/>
          </a:p>
        </p:txBody>
      </p:sp>
      <p:sp>
        <p:nvSpPr>
          <p:cNvPr id="4" name="Text 2"/>
          <p:cNvSpPr/>
          <p:nvPr/>
        </p:nvSpPr>
        <p:spPr>
          <a:xfrm>
            <a:off x="5669280" y="4754880"/>
            <a:ext cx="3200400" cy="274320"/>
          </a:xfrm>
          <a:prstGeom prst="rect">
            <a:avLst/>
          </a:prstGeom>
          <a:noFill/>
          <a:ln/>
        </p:spPr>
        <p:txBody>
          <a:bodyPr wrap="square" rtlCol="0" anchor="ctr"/>
          <a:lstStyle/>
          <a:p>
            <a:pPr algn="r" indent="0" marL="0">
              <a:buNone/>
            </a:pPr>
            <a:r>
              <a:rPr lang="en-US" sz="900" dirty="0">
                <a:solidFill>
                  <a:srgbClr val="5D6480"/>
                </a:solidFill>
                <a:latin typeface="Calibri" pitchFamily="34" charset="0"/>
                <a:ea typeface="Calibri" pitchFamily="34" charset="-122"/>
                <a:cs typeface="Calibri" pitchFamily="34" charset="-120"/>
              </a:rPr>
              <a:t>Template: EL Publishing · radan55.github.io/everyteacher</a:t>
            </a:r>
            <a:endParaRPr lang="en-US" sz="900" dirty="0"/>
          </a:p>
        </p:txBody>
      </p:sp>
      <p:sp>
        <p:nvSpPr>
          <p:cNvPr id="5" name="Text 3"/>
          <p:cNvSpPr/>
          <p:nvPr/>
        </p:nvSpPr>
        <p:spPr>
          <a:xfrm>
            <a:off x="457200" y="320040"/>
            <a:ext cx="8229600" cy="73152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The gap, and what closes it</a:t>
            </a:r>
            <a:endParaRPr lang="en-US" sz="3000" dirty="0"/>
          </a:p>
        </p:txBody>
      </p:sp>
      <p:sp>
        <p:nvSpPr>
          <p:cNvPr id="6" name="Text 4"/>
          <p:cNvSpPr/>
          <p:nvPr/>
        </p:nvSpPr>
        <p:spPr>
          <a:xfrm>
            <a:off x="457200" y="1005840"/>
            <a:ext cx="8229600" cy="365760"/>
          </a:xfrm>
          <a:prstGeom prst="rect">
            <a:avLst/>
          </a:prstGeom>
          <a:noFill/>
          <a:ln/>
        </p:spPr>
        <p:txBody>
          <a:bodyPr wrap="square" rtlCol="0" anchor="ctr"/>
          <a:lstStyle/>
          <a:p>
            <a:pPr indent="0" marL="0">
              <a:buNone/>
            </a:pPr>
            <a:r>
              <a:rPr lang="en-US" sz="1400" dirty="0">
                <a:solidFill>
                  <a:srgbClr val="5D6480"/>
                </a:solidFill>
                <a:latin typeface="Calibri" pitchFamily="34" charset="0"/>
                <a:ea typeface="Calibri" pitchFamily="34" charset="-122"/>
                <a:cs typeface="Calibri" pitchFamily="34" charset="-120"/>
              </a:rPr>
              <a:t>MAAP proficiency and graduation: all students, current ELs, former ELs</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3291840"/>
                <a:gridCol w="1645920"/>
                <a:gridCol w="1645920"/>
                <a:gridCol w="1645920"/>
              </a:tblGrid>
              <a:tr h="0">
                <a:tc>
                  <a:txBody>
                    <a:bodyPr/>
                    <a:lstStyle/>
                    <a:p>
                      <a:pPr indent="0" marL="0">
                        <a:buNone/>
                      </a:pPr>
                      <a:endParaRPr lang="en-US" sz="1400" dirty="0">
                        <a:latin typeface="Calibri" charset="0"/>
                        <a:ea typeface="Calibri" charset="0"/>
                        <a:cs typeface="Calibri" charset="0"/>
                      </a:endParaRPr>
                    </a:p>
                  </a:txBody>
                  <a:tcPr marL="91440" marR="91440" marT="45720" marB="45720">
                    <a:lnL w="12700" cap="flat" cmpd="sng" algn="ctr">
                      <a:solidFill>
                        <a:srgbClr val="DCDEE9"/>
                      </a:solidFill>
                      <a:prstDash val="solid"/>
                      <a:round/>
                      <a:headEnd type="none" w="med" len="med"/>
                      <a:tailEnd type="none" w="med" len="med"/>
                    </a:lnL>
                    <a:lnR w="12700" cap="flat" cmpd="sng" algn="ctr">
                      <a:solidFill>
                        <a:srgbClr val="DCDEE9"/>
                      </a:solidFill>
                      <a:prstDash val="solid"/>
                      <a:round/>
                      <a:headEnd type="none" w="med" len="med"/>
                      <a:tailEnd type="none" w="med" len="med"/>
                    </a:lnR>
                    <a:lnT w="12700" cap="flat" cmpd="sng" algn="ctr">
                      <a:solidFill>
                        <a:srgbClr val="DCDEE9"/>
                      </a:solidFill>
                      <a:prstDash val="solid"/>
                      <a:round/>
                      <a:headEnd type="none" w="med" len="med"/>
                      <a:tailEnd type="none" w="med" len="med"/>
                    </a:lnT>
                    <a:lnB w="12700" cap="flat" cmpd="sng" algn="ctr">
                      <a:solidFill>
                        <a:srgbClr val="DCDEE9"/>
                      </a:solidFill>
                      <a:prstDash val="solid"/>
                      <a:round/>
                      <a:headEnd type="none" w="med" len="med"/>
                      <a:tailEnd type="none" w="med" len="med"/>
                    </a:lnB>
                    <a:solidFill>
                      <a:srgbClr val="F4F5FA"/>
                    </a:solidFill>
                  </a:tcPr>
                </a:tc>
                <a:tc>
                  <a:txBody>
                    <a:bodyPr/>
                    <a:lstStyle/>
                    <a:p>
                      <a:pPr indent="0" marL="0">
                        <a:buNone/>
                      </a:pPr>
                      <a:r>
                        <a:rPr lang="en-US" sz="1400" b="1" dirty="0">
                          <a:solidFill>
                            <a:srgbClr val="1F2330"/>
                          </a:solidFill>
                          <a:latin typeface="Calibri" pitchFamily="34" charset="0"/>
                          <a:ea typeface="Calibri" pitchFamily="34" charset="-122"/>
                          <a:cs typeface="Calibri" pitchFamily="34" charset="-120"/>
                        </a:rPr>
                        <a:t>All students</a:t>
                      </a:r>
                      <a:endParaRPr lang="en-US" sz="1400" dirty="0">
                        <a:latin typeface="Calibri" charset="0"/>
                        <a:ea typeface="Calibri" charset="0"/>
                        <a:cs typeface="Calibri" charset="0"/>
                      </a:endParaRPr>
                    </a:p>
                  </a:txBody>
                  <a:tcPr marL="91440" marR="91440" marT="45720" marB="45720">
                    <a:lnL w="12700" cap="flat" cmpd="sng" algn="ctr">
                      <a:solidFill>
                        <a:srgbClr val="DCDEE9"/>
                      </a:solidFill>
                      <a:prstDash val="solid"/>
                      <a:round/>
                      <a:headEnd type="none" w="med" len="med"/>
                      <a:tailEnd type="none" w="med" len="med"/>
                    </a:lnL>
                    <a:lnR w="12700" cap="flat" cmpd="sng" algn="ctr">
                      <a:solidFill>
                        <a:srgbClr val="DCDEE9"/>
                      </a:solidFill>
                      <a:prstDash val="solid"/>
                      <a:round/>
                      <a:headEnd type="none" w="med" len="med"/>
                      <a:tailEnd type="none" w="med" len="med"/>
                    </a:lnR>
                    <a:lnT w="12700" cap="flat" cmpd="sng" algn="ctr">
                      <a:solidFill>
                        <a:srgbClr val="DCDEE9"/>
                      </a:solidFill>
                      <a:prstDash val="solid"/>
                      <a:round/>
                      <a:headEnd type="none" w="med" len="med"/>
                      <a:tailEnd type="none" w="med" len="med"/>
                    </a:lnT>
                    <a:lnB w="12700" cap="flat" cmpd="sng" algn="ctr">
                      <a:solidFill>
                        <a:srgbClr val="DCDEE9"/>
                      </a:solidFill>
                      <a:prstDash val="solid"/>
                      <a:round/>
                      <a:headEnd type="none" w="med" len="med"/>
                      <a:tailEnd type="none" w="med" len="med"/>
                    </a:lnB>
                    <a:solidFill>
                      <a:srgbClr val="F4F5FA"/>
                    </a:solidFill>
                  </a:tcPr>
                </a:tc>
                <a:tc>
                  <a:txBody>
                    <a:bodyPr/>
                    <a:lstStyle/>
                    <a:p>
                      <a:pPr indent="0" marL="0">
                        <a:buNone/>
                      </a:pPr>
                      <a:r>
                        <a:rPr lang="en-US" sz="1400" b="1" dirty="0">
                          <a:solidFill>
                            <a:srgbClr val="1F2330"/>
                          </a:solidFill>
                          <a:latin typeface="Calibri" pitchFamily="34" charset="0"/>
                          <a:ea typeface="Calibri" pitchFamily="34" charset="-122"/>
                          <a:cs typeface="Calibri" pitchFamily="34" charset="-120"/>
                        </a:rPr>
                        <a:t>Current ELs</a:t>
                      </a:r>
                      <a:endParaRPr lang="en-US" sz="1400" dirty="0">
                        <a:latin typeface="Calibri" charset="0"/>
                        <a:ea typeface="Calibri" charset="0"/>
                        <a:cs typeface="Calibri" charset="0"/>
                      </a:endParaRPr>
                    </a:p>
                  </a:txBody>
                  <a:tcPr marL="91440" marR="91440" marT="45720" marB="45720">
                    <a:lnL w="12700" cap="flat" cmpd="sng" algn="ctr">
                      <a:solidFill>
                        <a:srgbClr val="DCDEE9"/>
                      </a:solidFill>
                      <a:prstDash val="solid"/>
                      <a:round/>
                      <a:headEnd type="none" w="med" len="med"/>
                      <a:tailEnd type="none" w="med" len="med"/>
                    </a:lnL>
                    <a:lnR w="12700" cap="flat" cmpd="sng" algn="ctr">
                      <a:solidFill>
                        <a:srgbClr val="DCDEE9"/>
                      </a:solidFill>
                      <a:prstDash val="solid"/>
                      <a:round/>
                      <a:headEnd type="none" w="med" len="med"/>
                      <a:tailEnd type="none" w="med" len="med"/>
                    </a:lnR>
                    <a:lnT w="12700" cap="flat" cmpd="sng" algn="ctr">
                      <a:solidFill>
                        <a:srgbClr val="DCDEE9"/>
                      </a:solidFill>
                      <a:prstDash val="solid"/>
                      <a:round/>
                      <a:headEnd type="none" w="med" len="med"/>
                      <a:tailEnd type="none" w="med" len="med"/>
                    </a:lnT>
                    <a:lnB w="12700" cap="flat" cmpd="sng" algn="ctr">
                      <a:solidFill>
                        <a:srgbClr val="DCDEE9"/>
                      </a:solidFill>
                      <a:prstDash val="solid"/>
                      <a:round/>
                      <a:headEnd type="none" w="med" len="med"/>
                      <a:tailEnd type="none" w="med" len="med"/>
                    </a:lnB>
                    <a:solidFill>
                      <a:srgbClr val="F4F5FA"/>
                    </a:solidFill>
                  </a:tcPr>
                </a:tc>
                <a:tc>
                  <a:txBody>
                    <a:bodyPr/>
                    <a:lstStyle/>
                    <a:p>
                      <a:pPr indent="0" marL="0">
                        <a:buNone/>
                      </a:pPr>
                      <a:r>
                        <a:rPr lang="en-US" sz="1400" b="1" dirty="0">
                          <a:solidFill>
                            <a:srgbClr val="1F2330"/>
                          </a:solidFill>
                          <a:latin typeface="Calibri" pitchFamily="34" charset="0"/>
                          <a:ea typeface="Calibri" pitchFamily="34" charset="-122"/>
                          <a:cs typeface="Calibri" pitchFamily="34" charset="-120"/>
                        </a:rPr>
                        <a:t>Former ELs</a:t>
                      </a:r>
                      <a:endParaRPr lang="en-US" sz="1400" dirty="0">
                        <a:latin typeface="Calibri" charset="0"/>
                        <a:ea typeface="Calibri" charset="0"/>
                        <a:cs typeface="Calibri" charset="0"/>
                      </a:endParaRPr>
                    </a:p>
                  </a:txBody>
                  <a:tcPr marL="91440" marR="91440" marT="45720" marB="45720">
                    <a:lnL w="12700" cap="flat" cmpd="sng" algn="ctr">
                      <a:solidFill>
                        <a:srgbClr val="DCDEE9"/>
                      </a:solidFill>
                      <a:prstDash val="solid"/>
                      <a:round/>
                      <a:headEnd type="none" w="med" len="med"/>
                      <a:tailEnd type="none" w="med" len="med"/>
                    </a:lnL>
                    <a:lnR w="12700" cap="flat" cmpd="sng" algn="ctr">
                      <a:solidFill>
                        <a:srgbClr val="DCDEE9"/>
                      </a:solidFill>
                      <a:prstDash val="solid"/>
                      <a:round/>
                      <a:headEnd type="none" w="med" len="med"/>
                      <a:tailEnd type="none" w="med" len="med"/>
                    </a:lnR>
                    <a:lnT w="12700" cap="flat" cmpd="sng" algn="ctr">
                      <a:solidFill>
                        <a:srgbClr val="DCDEE9"/>
                      </a:solidFill>
                      <a:prstDash val="solid"/>
                      <a:round/>
                      <a:headEnd type="none" w="med" len="med"/>
                      <a:tailEnd type="none" w="med" len="med"/>
                    </a:lnT>
                    <a:lnB w="12700" cap="flat" cmpd="sng" algn="ctr">
                      <a:solidFill>
                        <a:srgbClr val="DCDEE9"/>
                      </a:solidFill>
                      <a:prstDash val="solid"/>
                      <a:round/>
                      <a:headEnd type="none" w="med" len="med"/>
                      <a:tailEnd type="none" w="med" len="med"/>
                    </a:lnB>
                    <a:solidFill>
                      <a:srgbClr val="F4F5FA"/>
                    </a:solidFill>
                  </a:tcPr>
                </a:tc>
              </a:tr>
              <a:tr h="0">
                <a:tc>
                  <a:txBody>
                    <a:bodyPr/>
                    <a:lstStyle/>
                    <a:p>
                      <a:pPr indent="0" marL="0">
                        <a:buNone/>
                      </a:pPr>
                      <a:r>
                        <a:rPr lang="en-US" sz="1400" dirty="0">
                          <a:solidFill>
                            <a:srgbClr val="1F2330"/>
                          </a:solidFill>
                          <a:latin typeface="Calibri" pitchFamily="34" charset="0"/>
                          <a:ea typeface="Calibri" pitchFamily="34" charset="-122"/>
                          <a:cs typeface="Calibri" pitchFamily="34" charset="-120"/>
                        </a:rPr>
                        <a:t>MAAP proficient or advanced (ELA + math)</a:t>
                      </a:r>
                      <a:endParaRPr lang="en-US" sz="1400" dirty="0">
                        <a:latin typeface="Calibri" charset="0"/>
                        <a:ea typeface="Calibri" charset="0"/>
                        <a:cs typeface="Calibri" charset="0"/>
                      </a:endParaRPr>
                    </a:p>
                  </a:txBody>
                  <a:tcPr marL="91440" marR="91440" marT="45720" marB="45720">
                    <a:lnL w="12700" cap="flat" cmpd="sng" algn="ctr">
                      <a:solidFill>
                        <a:srgbClr val="DCDEE9"/>
                      </a:solidFill>
                      <a:prstDash val="solid"/>
                      <a:round/>
                      <a:headEnd type="none" w="med" len="med"/>
                      <a:tailEnd type="none" w="med" len="med"/>
                    </a:lnL>
                    <a:lnR w="12700" cap="flat" cmpd="sng" algn="ctr">
                      <a:solidFill>
                        <a:srgbClr val="DCDEE9"/>
                      </a:solidFill>
                      <a:prstDash val="solid"/>
                      <a:round/>
                      <a:headEnd type="none" w="med" len="med"/>
                      <a:tailEnd type="none" w="med" len="med"/>
                    </a:lnR>
                    <a:lnT w="12700" cap="flat" cmpd="sng" algn="ctr">
                      <a:solidFill>
                        <a:srgbClr val="DCDEE9"/>
                      </a:solidFill>
                      <a:prstDash val="solid"/>
                      <a:round/>
                      <a:headEnd type="none" w="med" len="med"/>
                      <a:tailEnd type="none" w="med" len="med"/>
                    </a:lnT>
                    <a:lnB w="12700" cap="flat" cmpd="sng" algn="ctr">
                      <a:solidFill>
                        <a:srgbClr val="DCDEE9"/>
                      </a:solidFill>
                      <a:prstDash val="solid"/>
                      <a:round/>
                      <a:headEnd type="none" w="med" len="med"/>
                      <a:tailEnd type="none" w="med" len="med"/>
                    </a:lnB>
                  </a:tcPr>
                </a:tc>
                <a:tc>
                  <a:txBody>
                    <a:bodyPr/>
                    <a:lstStyle/>
                    <a:p>
                      <a:pPr indent="0" marL="0">
                        <a:buNone/>
                      </a:pPr>
                      <a:r>
                        <a:rPr lang="en-US" sz="1400" dirty="0">
                          <a:solidFill>
                            <a:srgbClr val="1F2330"/>
                          </a:solidFill>
                          <a:latin typeface="Calibri" pitchFamily="34" charset="0"/>
                          <a:ea typeface="Calibri" pitchFamily="34" charset="-122"/>
                          <a:cs typeface="Calibri" pitchFamily="34" charset="-120"/>
                        </a:rPr>
                        <a:t>[46%]</a:t>
                      </a:r>
                      <a:endParaRPr lang="en-US" sz="1400" dirty="0">
                        <a:latin typeface="Calibri" charset="0"/>
                        <a:ea typeface="Calibri" charset="0"/>
                        <a:cs typeface="Calibri" charset="0"/>
                      </a:endParaRPr>
                    </a:p>
                  </a:txBody>
                  <a:tcPr marL="91440" marR="91440" marT="45720" marB="45720">
                    <a:lnL w="12700" cap="flat" cmpd="sng" algn="ctr">
                      <a:solidFill>
                        <a:srgbClr val="DCDEE9"/>
                      </a:solidFill>
                      <a:prstDash val="solid"/>
                      <a:round/>
                      <a:headEnd type="none" w="med" len="med"/>
                      <a:tailEnd type="none" w="med" len="med"/>
                    </a:lnL>
                    <a:lnR w="12700" cap="flat" cmpd="sng" algn="ctr">
                      <a:solidFill>
                        <a:srgbClr val="DCDEE9"/>
                      </a:solidFill>
                      <a:prstDash val="solid"/>
                      <a:round/>
                      <a:headEnd type="none" w="med" len="med"/>
                      <a:tailEnd type="none" w="med" len="med"/>
                    </a:lnR>
                    <a:lnT w="12700" cap="flat" cmpd="sng" algn="ctr">
                      <a:solidFill>
                        <a:srgbClr val="DCDEE9"/>
                      </a:solidFill>
                      <a:prstDash val="solid"/>
                      <a:round/>
                      <a:headEnd type="none" w="med" len="med"/>
                      <a:tailEnd type="none" w="med" len="med"/>
                    </a:lnT>
                    <a:lnB w="12700" cap="flat" cmpd="sng" algn="ctr">
                      <a:solidFill>
                        <a:srgbClr val="DCDEE9"/>
                      </a:solidFill>
                      <a:prstDash val="solid"/>
                      <a:round/>
                      <a:headEnd type="none" w="med" len="med"/>
                      <a:tailEnd type="none" w="med" len="med"/>
                    </a:lnB>
                  </a:tcPr>
                </a:tc>
                <a:tc>
                  <a:txBody>
                    <a:bodyPr/>
                    <a:lstStyle/>
                    <a:p>
                      <a:pPr indent="0" marL="0">
                        <a:buNone/>
                      </a:pPr>
                      <a:r>
                        <a:rPr lang="en-US" sz="1400" dirty="0">
                          <a:solidFill>
                            <a:srgbClr val="1F2330"/>
                          </a:solidFill>
                          <a:latin typeface="Calibri" pitchFamily="34" charset="0"/>
                          <a:ea typeface="Calibri" pitchFamily="34" charset="-122"/>
                          <a:cs typeface="Calibri" pitchFamily="34" charset="-120"/>
                        </a:rPr>
                        <a:t>[19%]</a:t>
                      </a:r>
                      <a:endParaRPr lang="en-US" sz="1400" dirty="0">
                        <a:latin typeface="Calibri" charset="0"/>
                        <a:ea typeface="Calibri" charset="0"/>
                        <a:cs typeface="Calibri" charset="0"/>
                      </a:endParaRPr>
                    </a:p>
                  </a:txBody>
                  <a:tcPr marL="91440" marR="91440" marT="45720" marB="45720">
                    <a:lnL w="12700" cap="flat" cmpd="sng" algn="ctr">
                      <a:solidFill>
                        <a:srgbClr val="DCDEE9"/>
                      </a:solidFill>
                      <a:prstDash val="solid"/>
                      <a:round/>
                      <a:headEnd type="none" w="med" len="med"/>
                      <a:tailEnd type="none" w="med" len="med"/>
                    </a:lnL>
                    <a:lnR w="12700" cap="flat" cmpd="sng" algn="ctr">
                      <a:solidFill>
                        <a:srgbClr val="DCDEE9"/>
                      </a:solidFill>
                      <a:prstDash val="solid"/>
                      <a:round/>
                      <a:headEnd type="none" w="med" len="med"/>
                      <a:tailEnd type="none" w="med" len="med"/>
                    </a:lnR>
                    <a:lnT w="12700" cap="flat" cmpd="sng" algn="ctr">
                      <a:solidFill>
                        <a:srgbClr val="DCDEE9"/>
                      </a:solidFill>
                      <a:prstDash val="solid"/>
                      <a:round/>
                      <a:headEnd type="none" w="med" len="med"/>
                      <a:tailEnd type="none" w="med" len="med"/>
                    </a:lnT>
                    <a:lnB w="12700" cap="flat" cmpd="sng" algn="ctr">
                      <a:solidFill>
                        <a:srgbClr val="DCDEE9"/>
                      </a:solidFill>
                      <a:prstDash val="solid"/>
                      <a:round/>
                      <a:headEnd type="none" w="med" len="med"/>
                      <a:tailEnd type="none" w="med" len="med"/>
                    </a:lnB>
                  </a:tcPr>
                </a:tc>
                <a:tc>
                  <a:txBody>
                    <a:bodyPr/>
                    <a:lstStyle/>
                    <a:p>
                      <a:pPr indent="0" marL="0">
                        <a:buNone/>
                      </a:pPr>
                      <a:r>
                        <a:rPr lang="en-US" sz="1400" dirty="0">
                          <a:solidFill>
                            <a:srgbClr val="1F2330"/>
                          </a:solidFill>
                          <a:latin typeface="Calibri" pitchFamily="34" charset="0"/>
                          <a:ea typeface="Calibri" pitchFamily="34" charset="-122"/>
                          <a:cs typeface="Calibri" pitchFamily="34" charset="-120"/>
                        </a:rPr>
                        <a:t>[51%]</a:t>
                      </a:r>
                      <a:endParaRPr lang="en-US" sz="1400" dirty="0">
                        <a:latin typeface="Calibri" charset="0"/>
                        <a:ea typeface="Calibri" charset="0"/>
                        <a:cs typeface="Calibri" charset="0"/>
                      </a:endParaRPr>
                    </a:p>
                  </a:txBody>
                  <a:tcPr marL="91440" marR="91440" marT="45720" marB="45720">
                    <a:lnL w="12700" cap="flat" cmpd="sng" algn="ctr">
                      <a:solidFill>
                        <a:srgbClr val="DCDEE9"/>
                      </a:solidFill>
                      <a:prstDash val="solid"/>
                      <a:round/>
                      <a:headEnd type="none" w="med" len="med"/>
                      <a:tailEnd type="none" w="med" len="med"/>
                    </a:lnL>
                    <a:lnR w="12700" cap="flat" cmpd="sng" algn="ctr">
                      <a:solidFill>
                        <a:srgbClr val="DCDEE9"/>
                      </a:solidFill>
                      <a:prstDash val="solid"/>
                      <a:round/>
                      <a:headEnd type="none" w="med" len="med"/>
                      <a:tailEnd type="none" w="med" len="med"/>
                    </a:lnR>
                    <a:lnT w="12700" cap="flat" cmpd="sng" algn="ctr">
                      <a:solidFill>
                        <a:srgbClr val="DCDEE9"/>
                      </a:solidFill>
                      <a:prstDash val="solid"/>
                      <a:round/>
                      <a:headEnd type="none" w="med" len="med"/>
                      <a:tailEnd type="none" w="med" len="med"/>
                    </a:lnT>
                    <a:lnB w="12700" cap="flat" cmpd="sng" algn="ctr">
                      <a:solidFill>
                        <a:srgbClr val="DCDEE9"/>
                      </a:solidFill>
                      <a:prstDash val="solid"/>
                      <a:round/>
                      <a:headEnd type="none" w="med" len="med"/>
                      <a:tailEnd type="none" w="med" len="med"/>
                    </a:lnB>
                  </a:tcPr>
                </a:tc>
              </a:tr>
              <a:tr h="0">
                <a:tc>
                  <a:txBody>
                    <a:bodyPr/>
                    <a:lstStyle/>
                    <a:p>
                      <a:pPr indent="0" marL="0">
                        <a:buNone/>
                      </a:pPr>
                      <a:r>
                        <a:rPr lang="en-US" sz="1400" dirty="0">
                          <a:solidFill>
                            <a:srgbClr val="1F2330"/>
                          </a:solidFill>
                          <a:latin typeface="Calibri" pitchFamily="34" charset="0"/>
                          <a:ea typeface="Calibri" pitchFamily="34" charset="-122"/>
                          <a:cs typeface="Calibri" pitchFamily="34" charset="-120"/>
                        </a:rPr>
                        <a:t>Four-year graduation rate</a:t>
                      </a:r>
                      <a:endParaRPr lang="en-US" sz="1400" dirty="0">
                        <a:latin typeface="Calibri" charset="0"/>
                        <a:ea typeface="Calibri" charset="0"/>
                        <a:cs typeface="Calibri" charset="0"/>
                      </a:endParaRPr>
                    </a:p>
                  </a:txBody>
                  <a:tcPr marL="91440" marR="91440" marT="45720" marB="45720">
                    <a:lnL w="12700" cap="flat" cmpd="sng" algn="ctr">
                      <a:solidFill>
                        <a:srgbClr val="DCDEE9"/>
                      </a:solidFill>
                      <a:prstDash val="solid"/>
                      <a:round/>
                      <a:headEnd type="none" w="med" len="med"/>
                      <a:tailEnd type="none" w="med" len="med"/>
                    </a:lnL>
                    <a:lnR w="12700" cap="flat" cmpd="sng" algn="ctr">
                      <a:solidFill>
                        <a:srgbClr val="DCDEE9"/>
                      </a:solidFill>
                      <a:prstDash val="solid"/>
                      <a:round/>
                      <a:headEnd type="none" w="med" len="med"/>
                      <a:tailEnd type="none" w="med" len="med"/>
                    </a:lnR>
                    <a:lnT w="12700" cap="flat" cmpd="sng" algn="ctr">
                      <a:solidFill>
                        <a:srgbClr val="DCDEE9"/>
                      </a:solidFill>
                      <a:prstDash val="solid"/>
                      <a:round/>
                      <a:headEnd type="none" w="med" len="med"/>
                      <a:tailEnd type="none" w="med" len="med"/>
                    </a:lnT>
                    <a:lnB w="12700" cap="flat" cmpd="sng" algn="ctr">
                      <a:solidFill>
                        <a:srgbClr val="DCDEE9"/>
                      </a:solidFill>
                      <a:prstDash val="solid"/>
                      <a:round/>
                      <a:headEnd type="none" w="med" len="med"/>
                      <a:tailEnd type="none" w="med" len="med"/>
                    </a:lnB>
                  </a:tcPr>
                </a:tc>
                <a:tc>
                  <a:txBody>
                    <a:bodyPr/>
                    <a:lstStyle/>
                    <a:p>
                      <a:pPr indent="0" marL="0">
                        <a:buNone/>
                      </a:pPr>
                      <a:r>
                        <a:rPr lang="en-US" sz="1400" dirty="0">
                          <a:solidFill>
                            <a:srgbClr val="1F2330"/>
                          </a:solidFill>
                          <a:latin typeface="Calibri" pitchFamily="34" charset="0"/>
                          <a:ea typeface="Calibri" pitchFamily="34" charset="-122"/>
                          <a:cs typeface="Calibri" pitchFamily="34" charset="-120"/>
                        </a:rPr>
                        <a:t>[88%]</a:t>
                      </a:r>
                      <a:endParaRPr lang="en-US" sz="1400" dirty="0">
                        <a:latin typeface="Calibri" charset="0"/>
                        <a:ea typeface="Calibri" charset="0"/>
                        <a:cs typeface="Calibri" charset="0"/>
                      </a:endParaRPr>
                    </a:p>
                  </a:txBody>
                  <a:tcPr marL="91440" marR="91440" marT="45720" marB="45720">
                    <a:lnL w="12700" cap="flat" cmpd="sng" algn="ctr">
                      <a:solidFill>
                        <a:srgbClr val="DCDEE9"/>
                      </a:solidFill>
                      <a:prstDash val="solid"/>
                      <a:round/>
                      <a:headEnd type="none" w="med" len="med"/>
                      <a:tailEnd type="none" w="med" len="med"/>
                    </a:lnL>
                    <a:lnR w="12700" cap="flat" cmpd="sng" algn="ctr">
                      <a:solidFill>
                        <a:srgbClr val="DCDEE9"/>
                      </a:solidFill>
                      <a:prstDash val="solid"/>
                      <a:round/>
                      <a:headEnd type="none" w="med" len="med"/>
                      <a:tailEnd type="none" w="med" len="med"/>
                    </a:lnR>
                    <a:lnT w="12700" cap="flat" cmpd="sng" algn="ctr">
                      <a:solidFill>
                        <a:srgbClr val="DCDEE9"/>
                      </a:solidFill>
                      <a:prstDash val="solid"/>
                      <a:round/>
                      <a:headEnd type="none" w="med" len="med"/>
                      <a:tailEnd type="none" w="med" len="med"/>
                    </a:lnT>
                    <a:lnB w="12700" cap="flat" cmpd="sng" algn="ctr">
                      <a:solidFill>
                        <a:srgbClr val="DCDEE9"/>
                      </a:solidFill>
                      <a:prstDash val="solid"/>
                      <a:round/>
                      <a:headEnd type="none" w="med" len="med"/>
                      <a:tailEnd type="none" w="med" len="med"/>
                    </a:lnB>
                  </a:tcPr>
                </a:tc>
                <a:tc>
                  <a:txBody>
                    <a:bodyPr/>
                    <a:lstStyle/>
                    <a:p>
                      <a:pPr indent="0" marL="0">
                        <a:buNone/>
                      </a:pPr>
                      <a:r>
                        <a:rPr lang="en-US" sz="1400" dirty="0">
                          <a:solidFill>
                            <a:srgbClr val="1F2330"/>
                          </a:solidFill>
                          <a:latin typeface="Calibri" pitchFamily="34" charset="0"/>
                          <a:ea typeface="Calibri" pitchFamily="34" charset="-122"/>
                          <a:cs typeface="Calibri" pitchFamily="34" charset="-120"/>
                        </a:rPr>
                        <a:t>[71%]</a:t>
                      </a:r>
                      <a:endParaRPr lang="en-US" sz="1400" dirty="0">
                        <a:latin typeface="Calibri" charset="0"/>
                        <a:ea typeface="Calibri" charset="0"/>
                        <a:cs typeface="Calibri" charset="0"/>
                      </a:endParaRPr>
                    </a:p>
                  </a:txBody>
                  <a:tcPr marL="91440" marR="91440" marT="45720" marB="45720">
                    <a:lnL w="12700" cap="flat" cmpd="sng" algn="ctr">
                      <a:solidFill>
                        <a:srgbClr val="DCDEE9"/>
                      </a:solidFill>
                      <a:prstDash val="solid"/>
                      <a:round/>
                      <a:headEnd type="none" w="med" len="med"/>
                      <a:tailEnd type="none" w="med" len="med"/>
                    </a:lnL>
                    <a:lnR w="12700" cap="flat" cmpd="sng" algn="ctr">
                      <a:solidFill>
                        <a:srgbClr val="DCDEE9"/>
                      </a:solidFill>
                      <a:prstDash val="solid"/>
                      <a:round/>
                      <a:headEnd type="none" w="med" len="med"/>
                      <a:tailEnd type="none" w="med" len="med"/>
                    </a:lnR>
                    <a:lnT w="12700" cap="flat" cmpd="sng" algn="ctr">
                      <a:solidFill>
                        <a:srgbClr val="DCDEE9"/>
                      </a:solidFill>
                      <a:prstDash val="solid"/>
                      <a:round/>
                      <a:headEnd type="none" w="med" len="med"/>
                      <a:tailEnd type="none" w="med" len="med"/>
                    </a:lnT>
                    <a:lnB w="12700" cap="flat" cmpd="sng" algn="ctr">
                      <a:solidFill>
                        <a:srgbClr val="DCDEE9"/>
                      </a:solidFill>
                      <a:prstDash val="solid"/>
                      <a:round/>
                      <a:headEnd type="none" w="med" len="med"/>
                      <a:tailEnd type="none" w="med" len="med"/>
                    </a:lnB>
                  </a:tcPr>
                </a:tc>
                <a:tc>
                  <a:txBody>
                    <a:bodyPr/>
                    <a:lstStyle/>
                    <a:p>
                      <a:pPr indent="0" marL="0">
                        <a:buNone/>
                      </a:pPr>
                      <a:r>
                        <a:rPr lang="en-US" sz="1400" dirty="0">
                          <a:solidFill>
                            <a:srgbClr val="1F2330"/>
                          </a:solidFill>
                          <a:latin typeface="Calibri" pitchFamily="34" charset="0"/>
                          <a:ea typeface="Calibri" pitchFamily="34" charset="-122"/>
                          <a:cs typeface="Calibri" pitchFamily="34" charset="-120"/>
                        </a:rPr>
                        <a:t>[90%]</a:t>
                      </a:r>
                      <a:endParaRPr lang="en-US" sz="1400" dirty="0">
                        <a:latin typeface="Calibri" charset="0"/>
                        <a:ea typeface="Calibri" charset="0"/>
                        <a:cs typeface="Calibri" charset="0"/>
                      </a:endParaRPr>
                    </a:p>
                  </a:txBody>
                  <a:tcPr marL="91440" marR="91440" marT="45720" marB="45720">
                    <a:lnL w="12700" cap="flat" cmpd="sng" algn="ctr">
                      <a:solidFill>
                        <a:srgbClr val="DCDEE9"/>
                      </a:solidFill>
                      <a:prstDash val="solid"/>
                      <a:round/>
                      <a:headEnd type="none" w="med" len="med"/>
                      <a:tailEnd type="none" w="med" len="med"/>
                    </a:lnL>
                    <a:lnR w="12700" cap="flat" cmpd="sng" algn="ctr">
                      <a:solidFill>
                        <a:srgbClr val="DCDEE9"/>
                      </a:solidFill>
                      <a:prstDash val="solid"/>
                      <a:round/>
                      <a:headEnd type="none" w="med" len="med"/>
                      <a:tailEnd type="none" w="med" len="med"/>
                    </a:lnR>
                    <a:lnT w="12700" cap="flat" cmpd="sng" algn="ctr">
                      <a:solidFill>
                        <a:srgbClr val="DCDEE9"/>
                      </a:solidFill>
                      <a:prstDash val="solid"/>
                      <a:round/>
                      <a:headEnd type="none" w="med" len="med"/>
                      <a:tailEnd type="none" w="med" len="med"/>
                    </a:lnT>
                    <a:lnB w="12700" cap="flat" cmpd="sng" algn="ctr">
                      <a:solidFill>
                        <a:srgbClr val="DCDEE9"/>
                      </a:solidFill>
                      <a:prstDash val="solid"/>
                      <a:round/>
                      <a:headEnd type="none" w="med" len="med"/>
                      <a:tailEnd type="none" w="med" len="med"/>
                    </a:lnB>
                  </a:tcPr>
                </a:tc>
              </a:tr>
              <a:tr h="0">
                <a:tc>
                  <a:txBody>
                    <a:bodyPr/>
                    <a:lstStyle/>
                    <a:p>
                      <a:pPr indent="0" marL="0">
                        <a:buNone/>
                      </a:pPr>
                      <a:r>
                        <a:rPr lang="en-US" sz="1400" dirty="0">
                          <a:solidFill>
                            <a:srgbClr val="1F2330"/>
                          </a:solidFill>
                          <a:latin typeface="Calibri" pitchFamily="34" charset="0"/>
                          <a:ea typeface="Calibri" pitchFamily="34" charset="-122"/>
                          <a:cs typeface="Calibri" pitchFamily="34" charset="-120"/>
                        </a:rPr>
                        <a:t>Chronic absence</a:t>
                      </a:r>
                      <a:endParaRPr lang="en-US" sz="1400" dirty="0">
                        <a:latin typeface="Calibri" charset="0"/>
                        <a:ea typeface="Calibri" charset="0"/>
                        <a:cs typeface="Calibri" charset="0"/>
                      </a:endParaRPr>
                    </a:p>
                  </a:txBody>
                  <a:tcPr marL="91440" marR="91440" marT="45720" marB="45720">
                    <a:lnL w="12700" cap="flat" cmpd="sng" algn="ctr">
                      <a:solidFill>
                        <a:srgbClr val="DCDEE9"/>
                      </a:solidFill>
                      <a:prstDash val="solid"/>
                      <a:round/>
                      <a:headEnd type="none" w="med" len="med"/>
                      <a:tailEnd type="none" w="med" len="med"/>
                    </a:lnL>
                    <a:lnR w="12700" cap="flat" cmpd="sng" algn="ctr">
                      <a:solidFill>
                        <a:srgbClr val="DCDEE9"/>
                      </a:solidFill>
                      <a:prstDash val="solid"/>
                      <a:round/>
                      <a:headEnd type="none" w="med" len="med"/>
                      <a:tailEnd type="none" w="med" len="med"/>
                    </a:lnR>
                    <a:lnT w="12700" cap="flat" cmpd="sng" algn="ctr">
                      <a:solidFill>
                        <a:srgbClr val="DCDEE9"/>
                      </a:solidFill>
                      <a:prstDash val="solid"/>
                      <a:round/>
                      <a:headEnd type="none" w="med" len="med"/>
                      <a:tailEnd type="none" w="med" len="med"/>
                    </a:lnT>
                    <a:lnB w="12700" cap="flat" cmpd="sng" algn="ctr">
                      <a:solidFill>
                        <a:srgbClr val="DCDEE9"/>
                      </a:solidFill>
                      <a:prstDash val="solid"/>
                      <a:round/>
                      <a:headEnd type="none" w="med" len="med"/>
                      <a:tailEnd type="none" w="med" len="med"/>
                    </a:lnB>
                  </a:tcPr>
                </a:tc>
                <a:tc>
                  <a:txBody>
                    <a:bodyPr/>
                    <a:lstStyle/>
                    <a:p>
                      <a:pPr indent="0" marL="0">
                        <a:buNone/>
                      </a:pPr>
                      <a:r>
                        <a:rPr lang="en-US" sz="1400" dirty="0">
                          <a:solidFill>
                            <a:srgbClr val="1F2330"/>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91440" marR="91440" marT="45720" marB="45720">
                    <a:lnL w="12700" cap="flat" cmpd="sng" algn="ctr">
                      <a:solidFill>
                        <a:srgbClr val="DCDEE9"/>
                      </a:solidFill>
                      <a:prstDash val="solid"/>
                      <a:round/>
                      <a:headEnd type="none" w="med" len="med"/>
                      <a:tailEnd type="none" w="med" len="med"/>
                    </a:lnL>
                    <a:lnR w="12700" cap="flat" cmpd="sng" algn="ctr">
                      <a:solidFill>
                        <a:srgbClr val="DCDEE9"/>
                      </a:solidFill>
                      <a:prstDash val="solid"/>
                      <a:round/>
                      <a:headEnd type="none" w="med" len="med"/>
                      <a:tailEnd type="none" w="med" len="med"/>
                    </a:lnR>
                    <a:lnT w="12700" cap="flat" cmpd="sng" algn="ctr">
                      <a:solidFill>
                        <a:srgbClr val="DCDEE9"/>
                      </a:solidFill>
                      <a:prstDash val="solid"/>
                      <a:round/>
                      <a:headEnd type="none" w="med" len="med"/>
                      <a:tailEnd type="none" w="med" len="med"/>
                    </a:lnT>
                    <a:lnB w="12700" cap="flat" cmpd="sng" algn="ctr">
                      <a:solidFill>
                        <a:srgbClr val="DCDEE9"/>
                      </a:solidFill>
                      <a:prstDash val="solid"/>
                      <a:round/>
                      <a:headEnd type="none" w="med" len="med"/>
                      <a:tailEnd type="none" w="med" len="med"/>
                    </a:lnB>
                  </a:tcPr>
                </a:tc>
                <a:tc>
                  <a:txBody>
                    <a:bodyPr/>
                    <a:lstStyle/>
                    <a:p>
                      <a:pPr indent="0" marL="0">
                        <a:buNone/>
                      </a:pPr>
                      <a:r>
                        <a:rPr lang="en-US" sz="1400" dirty="0">
                          <a:solidFill>
                            <a:srgbClr val="1F2330"/>
                          </a:solidFill>
                          <a:latin typeface="Calibri" pitchFamily="34" charset="0"/>
                          <a:ea typeface="Calibri" pitchFamily="34" charset="-122"/>
                          <a:cs typeface="Calibri" pitchFamily="34" charset="-120"/>
                        </a:rPr>
                        <a:t>[n%]</a:t>
                      </a:r>
                      <a:endParaRPr lang="en-US" sz="1400" dirty="0">
                        <a:latin typeface="Calibri" charset="0"/>
                        <a:ea typeface="Calibri" charset="0"/>
                        <a:cs typeface="Calibri" charset="0"/>
                      </a:endParaRPr>
                    </a:p>
                  </a:txBody>
                  <a:tcPr marL="91440" marR="91440" marT="45720" marB="45720">
                    <a:lnL w="12700" cap="flat" cmpd="sng" algn="ctr">
                      <a:solidFill>
                        <a:srgbClr val="DCDEE9"/>
                      </a:solidFill>
                      <a:prstDash val="solid"/>
                      <a:round/>
                      <a:headEnd type="none" w="med" len="med"/>
                      <a:tailEnd type="none" w="med" len="med"/>
                    </a:lnL>
                    <a:lnR w="12700" cap="flat" cmpd="sng" algn="ctr">
                      <a:solidFill>
                        <a:srgbClr val="DCDEE9"/>
                      </a:solidFill>
                      <a:prstDash val="solid"/>
                      <a:round/>
                      <a:headEnd type="none" w="med" len="med"/>
                      <a:tailEnd type="none" w="med" len="med"/>
                    </a:lnR>
                    <a:lnT w="12700" cap="flat" cmpd="sng" algn="ctr">
                      <a:solidFill>
                        <a:srgbClr val="DCDEE9"/>
                      </a:solidFill>
                      <a:prstDash val="solid"/>
                      <a:round/>
                      <a:headEnd type="none" w="med" len="med"/>
                      <a:tailEnd type="none" w="med" len="med"/>
                    </a:lnT>
                    <a:lnB w="12700" cap="flat" cmpd="sng" algn="ctr">
                      <a:solidFill>
                        <a:srgbClr val="DCDEE9"/>
                      </a:solidFill>
                      <a:prstDash val="solid"/>
                      <a:round/>
                      <a:headEnd type="none" w="med" len="med"/>
                      <a:tailEnd type="none" w="med" len="med"/>
                    </a:lnB>
                  </a:tcPr>
                </a:tc>
                <a:tc>
                  <a:txBody>
                    <a:bodyPr/>
                    <a:lstStyle/>
                    <a:p>
                      <a:pPr indent="0" marL="0">
                        <a:buNone/>
                      </a:pPr>
                      <a:r>
                        <a:rPr lang="en-US" sz="1400" dirty="0">
                          <a:solidFill>
                            <a:srgbClr val="1F2330"/>
                          </a:solidFill>
                          <a:latin typeface="Calibri" pitchFamily="34" charset="0"/>
                          <a:ea typeface="Calibri" pitchFamily="34" charset="-122"/>
                          <a:cs typeface="Calibri" pitchFamily="34" charset="-120"/>
                        </a:rPr>
                        <a:t>[n%]</a:t>
                      </a:r>
                      <a:endParaRPr lang="en-US" sz="1400" dirty="0">
                        <a:latin typeface="Calibri" charset="0"/>
                        <a:ea typeface="Calibri" charset="0"/>
                        <a:cs typeface="Calibri" charset="0"/>
                      </a:endParaRPr>
                    </a:p>
                  </a:txBody>
                  <a:tcPr marL="91440" marR="91440" marT="45720" marB="45720">
                    <a:lnL w="12700" cap="flat" cmpd="sng" algn="ctr">
                      <a:solidFill>
                        <a:srgbClr val="DCDEE9"/>
                      </a:solidFill>
                      <a:prstDash val="solid"/>
                      <a:round/>
                      <a:headEnd type="none" w="med" len="med"/>
                      <a:tailEnd type="none" w="med" len="med"/>
                    </a:lnL>
                    <a:lnR w="12700" cap="flat" cmpd="sng" algn="ctr">
                      <a:solidFill>
                        <a:srgbClr val="DCDEE9"/>
                      </a:solidFill>
                      <a:prstDash val="solid"/>
                      <a:round/>
                      <a:headEnd type="none" w="med" len="med"/>
                      <a:tailEnd type="none" w="med" len="med"/>
                    </a:lnR>
                    <a:lnT w="12700" cap="flat" cmpd="sng" algn="ctr">
                      <a:solidFill>
                        <a:srgbClr val="DCDEE9"/>
                      </a:solidFill>
                      <a:prstDash val="solid"/>
                      <a:round/>
                      <a:headEnd type="none" w="med" len="med"/>
                      <a:tailEnd type="none" w="med" len="med"/>
                    </a:lnT>
                    <a:lnB w="12700" cap="flat" cmpd="sng" algn="ctr">
                      <a:solidFill>
                        <a:srgbClr val="DCDEE9"/>
                      </a:solidFill>
                      <a:prstDash val="solid"/>
                      <a:round/>
                      <a:headEnd type="none" w="med" len="med"/>
                      <a:tailEnd type="none" w="med" len="med"/>
                    </a:lnB>
                  </a:tcPr>
                </a:tc>
              </a:tr>
            </a:tbl>
          </a:graphicData>
        </a:graphic>
      </p:graphicFrame>
      <p:sp>
        <p:nvSpPr>
          <p:cNvPr id="8" name="Text 5"/>
          <p:cNvSpPr/>
          <p:nvPr/>
        </p:nvSpPr>
        <p:spPr>
          <a:xfrm>
            <a:off x="457200" y="3291840"/>
            <a:ext cx="8229600" cy="1371600"/>
          </a:xfrm>
          <a:prstGeom prst="rect">
            <a:avLst/>
          </a:prstGeom>
          <a:noFill/>
          <a:ln/>
        </p:spPr>
        <p:txBody>
          <a:bodyPr wrap="square" rtlCol="0" anchor="t"/>
          <a:lstStyle/>
          <a:p>
            <a:pPr marL="342900" indent="-342900">
              <a:spcAft>
                <a:spcPts val="600"/>
              </a:spcAft>
              <a:buSzPct val="100000"/>
              <a:buChar char="•"/>
            </a:pPr>
            <a:r>
              <a:rPr lang="en-US" sz="1300" dirty="0">
                <a:solidFill>
                  <a:srgbClr val="1F2330"/>
                </a:solidFill>
                <a:latin typeface="Calibri" pitchFamily="34" charset="0"/>
                <a:ea typeface="Calibri" pitchFamily="34" charset="-122"/>
                <a:cs typeface="Calibri" pitchFamily="34" charset="-120"/>
              </a:rPr>
              <a:t>Current ELs are, by definition, students still learning the language of the test. The gap for them is expected; the trend matters.</a:t>
            </a:r>
            <a:endParaRPr lang="en-US" sz="1300" dirty="0"/>
          </a:p>
          <a:p>
            <a:pPr marL="342900" indent="-342900">
              <a:spcAft>
                <a:spcPts val="600"/>
              </a:spcAft>
              <a:buSzPct val="100000"/>
              <a:buChar char="•"/>
            </a:pPr>
            <a:r>
              <a:rPr lang="en-US" sz="1300" dirty="0">
                <a:solidFill>
                  <a:srgbClr val="1F2330"/>
                </a:solidFill>
                <a:latin typeface="Calibri" pitchFamily="34" charset="0"/>
                <a:ea typeface="Calibri" pitchFamily="34" charset="-122"/>
                <a:cs typeface="Calibri" pitchFamily="34" charset="-120"/>
              </a:rPr>
              <a:t>Former ELs are the program’s report card. When they match or beat the district average, the program works.</a:t>
            </a:r>
            <a:endParaRPr lang="en-US" sz="1300" dirty="0"/>
          </a:p>
          <a:p>
            <a:pPr marL="342900" indent="-342900">
              <a:spcAft>
                <a:spcPts val="600"/>
              </a:spcAft>
              <a:buSzPct val="100000"/>
              <a:buChar char="•"/>
            </a:pPr>
            <a:r>
              <a:rPr lang="en-US" sz="1300" dirty="0">
                <a:solidFill>
                  <a:srgbClr val="1F2330"/>
                </a:solidFill>
                <a:latin typeface="Calibri" pitchFamily="34" charset="0"/>
                <a:ea typeface="Calibri" pitchFamily="34" charset="-122"/>
                <a:cs typeface="Calibri" pitchFamily="34" charset="-120"/>
              </a:rPr>
              <a:t>[One sentence on what the numbers say about us.]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9A227"/>
          </a:solidFill>
          <a:ln w="12700">
            <a:solidFill>
              <a:srgbClr val="C9A227"/>
            </a:solidFill>
            <a:prstDash val="solid"/>
          </a:ln>
        </p:spPr>
      </p:sp>
      <p:sp>
        <p:nvSpPr>
          <p:cNvPr id="3" name="Text 1"/>
          <p:cNvSpPr/>
          <p:nvPr/>
        </p:nvSpPr>
        <p:spPr>
          <a:xfrm>
            <a:off x="365760" y="4754880"/>
            <a:ext cx="6400800" cy="274320"/>
          </a:xfrm>
          <a:prstGeom prst="rect">
            <a:avLst/>
          </a:prstGeom>
          <a:noFill/>
          <a:ln/>
        </p:spPr>
        <p:txBody>
          <a:bodyPr wrap="square" rtlCol="0" anchor="ctr"/>
          <a:lstStyle/>
          <a:p>
            <a:pPr indent="0" marL="0">
              <a:buNone/>
            </a:pPr>
            <a:r>
              <a:rPr lang="en-US" sz="900" dirty="0">
                <a:solidFill>
                  <a:srgbClr val="5D6480"/>
                </a:solidFill>
                <a:latin typeface="Calibri" pitchFamily="34" charset="0"/>
                <a:ea typeface="Calibri" pitchFamily="34" charset="-122"/>
                <a:cs typeface="Calibri" pitchFamily="34" charset="-120"/>
              </a:rPr>
              <a:t>[DISTRICT NAME] · State of English Learners · [MONTH YEAR]</a:t>
            </a:r>
            <a:endParaRPr lang="en-US" sz="900" dirty="0"/>
          </a:p>
        </p:txBody>
      </p:sp>
      <p:sp>
        <p:nvSpPr>
          <p:cNvPr id="4" name="Text 2"/>
          <p:cNvSpPr/>
          <p:nvPr/>
        </p:nvSpPr>
        <p:spPr>
          <a:xfrm>
            <a:off x="5669280" y="4754880"/>
            <a:ext cx="3200400" cy="274320"/>
          </a:xfrm>
          <a:prstGeom prst="rect">
            <a:avLst/>
          </a:prstGeom>
          <a:noFill/>
          <a:ln/>
        </p:spPr>
        <p:txBody>
          <a:bodyPr wrap="square" rtlCol="0" anchor="ctr"/>
          <a:lstStyle/>
          <a:p>
            <a:pPr algn="r" indent="0" marL="0">
              <a:buNone/>
            </a:pPr>
            <a:r>
              <a:rPr lang="en-US" sz="900" dirty="0">
                <a:solidFill>
                  <a:srgbClr val="5D6480"/>
                </a:solidFill>
                <a:latin typeface="Calibri" pitchFamily="34" charset="0"/>
                <a:ea typeface="Calibri" pitchFamily="34" charset="-122"/>
                <a:cs typeface="Calibri" pitchFamily="34" charset="-120"/>
              </a:rPr>
              <a:t>Template: EL Publishing · radan55.github.io/everyteacher</a:t>
            </a:r>
            <a:endParaRPr lang="en-US" sz="900" dirty="0"/>
          </a:p>
        </p:txBody>
      </p:sp>
      <p:sp>
        <p:nvSpPr>
          <p:cNvPr id="5" name="Text 3"/>
          <p:cNvSpPr/>
          <p:nvPr/>
        </p:nvSpPr>
        <p:spPr>
          <a:xfrm>
            <a:off x="457200" y="320040"/>
            <a:ext cx="8229600" cy="73152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Are we compliant?</a:t>
            </a:r>
            <a:endParaRPr lang="en-US" sz="3000" dirty="0"/>
          </a:p>
        </p:txBody>
      </p:sp>
      <p:sp>
        <p:nvSpPr>
          <p:cNvPr id="6" name="Text 4"/>
          <p:cNvSpPr/>
          <p:nvPr/>
        </p:nvSpPr>
        <p:spPr>
          <a:xfrm>
            <a:off x="457200" y="1005840"/>
            <a:ext cx="8229600" cy="365760"/>
          </a:xfrm>
          <a:prstGeom prst="rect">
            <a:avLst/>
          </a:prstGeom>
          <a:noFill/>
          <a:ln/>
        </p:spPr>
        <p:txBody>
          <a:bodyPr wrap="square" rtlCol="0" anchor="ctr"/>
          <a:lstStyle/>
          <a:p>
            <a:pPr indent="0" marL="0">
              <a:buNone/>
            </a:pPr>
            <a:r>
              <a:rPr lang="en-US" sz="1400" dirty="0">
                <a:solidFill>
                  <a:srgbClr val="5D6480"/>
                </a:solidFill>
                <a:latin typeface="Calibri" pitchFamily="34" charset="0"/>
                <a:ea typeface="Calibri" pitchFamily="34" charset="-122"/>
                <a:cs typeface="Calibri" pitchFamily="34" charset="-120"/>
              </a:rPr>
              <a:t>Self-audit against Castañeda, Title VI, the EEOA, ESSA Title III, and the Mississippi accommodations manual</a:t>
            </a:r>
            <a:endParaRPr lang="en-US" sz="1400" dirty="0"/>
          </a:p>
        </p:txBody>
      </p:sp>
      <p:sp>
        <p:nvSpPr>
          <p:cNvPr id="7" name="Shape 5"/>
          <p:cNvSpPr/>
          <p:nvPr/>
        </p:nvSpPr>
        <p:spPr>
          <a:xfrm>
            <a:off x="457200" y="1554480"/>
            <a:ext cx="1920240" cy="1371600"/>
          </a:xfrm>
          <a:prstGeom prst="rect">
            <a:avLst/>
          </a:prstGeom>
          <a:solidFill>
            <a:srgbClr val="F4F5FA"/>
          </a:solidFill>
          <a:ln w="12700">
            <a:solidFill>
              <a:srgbClr val="DCDEE9"/>
            </a:solidFill>
            <a:prstDash val="solid"/>
          </a:ln>
        </p:spPr>
      </p:sp>
      <p:sp>
        <p:nvSpPr>
          <p:cNvPr id="8" name="Shape 6"/>
          <p:cNvSpPr/>
          <p:nvPr/>
        </p:nvSpPr>
        <p:spPr>
          <a:xfrm>
            <a:off x="457200" y="1554480"/>
            <a:ext cx="1920240" cy="73152"/>
          </a:xfrm>
          <a:prstGeom prst="rect">
            <a:avLst/>
          </a:prstGeom>
          <a:solidFill>
            <a:srgbClr val="C9A227"/>
          </a:solidFill>
          <a:ln w="12700">
            <a:solidFill>
              <a:srgbClr val="C9A227"/>
            </a:solidFill>
            <a:prstDash val="solid"/>
          </a:ln>
        </p:spPr>
      </p:sp>
      <p:sp>
        <p:nvSpPr>
          <p:cNvPr id="9" name="Text 7"/>
          <p:cNvSpPr/>
          <p:nvPr/>
        </p:nvSpPr>
        <p:spPr>
          <a:xfrm>
            <a:off x="548640" y="1691640"/>
            <a:ext cx="1737360" cy="640080"/>
          </a:xfrm>
          <a:prstGeom prst="rect">
            <a:avLst/>
          </a:prstGeom>
          <a:noFill/>
          <a:ln/>
        </p:spPr>
        <p:txBody>
          <a:bodyPr wrap="square" rtlCol="0" anchor="ctr">
            <a:normAutofit/>
          </a:bodyPr>
          <a:lstStyle/>
          <a:p>
            <a:pPr indent="0" marL="0">
              <a:buNone/>
            </a:pPr>
            <a:r>
              <a:rPr lang="en-US" sz="2200" b="1" dirty="0">
                <a:solidFill>
                  <a:srgbClr val="1E2761"/>
                </a:solidFill>
                <a:latin typeface="Georgia" pitchFamily="34" charset="0"/>
                <a:ea typeface="Georgia" pitchFamily="34" charset="-122"/>
                <a:cs typeface="Georgia" pitchFamily="34" charset="-120"/>
              </a:rPr>
              <a:t>[78%]</a:t>
            </a:r>
            <a:endParaRPr lang="en-US" sz="2200" dirty="0"/>
          </a:p>
        </p:txBody>
      </p:sp>
      <p:sp>
        <p:nvSpPr>
          <p:cNvPr id="10" name="Text 8"/>
          <p:cNvSpPr/>
          <p:nvPr/>
        </p:nvSpPr>
        <p:spPr>
          <a:xfrm>
            <a:off x="548640" y="2331720"/>
            <a:ext cx="1737360" cy="502920"/>
          </a:xfrm>
          <a:prstGeom prst="rect">
            <a:avLst/>
          </a:prstGeom>
          <a:noFill/>
          <a:ln/>
        </p:spPr>
        <p:txBody>
          <a:bodyPr wrap="square" rtlCol="0" anchor="ctr"/>
          <a:lstStyle/>
          <a:p>
            <a:pPr indent="0" marL="0">
              <a:buNone/>
            </a:pPr>
            <a:r>
              <a:rPr lang="en-US" sz="1100" dirty="0">
                <a:solidFill>
                  <a:srgbClr val="5D6480"/>
                </a:solidFill>
                <a:latin typeface="Calibri" pitchFamily="34" charset="0"/>
                <a:ea typeface="Calibri" pitchFamily="34" charset="-122"/>
                <a:cs typeface="Calibri" pitchFamily="34" charset="-120"/>
              </a:rPr>
              <a:t>self-audit score</a:t>
            </a:r>
            <a:endParaRPr lang="en-US" sz="1100" dirty="0"/>
          </a:p>
        </p:txBody>
      </p:sp>
      <p:sp>
        <p:nvSpPr>
          <p:cNvPr id="11" name="Shape 9"/>
          <p:cNvSpPr/>
          <p:nvPr/>
        </p:nvSpPr>
        <p:spPr>
          <a:xfrm>
            <a:off x="2560320" y="1554480"/>
            <a:ext cx="1920240" cy="1371600"/>
          </a:xfrm>
          <a:prstGeom prst="rect">
            <a:avLst/>
          </a:prstGeom>
          <a:solidFill>
            <a:srgbClr val="F4F5FA"/>
          </a:solidFill>
          <a:ln w="12700">
            <a:solidFill>
              <a:srgbClr val="DCDEE9"/>
            </a:solidFill>
            <a:prstDash val="solid"/>
          </a:ln>
        </p:spPr>
      </p:sp>
      <p:sp>
        <p:nvSpPr>
          <p:cNvPr id="12" name="Shape 10"/>
          <p:cNvSpPr/>
          <p:nvPr/>
        </p:nvSpPr>
        <p:spPr>
          <a:xfrm>
            <a:off x="2560320" y="1554480"/>
            <a:ext cx="1920240" cy="73152"/>
          </a:xfrm>
          <a:prstGeom prst="rect">
            <a:avLst/>
          </a:prstGeom>
          <a:solidFill>
            <a:srgbClr val="C9A227"/>
          </a:solidFill>
          <a:ln w="12700">
            <a:solidFill>
              <a:srgbClr val="C9A227"/>
            </a:solidFill>
            <a:prstDash val="solid"/>
          </a:ln>
        </p:spPr>
      </p:sp>
      <p:sp>
        <p:nvSpPr>
          <p:cNvPr id="13" name="Text 11"/>
          <p:cNvSpPr/>
          <p:nvPr/>
        </p:nvSpPr>
        <p:spPr>
          <a:xfrm>
            <a:off x="2651760" y="1691640"/>
            <a:ext cx="1737360" cy="640080"/>
          </a:xfrm>
          <a:prstGeom prst="rect">
            <a:avLst/>
          </a:prstGeom>
          <a:noFill/>
          <a:ln/>
        </p:spPr>
        <p:txBody>
          <a:bodyPr wrap="square" rtlCol="0" anchor="ctr">
            <a:normAutofit/>
          </a:bodyPr>
          <a:lstStyle/>
          <a:p>
            <a:pPr indent="0" marL="0">
              <a:buNone/>
            </a:pPr>
            <a:r>
              <a:rPr lang="en-US" sz="2200" b="1" dirty="0">
                <a:solidFill>
                  <a:srgbClr val="1E2761"/>
                </a:solidFill>
                <a:latin typeface="Georgia" pitchFamily="34" charset="0"/>
                <a:ea typeface="Georgia" pitchFamily="34" charset="-122"/>
                <a:cs typeface="Georgia" pitchFamily="34" charset="-120"/>
              </a:rPr>
              <a:t>[1]</a:t>
            </a:r>
            <a:endParaRPr lang="en-US" sz="2200" dirty="0"/>
          </a:p>
        </p:txBody>
      </p:sp>
      <p:sp>
        <p:nvSpPr>
          <p:cNvPr id="14" name="Text 12"/>
          <p:cNvSpPr/>
          <p:nvPr/>
        </p:nvSpPr>
        <p:spPr>
          <a:xfrm>
            <a:off x="2651760" y="2331720"/>
            <a:ext cx="1737360" cy="502920"/>
          </a:xfrm>
          <a:prstGeom prst="rect">
            <a:avLst/>
          </a:prstGeom>
          <a:noFill/>
          <a:ln/>
        </p:spPr>
        <p:txBody>
          <a:bodyPr wrap="square" rtlCol="0" anchor="ctr"/>
          <a:lstStyle/>
          <a:p>
            <a:pPr indent="0" marL="0">
              <a:buNone/>
            </a:pPr>
            <a:r>
              <a:rPr lang="en-US" sz="1100" dirty="0">
                <a:solidFill>
                  <a:srgbClr val="5D6480"/>
                </a:solidFill>
                <a:latin typeface="Calibri" pitchFamily="34" charset="0"/>
                <a:ea typeface="Calibri" pitchFamily="34" charset="-122"/>
                <a:cs typeface="Calibri" pitchFamily="34" charset="-120"/>
              </a:rPr>
              <a:t>legal gaps open</a:t>
            </a:r>
            <a:endParaRPr lang="en-US" sz="1100" dirty="0"/>
          </a:p>
        </p:txBody>
      </p:sp>
      <p:sp>
        <p:nvSpPr>
          <p:cNvPr id="15" name="Shape 13"/>
          <p:cNvSpPr/>
          <p:nvPr/>
        </p:nvSpPr>
        <p:spPr>
          <a:xfrm>
            <a:off x="4663440" y="1554480"/>
            <a:ext cx="1920240" cy="1371600"/>
          </a:xfrm>
          <a:prstGeom prst="rect">
            <a:avLst/>
          </a:prstGeom>
          <a:solidFill>
            <a:srgbClr val="F4F5FA"/>
          </a:solidFill>
          <a:ln w="12700">
            <a:solidFill>
              <a:srgbClr val="DCDEE9"/>
            </a:solidFill>
            <a:prstDash val="solid"/>
          </a:ln>
        </p:spPr>
      </p:sp>
      <p:sp>
        <p:nvSpPr>
          <p:cNvPr id="16" name="Shape 14"/>
          <p:cNvSpPr/>
          <p:nvPr/>
        </p:nvSpPr>
        <p:spPr>
          <a:xfrm>
            <a:off x="4663440" y="1554480"/>
            <a:ext cx="1920240" cy="73152"/>
          </a:xfrm>
          <a:prstGeom prst="rect">
            <a:avLst/>
          </a:prstGeom>
          <a:solidFill>
            <a:srgbClr val="C9A227"/>
          </a:solidFill>
          <a:ln w="12700">
            <a:solidFill>
              <a:srgbClr val="C9A227"/>
            </a:solidFill>
            <a:prstDash val="solid"/>
          </a:ln>
        </p:spPr>
      </p:sp>
      <p:sp>
        <p:nvSpPr>
          <p:cNvPr id="17" name="Text 15"/>
          <p:cNvSpPr/>
          <p:nvPr/>
        </p:nvSpPr>
        <p:spPr>
          <a:xfrm>
            <a:off x="4754880" y="1691640"/>
            <a:ext cx="1737360" cy="640080"/>
          </a:xfrm>
          <a:prstGeom prst="rect">
            <a:avLst/>
          </a:prstGeom>
          <a:noFill/>
          <a:ln/>
        </p:spPr>
        <p:txBody>
          <a:bodyPr wrap="square" rtlCol="0" anchor="ctr">
            <a:normAutofit/>
          </a:bodyPr>
          <a:lstStyle/>
          <a:p>
            <a:pPr indent="0" marL="0">
              <a:buNone/>
            </a:pPr>
            <a:r>
              <a:rPr lang="en-US" sz="2200" b="1" dirty="0">
                <a:solidFill>
                  <a:srgbClr val="1E2761"/>
                </a:solidFill>
                <a:latin typeface="Georgia" pitchFamily="34" charset="0"/>
                <a:ea typeface="Georgia" pitchFamily="34" charset="-122"/>
                <a:cs typeface="Georgia" pitchFamily="34" charset="-120"/>
              </a:rPr>
              <a:t>[9]</a:t>
            </a:r>
            <a:endParaRPr lang="en-US" sz="2200" dirty="0"/>
          </a:p>
        </p:txBody>
      </p:sp>
      <p:sp>
        <p:nvSpPr>
          <p:cNvPr id="18" name="Text 16"/>
          <p:cNvSpPr/>
          <p:nvPr/>
        </p:nvSpPr>
        <p:spPr>
          <a:xfrm>
            <a:off x="4754880" y="2331720"/>
            <a:ext cx="1737360" cy="502920"/>
          </a:xfrm>
          <a:prstGeom prst="rect">
            <a:avLst/>
          </a:prstGeom>
          <a:noFill/>
          <a:ln/>
        </p:spPr>
        <p:txBody>
          <a:bodyPr wrap="square" rtlCol="0" anchor="ctr"/>
          <a:lstStyle/>
          <a:p>
            <a:pPr indent="0" marL="0">
              <a:buNone/>
            </a:pPr>
            <a:r>
              <a:rPr lang="en-US" sz="1100" dirty="0">
                <a:solidFill>
                  <a:srgbClr val="5D6480"/>
                </a:solidFill>
                <a:latin typeface="Calibri" pitchFamily="34" charset="0"/>
                <a:ea typeface="Calibri" pitchFamily="34" charset="-122"/>
                <a:cs typeface="Calibri" pitchFamily="34" charset="-120"/>
              </a:rPr>
              <a:t>items partially in place</a:t>
            </a:r>
            <a:endParaRPr lang="en-US" sz="1100" dirty="0"/>
          </a:p>
        </p:txBody>
      </p:sp>
      <p:sp>
        <p:nvSpPr>
          <p:cNvPr id="19" name="Shape 17"/>
          <p:cNvSpPr/>
          <p:nvPr/>
        </p:nvSpPr>
        <p:spPr>
          <a:xfrm>
            <a:off x="6766560" y="1554480"/>
            <a:ext cx="1920240" cy="1371600"/>
          </a:xfrm>
          <a:prstGeom prst="rect">
            <a:avLst/>
          </a:prstGeom>
          <a:solidFill>
            <a:srgbClr val="F4F5FA"/>
          </a:solidFill>
          <a:ln w="12700">
            <a:solidFill>
              <a:srgbClr val="DCDEE9"/>
            </a:solidFill>
            <a:prstDash val="solid"/>
          </a:ln>
        </p:spPr>
      </p:sp>
      <p:sp>
        <p:nvSpPr>
          <p:cNvPr id="20" name="Shape 18"/>
          <p:cNvSpPr/>
          <p:nvPr/>
        </p:nvSpPr>
        <p:spPr>
          <a:xfrm>
            <a:off x="6766560" y="1554480"/>
            <a:ext cx="1920240" cy="73152"/>
          </a:xfrm>
          <a:prstGeom prst="rect">
            <a:avLst/>
          </a:prstGeom>
          <a:solidFill>
            <a:srgbClr val="C9A227"/>
          </a:solidFill>
          <a:ln w="12700">
            <a:solidFill>
              <a:srgbClr val="C9A227"/>
            </a:solidFill>
            <a:prstDash val="solid"/>
          </a:ln>
        </p:spPr>
      </p:sp>
      <p:sp>
        <p:nvSpPr>
          <p:cNvPr id="21" name="Text 19"/>
          <p:cNvSpPr/>
          <p:nvPr/>
        </p:nvSpPr>
        <p:spPr>
          <a:xfrm>
            <a:off x="6858000" y="1691640"/>
            <a:ext cx="1737360" cy="640080"/>
          </a:xfrm>
          <a:prstGeom prst="rect">
            <a:avLst/>
          </a:prstGeom>
          <a:noFill/>
          <a:ln/>
        </p:spPr>
        <p:txBody>
          <a:bodyPr wrap="square" rtlCol="0" anchor="ctr">
            <a:normAutofit/>
          </a:bodyPr>
          <a:lstStyle/>
          <a:p>
            <a:pPr indent="0" marL="0">
              <a:buNone/>
            </a:pPr>
            <a:r>
              <a:rPr lang="en-US" sz="2200" b="1" dirty="0">
                <a:solidFill>
                  <a:srgbClr val="1E2761"/>
                </a:solidFill>
                <a:latin typeface="Georgia" pitchFamily="34" charset="0"/>
                <a:ea typeface="Georgia" pitchFamily="34" charset="-122"/>
                <a:cs typeface="Georgia" pitchFamily="34" charset="-120"/>
              </a:rPr>
              <a:t>[10]</a:t>
            </a:r>
            <a:endParaRPr lang="en-US" sz="2200" dirty="0"/>
          </a:p>
        </p:txBody>
      </p:sp>
      <p:sp>
        <p:nvSpPr>
          <p:cNvPr id="22" name="Text 20"/>
          <p:cNvSpPr/>
          <p:nvPr/>
        </p:nvSpPr>
        <p:spPr>
          <a:xfrm>
            <a:off x="6858000" y="2331720"/>
            <a:ext cx="1737360" cy="502920"/>
          </a:xfrm>
          <a:prstGeom prst="rect">
            <a:avLst/>
          </a:prstGeom>
          <a:noFill/>
          <a:ln/>
        </p:spPr>
        <p:txBody>
          <a:bodyPr wrap="square" rtlCol="0" anchor="ctr"/>
          <a:lstStyle/>
          <a:p>
            <a:pPr indent="0" marL="0">
              <a:buNone/>
            </a:pPr>
            <a:r>
              <a:rPr lang="en-US" sz="1100" dirty="0">
                <a:solidFill>
                  <a:srgbClr val="5D6480"/>
                </a:solidFill>
                <a:latin typeface="Calibri" pitchFamily="34" charset="0"/>
                <a:ea typeface="Calibri" pitchFamily="34" charset="-122"/>
                <a:cs typeface="Calibri" pitchFamily="34" charset="-120"/>
              </a:rPr>
              <a:t>corrective actions with owners and dates</a:t>
            </a:r>
            <a:endParaRPr lang="en-US" sz="1100" dirty="0"/>
          </a:p>
        </p:txBody>
      </p:sp>
      <p:sp>
        <p:nvSpPr>
          <p:cNvPr id="23" name="Text 21"/>
          <p:cNvSpPr/>
          <p:nvPr/>
        </p:nvSpPr>
        <p:spPr>
          <a:xfrm>
            <a:off x="457200" y="3108960"/>
            <a:ext cx="8229600" cy="1554480"/>
          </a:xfrm>
          <a:prstGeom prst="rect">
            <a:avLst/>
          </a:prstGeom>
          <a:noFill/>
          <a:ln/>
        </p:spPr>
        <p:txBody>
          <a:bodyPr wrap="square" rtlCol="0" anchor="t"/>
          <a:lstStyle/>
          <a:p>
            <a:pPr marL="342900" indent="-342900">
              <a:spcAft>
                <a:spcPts val="600"/>
              </a:spcAft>
              <a:buSzPct val="100000"/>
              <a:buChar char="•"/>
            </a:pPr>
            <a:r>
              <a:rPr lang="en-US" sz="1300" dirty="0">
                <a:solidFill>
                  <a:srgbClr val="1F2330"/>
                </a:solidFill>
                <a:latin typeface="Calibri" pitchFamily="34" charset="0"/>
                <a:ea typeface="Calibri" pitchFamily="34" charset="-122"/>
                <a:cs typeface="Calibri" pitchFamily="34" charset="-120"/>
              </a:rPr>
              <a:t>Strongest areas: [Exit and monitoring · Identification]</a:t>
            </a:r>
            <a:endParaRPr lang="en-US" sz="1300" dirty="0"/>
          </a:p>
          <a:p>
            <a:pPr marL="342900" indent="-342900">
              <a:spcAft>
                <a:spcPts val="600"/>
              </a:spcAft>
              <a:buSzPct val="100000"/>
              <a:buChar char="•"/>
            </a:pPr>
            <a:r>
              <a:rPr lang="en-US" sz="1300" dirty="0">
                <a:solidFill>
                  <a:srgbClr val="1F2330"/>
                </a:solidFill>
                <a:latin typeface="Calibri" pitchFamily="34" charset="0"/>
                <a:ea typeface="Calibri" pitchFamily="34" charset="-122"/>
                <a:cs typeface="Calibri" pitchFamily="34" charset="-120"/>
              </a:rPr>
              <a:t>Open legal gap: [item] · owner [name] · due [date]</a:t>
            </a:r>
            <a:endParaRPr lang="en-US" sz="1300" dirty="0"/>
          </a:p>
          <a:p>
            <a:pPr marL="342900" indent="-342900">
              <a:spcAft>
                <a:spcPts val="600"/>
              </a:spcAft>
              <a:buSzPct val="100000"/>
              <a:buChar char="•"/>
            </a:pPr>
            <a:r>
              <a:rPr lang="en-US" sz="1300" dirty="0">
                <a:solidFill>
                  <a:srgbClr val="1F2330"/>
                </a:solidFill>
                <a:latin typeface="Calibri" pitchFamily="34" charset="0"/>
                <a:ea typeface="Calibri" pitchFamily="34" charset="-122"/>
                <a:cs typeface="Calibri" pitchFamily="34" charset="-120"/>
              </a:rPr>
              <a:t>What we are fixing this quarter: [three actions]</a:t>
            </a:r>
            <a:endParaRPr lang="en-US" sz="1300" dirty="0"/>
          </a:p>
          <a:p>
            <a:pPr marL="342900" indent="-342900">
              <a:spcAft>
                <a:spcPts val="600"/>
              </a:spcAft>
              <a:buSzPct val="100000"/>
              <a:buChar char="•"/>
            </a:pPr>
            <a:r>
              <a:rPr lang="en-US" sz="1300" dirty="0">
                <a:solidFill>
                  <a:srgbClr val="1F2330"/>
                </a:solidFill>
                <a:latin typeface="Calibri" pitchFamily="34" charset="0"/>
                <a:ea typeface="Calibri" pitchFamily="34" charset="-122"/>
                <a:cs typeface="Calibri" pitchFamily="34" charset="-120"/>
              </a:rPr>
              <a:t>Our obligations under Title VI and the EEOA do not depend on federal funding and have not changed.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9A227"/>
          </a:solidFill>
          <a:ln w="12700">
            <a:solidFill>
              <a:srgbClr val="C9A227"/>
            </a:solidFill>
            <a:prstDash val="solid"/>
          </a:ln>
        </p:spPr>
      </p:sp>
      <p:sp>
        <p:nvSpPr>
          <p:cNvPr id="3" name="Text 1"/>
          <p:cNvSpPr/>
          <p:nvPr/>
        </p:nvSpPr>
        <p:spPr>
          <a:xfrm>
            <a:off x="365760" y="4754880"/>
            <a:ext cx="6400800" cy="274320"/>
          </a:xfrm>
          <a:prstGeom prst="rect">
            <a:avLst/>
          </a:prstGeom>
          <a:noFill/>
          <a:ln/>
        </p:spPr>
        <p:txBody>
          <a:bodyPr wrap="square" rtlCol="0" anchor="ctr"/>
          <a:lstStyle/>
          <a:p>
            <a:pPr indent="0" marL="0">
              <a:buNone/>
            </a:pPr>
            <a:r>
              <a:rPr lang="en-US" sz="900" dirty="0">
                <a:solidFill>
                  <a:srgbClr val="5D6480"/>
                </a:solidFill>
                <a:latin typeface="Calibri" pitchFamily="34" charset="0"/>
                <a:ea typeface="Calibri" pitchFamily="34" charset="-122"/>
                <a:cs typeface="Calibri" pitchFamily="34" charset="-120"/>
              </a:rPr>
              <a:t>[DISTRICT NAME] · State of English Learners · [MONTH YEAR]</a:t>
            </a:r>
            <a:endParaRPr lang="en-US" sz="900" dirty="0"/>
          </a:p>
        </p:txBody>
      </p:sp>
      <p:sp>
        <p:nvSpPr>
          <p:cNvPr id="4" name="Text 2"/>
          <p:cNvSpPr/>
          <p:nvPr/>
        </p:nvSpPr>
        <p:spPr>
          <a:xfrm>
            <a:off x="5669280" y="4754880"/>
            <a:ext cx="3200400" cy="274320"/>
          </a:xfrm>
          <a:prstGeom prst="rect">
            <a:avLst/>
          </a:prstGeom>
          <a:noFill/>
          <a:ln/>
        </p:spPr>
        <p:txBody>
          <a:bodyPr wrap="square" rtlCol="0" anchor="ctr"/>
          <a:lstStyle/>
          <a:p>
            <a:pPr algn="r" indent="0" marL="0">
              <a:buNone/>
            </a:pPr>
            <a:r>
              <a:rPr lang="en-US" sz="900" dirty="0">
                <a:solidFill>
                  <a:srgbClr val="5D6480"/>
                </a:solidFill>
                <a:latin typeface="Calibri" pitchFamily="34" charset="0"/>
                <a:ea typeface="Calibri" pitchFamily="34" charset="-122"/>
                <a:cs typeface="Calibri" pitchFamily="34" charset="-120"/>
              </a:rPr>
              <a:t>Template: EL Publishing · radan55.github.io/everyteacher</a:t>
            </a:r>
            <a:endParaRPr lang="en-US" sz="900" dirty="0"/>
          </a:p>
        </p:txBody>
      </p:sp>
      <p:sp>
        <p:nvSpPr>
          <p:cNvPr id="5" name="Text 3"/>
          <p:cNvSpPr/>
          <p:nvPr/>
        </p:nvSpPr>
        <p:spPr>
          <a:xfrm>
            <a:off x="457200" y="320040"/>
            <a:ext cx="8229600" cy="73152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What it costs, and who pays</a:t>
            </a:r>
            <a:endParaRPr lang="en-US" sz="3000" dirty="0"/>
          </a:p>
        </p:txBody>
      </p:sp>
      <p:sp>
        <p:nvSpPr>
          <p:cNvPr id="6" name="Text 4"/>
          <p:cNvSpPr/>
          <p:nvPr/>
        </p:nvSpPr>
        <p:spPr>
          <a:xfrm>
            <a:off x="457200" y="1005840"/>
            <a:ext cx="8229600" cy="365760"/>
          </a:xfrm>
          <a:prstGeom prst="rect">
            <a:avLst/>
          </a:prstGeom>
          <a:noFill/>
          <a:ln/>
        </p:spPr>
        <p:txBody>
          <a:bodyPr wrap="square" rtlCol="0" anchor="ctr"/>
          <a:lstStyle/>
          <a:p>
            <a:pPr indent="0" marL="0">
              <a:buNone/>
            </a:pPr>
            <a:r>
              <a:rPr lang="en-US" sz="1400" dirty="0">
                <a:solidFill>
                  <a:srgbClr val="5D6480"/>
                </a:solidFill>
                <a:latin typeface="Calibri" pitchFamily="34" charset="0"/>
                <a:ea typeface="Calibri" pitchFamily="34" charset="-122"/>
                <a:cs typeface="Calibri" pitchFamily="34" charset="-120"/>
              </a:rPr>
              <a:t>EL program spending by source, and the federal risk</a:t>
            </a:r>
            <a:endParaRPr lang="en-US" sz="1400" dirty="0"/>
          </a:p>
        </p:txBody>
      </p:sp>
      <p:sp>
        <p:nvSpPr>
          <p:cNvPr id="7" name="Shape 5"/>
          <p:cNvSpPr/>
          <p:nvPr/>
        </p:nvSpPr>
        <p:spPr>
          <a:xfrm>
            <a:off x="457200" y="1554480"/>
            <a:ext cx="1920240" cy="1371600"/>
          </a:xfrm>
          <a:prstGeom prst="rect">
            <a:avLst/>
          </a:prstGeom>
          <a:solidFill>
            <a:srgbClr val="F4F5FA"/>
          </a:solidFill>
          <a:ln w="12700">
            <a:solidFill>
              <a:srgbClr val="DCDEE9"/>
            </a:solidFill>
            <a:prstDash val="solid"/>
          </a:ln>
        </p:spPr>
      </p:sp>
      <p:sp>
        <p:nvSpPr>
          <p:cNvPr id="8" name="Shape 6"/>
          <p:cNvSpPr/>
          <p:nvPr/>
        </p:nvSpPr>
        <p:spPr>
          <a:xfrm>
            <a:off x="457200" y="1554480"/>
            <a:ext cx="1920240" cy="73152"/>
          </a:xfrm>
          <a:prstGeom prst="rect">
            <a:avLst/>
          </a:prstGeom>
          <a:solidFill>
            <a:srgbClr val="C9A227"/>
          </a:solidFill>
          <a:ln w="12700">
            <a:solidFill>
              <a:srgbClr val="C9A227"/>
            </a:solidFill>
            <a:prstDash val="solid"/>
          </a:ln>
        </p:spPr>
      </p:sp>
      <p:sp>
        <p:nvSpPr>
          <p:cNvPr id="9" name="Text 7"/>
          <p:cNvSpPr/>
          <p:nvPr/>
        </p:nvSpPr>
        <p:spPr>
          <a:xfrm>
            <a:off x="548640" y="1691640"/>
            <a:ext cx="1737360" cy="640080"/>
          </a:xfrm>
          <a:prstGeom prst="rect">
            <a:avLst/>
          </a:prstGeom>
          <a:noFill/>
          <a:ln/>
        </p:spPr>
        <p:txBody>
          <a:bodyPr wrap="square" rtlCol="0" anchor="ctr">
            <a:normAutofit/>
          </a:bodyPr>
          <a:lstStyle/>
          <a:p>
            <a:pPr indent="0" marL="0">
              <a:buNone/>
            </a:pPr>
            <a:r>
              <a:rPr lang="en-US" sz="2200" b="1" dirty="0">
                <a:solidFill>
                  <a:srgbClr val="1E2761"/>
                </a:solidFill>
                <a:latin typeface="Georgia" pitchFamily="34" charset="0"/>
                <a:ea typeface="Georgia" pitchFamily="34" charset="-122"/>
                <a:cs typeface="Georgia" pitchFamily="34" charset="-120"/>
              </a:rPr>
              <a:t>[$180K]</a:t>
            </a:r>
            <a:endParaRPr lang="en-US" sz="2200" dirty="0"/>
          </a:p>
        </p:txBody>
      </p:sp>
      <p:sp>
        <p:nvSpPr>
          <p:cNvPr id="10" name="Text 8"/>
          <p:cNvSpPr/>
          <p:nvPr/>
        </p:nvSpPr>
        <p:spPr>
          <a:xfrm>
            <a:off x="548640" y="2331720"/>
            <a:ext cx="1737360" cy="502920"/>
          </a:xfrm>
          <a:prstGeom prst="rect">
            <a:avLst/>
          </a:prstGeom>
          <a:noFill/>
          <a:ln/>
        </p:spPr>
        <p:txBody>
          <a:bodyPr wrap="square" rtlCol="0" anchor="ctr"/>
          <a:lstStyle/>
          <a:p>
            <a:pPr indent="0" marL="0">
              <a:buNone/>
            </a:pPr>
            <a:r>
              <a:rPr lang="en-US" sz="1100" dirty="0">
                <a:solidFill>
                  <a:srgbClr val="5D6480"/>
                </a:solidFill>
                <a:latin typeface="Calibri" pitchFamily="34" charset="0"/>
                <a:ea typeface="Calibri" pitchFamily="34" charset="-122"/>
                <a:cs typeface="Calibri" pitchFamily="34" charset="-120"/>
              </a:rPr>
              <a:t>total EL program spending</a:t>
            </a:r>
            <a:endParaRPr lang="en-US" sz="1100" dirty="0"/>
          </a:p>
        </p:txBody>
      </p:sp>
      <p:sp>
        <p:nvSpPr>
          <p:cNvPr id="11" name="Shape 9"/>
          <p:cNvSpPr/>
          <p:nvPr/>
        </p:nvSpPr>
        <p:spPr>
          <a:xfrm>
            <a:off x="2560320" y="1554480"/>
            <a:ext cx="1920240" cy="1371600"/>
          </a:xfrm>
          <a:prstGeom prst="rect">
            <a:avLst/>
          </a:prstGeom>
          <a:solidFill>
            <a:srgbClr val="F4F5FA"/>
          </a:solidFill>
          <a:ln w="12700">
            <a:solidFill>
              <a:srgbClr val="DCDEE9"/>
            </a:solidFill>
            <a:prstDash val="solid"/>
          </a:ln>
        </p:spPr>
      </p:sp>
      <p:sp>
        <p:nvSpPr>
          <p:cNvPr id="12" name="Shape 10"/>
          <p:cNvSpPr/>
          <p:nvPr/>
        </p:nvSpPr>
        <p:spPr>
          <a:xfrm>
            <a:off x="2560320" y="1554480"/>
            <a:ext cx="1920240" cy="73152"/>
          </a:xfrm>
          <a:prstGeom prst="rect">
            <a:avLst/>
          </a:prstGeom>
          <a:solidFill>
            <a:srgbClr val="C9A227"/>
          </a:solidFill>
          <a:ln w="12700">
            <a:solidFill>
              <a:srgbClr val="C9A227"/>
            </a:solidFill>
            <a:prstDash val="solid"/>
          </a:ln>
        </p:spPr>
      </p:sp>
      <p:sp>
        <p:nvSpPr>
          <p:cNvPr id="13" name="Text 11"/>
          <p:cNvSpPr/>
          <p:nvPr/>
        </p:nvSpPr>
        <p:spPr>
          <a:xfrm>
            <a:off x="2651760" y="1691640"/>
            <a:ext cx="1737360" cy="640080"/>
          </a:xfrm>
          <a:prstGeom prst="rect">
            <a:avLst/>
          </a:prstGeom>
          <a:noFill/>
          <a:ln/>
        </p:spPr>
        <p:txBody>
          <a:bodyPr wrap="square" rtlCol="0" anchor="ctr">
            <a:normAutofit/>
          </a:bodyPr>
          <a:lstStyle/>
          <a:p>
            <a:pPr indent="0" marL="0">
              <a:buNone/>
            </a:pPr>
            <a:r>
              <a:rPr lang="en-US" sz="2200" b="1" dirty="0">
                <a:solidFill>
                  <a:srgbClr val="1E2761"/>
                </a:solidFill>
                <a:latin typeface="Georgia" pitchFamily="34" charset="0"/>
                <a:ea typeface="Georgia" pitchFamily="34" charset="-122"/>
                <a:cs typeface="Georgia" pitchFamily="34" charset="-120"/>
              </a:rPr>
              <a:t>[$13.8K]</a:t>
            </a:r>
            <a:endParaRPr lang="en-US" sz="2200" dirty="0"/>
          </a:p>
        </p:txBody>
      </p:sp>
      <p:sp>
        <p:nvSpPr>
          <p:cNvPr id="14" name="Text 12"/>
          <p:cNvSpPr/>
          <p:nvPr/>
        </p:nvSpPr>
        <p:spPr>
          <a:xfrm>
            <a:off x="2651760" y="2331720"/>
            <a:ext cx="1737360" cy="502920"/>
          </a:xfrm>
          <a:prstGeom prst="rect">
            <a:avLst/>
          </a:prstGeom>
          <a:noFill/>
          <a:ln/>
        </p:spPr>
        <p:txBody>
          <a:bodyPr wrap="square" rtlCol="0" anchor="ctr"/>
          <a:lstStyle/>
          <a:p>
            <a:pPr indent="0" marL="0">
              <a:buNone/>
            </a:pPr>
            <a:r>
              <a:rPr lang="en-US" sz="1100" dirty="0">
                <a:solidFill>
                  <a:srgbClr val="5D6480"/>
                </a:solidFill>
                <a:latin typeface="Calibri" pitchFamily="34" charset="0"/>
                <a:ea typeface="Calibri" pitchFamily="34" charset="-122"/>
                <a:cs typeface="Calibri" pitchFamily="34" charset="-120"/>
              </a:rPr>
              <a:t>Title III subgrant</a:t>
            </a:r>
            <a:endParaRPr lang="en-US" sz="1100" dirty="0"/>
          </a:p>
        </p:txBody>
      </p:sp>
      <p:sp>
        <p:nvSpPr>
          <p:cNvPr id="15" name="Shape 13"/>
          <p:cNvSpPr/>
          <p:nvPr/>
        </p:nvSpPr>
        <p:spPr>
          <a:xfrm>
            <a:off x="4663440" y="1554480"/>
            <a:ext cx="1920240" cy="1371600"/>
          </a:xfrm>
          <a:prstGeom prst="rect">
            <a:avLst/>
          </a:prstGeom>
          <a:solidFill>
            <a:srgbClr val="F4F5FA"/>
          </a:solidFill>
          <a:ln w="12700">
            <a:solidFill>
              <a:srgbClr val="DCDEE9"/>
            </a:solidFill>
            <a:prstDash val="solid"/>
          </a:ln>
        </p:spPr>
      </p:sp>
      <p:sp>
        <p:nvSpPr>
          <p:cNvPr id="16" name="Shape 14"/>
          <p:cNvSpPr/>
          <p:nvPr/>
        </p:nvSpPr>
        <p:spPr>
          <a:xfrm>
            <a:off x="4663440" y="1554480"/>
            <a:ext cx="1920240" cy="73152"/>
          </a:xfrm>
          <a:prstGeom prst="rect">
            <a:avLst/>
          </a:prstGeom>
          <a:solidFill>
            <a:srgbClr val="C9A227"/>
          </a:solidFill>
          <a:ln w="12700">
            <a:solidFill>
              <a:srgbClr val="C9A227"/>
            </a:solidFill>
            <a:prstDash val="solid"/>
          </a:ln>
        </p:spPr>
      </p:sp>
      <p:sp>
        <p:nvSpPr>
          <p:cNvPr id="17" name="Text 15"/>
          <p:cNvSpPr/>
          <p:nvPr/>
        </p:nvSpPr>
        <p:spPr>
          <a:xfrm>
            <a:off x="4754880" y="1691640"/>
            <a:ext cx="1737360" cy="640080"/>
          </a:xfrm>
          <a:prstGeom prst="rect">
            <a:avLst/>
          </a:prstGeom>
          <a:noFill/>
          <a:ln/>
        </p:spPr>
        <p:txBody>
          <a:bodyPr wrap="square" rtlCol="0" anchor="ctr">
            <a:normAutofit/>
          </a:bodyPr>
          <a:lstStyle/>
          <a:p>
            <a:pPr indent="0" marL="0">
              <a:buNone/>
            </a:pPr>
            <a:r>
              <a:rPr lang="en-US" sz="2200" b="1" dirty="0">
                <a:solidFill>
                  <a:srgbClr val="1E2761"/>
                </a:solidFill>
                <a:latin typeface="Georgia" pitchFamily="34" charset="0"/>
                <a:ea typeface="Georgia" pitchFamily="34" charset="-122"/>
                <a:cs typeface="Georgia" pitchFamily="34" charset="-120"/>
              </a:rPr>
              <a:t>[8%]</a:t>
            </a:r>
            <a:endParaRPr lang="en-US" sz="2200" dirty="0"/>
          </a:p>
        </p:txBody>
      </p:sp>
      <p:sp>
        <p:nvSpPr>
          <p:cNvPr id="18" name="Text 16"/>
          <p:cNvSpPr/>
          <p:nvPr/>
        </p:nvSpPr>
        <p:spPr>
          <a:xfrm>
            <a:off x="4754880" y="2331720"/>
            <a:ext cx="1737360" cy="502920"/>
          </a:xfrm>
          <a:prstGeom prst="rect">
            <a:avLst/>
          </a:prstGeom>
          <a:noFill/>
          <a:ln/>
        </p:spPr>
        <p:txBody>
          <a:bodyPr wrap="square" rtlCol="0" anchor="ctr"/>
          <a:lstStyle/>
          <a:p>
            <a:pPr indent="0" marL="0">
              <a:buNone/>
            </a:pPr>
            <a:r>
              <a:rPr lang="en-US" sz="1100" dirty="0">
                <a:solidFill>
                  <a:srgbClr val="5D6480"/>
                </a:solidFill>
                <a:latin typeface="Calibri" pitchFamily="34" charset="0"/>
                <a:ea typeface="Calibri" pitchFamily="34" charset="-122"/>
                <a:cs typeface="Calibri" pitchFamily="34" charset="-120"/>
              </a:rPr>
              <a:t>Title III share of EL spending</a:t>
            </a:r>
            <a:endParaRPr lang="en-US" sz="1100" dirty="0"/>
          </a:p>
        </p:txBody>
      </p:sp>
      <p:sp>
        <p:nvSpPr>
          <p:cNvPr id="19" name="Shape 17"/>
          <p:cNvSpPr/>
          <p:nvPr/>
        </p:nvSpPr>
        <p:spPr>
          <a:xfrm>
            <a:off x="6766560" y="1554480"/>
            <a:ext cx="1920240" cy="1371600"/>
          </a:xfrm>
          <a:prstGeom prst="rect">
            <a:avLst/>
          </a:prstGeom>
          <a:solidFill>
            <a:srgbClr val="F4F5FA"/>
          </a:solidFill>
          <a:ln w="12700">
            <a:solidFill>
              <a:srgbClr val="DCDEE9"/>
            </a:solidFill>
            <a:prstDash val="solid"/>
          </a:ln>
        </p:spPr>
      </p:sp>
      <p:sp>
        <p:nvSpPr>
          <p:cNvPr id="20" name="Shape 18"/>
          <p:cNvSpPr/>
          <p:nvPr/>
        </p:nvSpPr>
        <p:spPr>
          <a:xfrm>
            <a:off x="6766560" y="1554480"/>
            <a:ext cx="1920240" cy="73152"/>
          </a:xfrm>
          <a:prstGeom prst="rect">
            <a:avLst/>
          </a:prstGeom>
          <a:solidFill>
            <a:srgbClr val="C9A227"/>
          </a:solidFill>
          <a:ln w="12700">
            <a:solidFill>
              <a:srgbClr val="C9A227"/>
            </a:solidFill>
            <a:prstDash val="solid"/>
          </a:ln>
        </p:spPr>
      </p:sp>
      <p:sp>
        <p:nvSpPr>
          <p:cNvPr id="21" name="Text 19"/>
          <p:cNvSpPr/>
          <p:nvPr/>
        </p:nvSpPr>
        <p:spPr>
          <a:xfrm>
            <a:off x="6858000" y="1691640"/>
            <a:ext cx="1737360" cy="640080"/>
          </a:xfrm>
          <a:prstGeom prst="rect">
            <a:avLst/>
          </a:prstGeom>
          <a:noFill/>
          <a:ln/>
        </p:spPr>
        <p:txBody>
          <a:bodyPr wrap="square" rtlCol="0" anchor="ctr">
            <a:normAutofit/>
          </a:bodyPr>
          <a:lstStyle/>
          <a:p>
            <a:pPr indent="0" marL="0">
              <a:buNone/>
            </a:pPr>
            <a:r>
              <a:rPr lang="en-US" sz="2200" b="1" dirty="0">
                <a:solidFill>
                  <a:srgbClr val="1E2761"/>
                </a:solidFill>
                <a:latin typeface="Georgia" pitchFamily="34" charset="0"/>
                <a:ea typeface="Georgia" pitchFamily="34" charset="-122"/>
                <a:cs typeface="Georgia" pitchFamily="34" charset="-120"/>
              </a:rPr>
              <a:t>[$1,636]</a:t>
            </a:r>
            <a:endParaRPr lang="en-US" sz="2200" dirty="0"/>
          </a:p>
        </p:txBody>
      </p:sp>
      <p:sp>
        <p:nvSpPr>
          <p:cNvPr id="22" name="Text 20"/>
          <p:cNvSpPr/>
          <p:nvPr/>
        </p:nvSpPr>
        <p:spPr>
          <a:xfrm>
            <a:off x="6858000" y="2331720"/>
            <a:ext cx="1737360" cy="502920"/>
          </a:xfrm>
          <a:prstGeom prst="rect">
            <a:avLst/>
          </a:prstGeom>
          <a:noFill/>
          <a:ln/>
        </p:spPr>
        <p:txBody>
          <a:bodyPr wrap="square" rtlCol="0" anchor="ctr"/>
          <a:lstStyle/>
          <a:p>
            <a:pPr indent="0" marL="0">
              <a:buNone/>
            </a:pPr>
            <a:r>
              <a:rPr lang="en-US" sz="1100" dirty="0">
                <a:solidFill>
                  <a:srgbClr val="5D6480"/>
                </a:solidFill>
                <a:latin typeface="Calibri" pitchFamily="34" charset="0"/>
                <a:ea typeface="Calibri" pitchFamily="34" charset="-122"/>
                <a:cs typeface="Calibri" pitchFamily="34" charset="-120"/>
              </a:rPr>
              <a:t>per identified EL, all sources</a:t>
            </a:r>
            <a:endParaRPr lang="en-US" sz="1100" dirty="0"/>
          </a:p>
        </p:txBody>
      </p:sp>
      <p:sp>
        <p:nvSpPr>
          <p:cNvPr id="23" name="Text 21"/>
          <p:cNvSpPr/>
          <p:nvPr/>
        </p:nvSpPr>
        <p:spPr>
          <a:xfrm>
            <a:off x="457200" y="3108960"/>
            <a:ext cx="8229600" cy="1554480"/>
          </a:xfrm>
          <a:prstGeom prst="rect">
            <a:avLst/>
          </a:prstGeom>
          <a:noFill/>
          <a:ln/>
        </p:spPr>
        <p:txBody>
          <a:bodyPr wrap="square" rtlCol="0" anchor="t"/>
          <a:lstStyle/>
          <a:p>
            <a:pPr marL="342900" indent="-342900">
              <a:spcAft>
                <a:spcPts val="600"/>
              </a:spcAft>
              <a:buSzPct val="100000"/>
              <a:buChar char="•"/>
            </a:pPr>
            <a:r>
              <a:rPr lang="en-US" sz="1200" dirty="0">
                <a:solidFill>
                  <a:srgbClr val="1F2330"/>
                </a:solidFill>
                <a:latin typeface="Calibri" pitchFamily="34" charset="0"/>
                <a:ea typeface="Calibri" pitchFamily="34" charset="-122"/>
                <a:cs typeface="Calibri" pitchFamily="34" charset="-120"/>
              </a:rPr>
              <a:t>Required services (identification, the instructional program, qualified teachers, interpretation) are funded from state and local sources, as the law requires.</a:t>
            </a:r>
            <a:endParaRPr lang="en-US" sz="1200" dirty="0"/>
          </a:p>
          <a:p>
            <a:pPr marL="342900" indent="-342900">
              <a:spcAft>
                <a:spcPts val="600"/>
              </a:spcAft>
              <a:buSzPct val="100000"/>
              <a:buChar char="•"/>
            </a:pPr>
            <a:r>
              <a:rPr lang="en-US" sz="1200" dirty="0">
                <a:solidFill>
                  <a:srgbClr val="1F2330"/>
                </a:solidFill>
                <a:latin typeface="Calibri" pitchFamily="34" charset="0"/>
                <a:ea typeface="Calibri" pitchFamily="34" charset="-122"/>
                <a:cs typeface="Calibri" pitchFamily="34" charset="-120"/>
              </a:rPr>
              <a:t>Title III pays only for supplements: [tutoring, PD, family engagement].</a:t>
            </a:r>
            <a:endParaRPr lang="en-US" sz="1200" dirty="0"/>
          </a:p>
          <a:p>
            <a:pPr marL="342900" indent="-342900">
              <a:spcAft>
                <a:spcPts val="600"/>
              </a:spcAft>
              <a:buSzPct val="100000"/>
              <a:buChar char="•"/>
            </a:pPr>
            <a:r>
              <a:rPr lang="en-US" sz="1200" dirty="0">
                <a:solidFill>
                  <a:srgbClr val="1F2330"/>
                </a:solidFill>
                <a:latin typeface="Calibri" pitchFamily="34" charset="0"/>
                <a:ea typeface="Calibri" pitchFamily="34" charset="-122"/>
                <a:cs typeface="Calibri" pitchFamily="34" charset="-120"/>
              </a:rPr>
              <a:t>Federal risk: the House FY2027 bill eliminates Title III; a continuing resolution runs through December 11, 2026. Our required services do not depend on this grant.</a:t>
            </a:r>
            <a:endParaRPr lang="en-US" sz="1200" dirty="0"/>
          </a:p>
          <a:p>
            <a:pPr marL="342900" indent="-342900">
              <a:spcAft>
                <a:spcPts val="600"/>
              </a:spcAft>
              <a:buSzPct val="100000"/>
              <a:buChar char="•"/>
            </a:pPr>
            <a:r>
              <a:rPr lang="en-US" sz="1200" dirty="0">
                <a:solidFill>
                  <a:srgbClr val="1F2330"/>
                </a:solidFill>
                <a:latin typeface="Calibri" pitchFamily="34" charset="0"/>
                <a:ea typeface="Calibri" pitchFamily="34" charset="-122"/>
                <a:cs typeface="Calibri" pitchFamily="34" charset="-120"/>
              </a:rPr>
              <a:t>If Title III ends, [$ amount] of supplemental services would need another source: [Title I / general fund].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365760" y="4754880"/>
            <a:ext cx="6400800" cy="274320"/>
          </a:xfrm>
          <a:prstGeom prst="rect">
            <a:avLst/>
          </a:prstGeom>
          <a:noFill/>
          <a:ln/>
        </p:spPr>
        <p:txBody>
          <a:bodyPr wrap="square" rtlCol="0" anchor="ctr"/>
          <a:lstStyle/>
          <a:p>
            <a:pPr indent="0" marL="0">
              <a:buNone/>
            </a:pPr>
            <a:r>
              <a:rPr lang="en-US" sz="900" dirty="0">
                <a:solidFill>
                  <a:srgbClr val="EBD9A0"/>
                </a:solidFill>
                <a:latin typeface="Calibri" pitchFamily="34" charset="0"/>
                <a:ea typeface="Calibri" pitchFamily="34" charset="-122"/>
                <a:cs typeface="Calibri" pitchFamily="34" charset="-120"/>
              </a:rPr>
              <a:t>[DISTRICT NAME] · State of English Learners · [MONTH YEAR]</a:t>
            </a:r>
            <a:endParaRPr lang="en-US" sz="900" dirty="0"/>
          </a:p>
        </p:txBody>
      </p:sp>
      <p:sp>
        <p:nvSpPr>
          <p:cNvPr id="3" name="Text 1"/>
          <p:cNvSpPr/>
          <p:nvPr/>
        </p:nvSpPr>
        <p:spPr>
          <a:xfrm>
            <a:off x="5669280" y="4754880"/>
            <a:ext cx="3200400" cy="274320"/>
          </a:xfrm>
          <a:prstGeom prst="rect">
            <a:avLst/>
          </a:prstGeom>
          <a:noFill/>
          <a:ln/>
        </p:spPr>
        <p:txBody>
          <a:bodyPr wrap="square" rtlCol="0" anchor="ctr"/>
          <a:lstStyle/>
          <a:p>
            <a:pPr algn="r" indent="0" marL="0">
              <a:buNone/>
            </a:pPr>
            <a:r>
              <a:rPr lang="en-US" sz="900" dirty="0">
                <a:solidFill>
                  <a:srgbClr val="EBD9A0"/>
                </a:solidFill>
                <a:latin typeface="Calibri" pitchFamily="34" charset="0"/>
                <a:ea typeface="Calibri" pitchFamily="34" charset="-122"/>
                <a:cs typeface="Calibri" pitchFamily="34" charset="-120"/>
              </a:rPr>
              <a:t>Template: EL Publishing · radan55.github.io/everyteacher</a:t>
            </a:r>
            <a:endParaRPr lang="en-US" sz="900" dirty="0"/>
          </a:p>
        </p:txBody>
      </p:sp>
      <p:sp>
        <p:nvSpPr>
          <p:cNvPr id="4" name="Text 2"/>
          <p:cNvSpPr/>
          <p:nvPr/>
        </p:nvSpPr>
        <p:spPr>
          <a:xfrm>
            <a:off x="457200" y="320040"/>
            <a:ext cx="8229600" cy="73152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What we recommend</a:t>
            </a:r>
            <a:endParaRPr lang="en-US" sz="3000" dirty="0"/>
          </a:p>
        </p:txBody>
      </p:sp>
      <p:sp>
        <p:nvSpPr>
          <p:cNvPr id="5" name="Text 3"/>
          <p:cNvSpPr/>
          <p:nvPr/>
        </p:nvSpPr>
        <p:spPr>
          <a:xfrm>
            <a:off x="457200" y="1188720"/>
            <a:ext cx="8229600" cy="2377440"/>
          </a:xfrm>
          <a:prstGeom prst="rect">
            <a:avLst/>
          </a:prstGeom>
          <a:noFill/>
          <a:ln/>
        </p:spPr>
        <p:txBody>
          <a:bodyPr wrap="square" rtlCol="0" anchor="t"/>
          <a:lstStyle/>
          <a:p>
            <a:pPr indent="0" marL="0">
              <a:spcAft>
                <a:spcPts val="1200"/>
              </a:spcAft>
              <a:buNone/>
            </a:pPr>
            <a:r>
              <a:rPr lang="en-US" sz="1700" b="1" dirty="0">
                <a:solidFill>
                  <a:srgbClr val="C9A227"/>
                </a:solidFill>
                <a:latin typeface="Calibri" pitchFamily="34" charset="0"/>
                <a:ea typeface="Calibri" pitchFamily="34" charset="-122"/>
                <a:cs typeface="Calibri" pitchFamily="34" charset="-120"/>
              </a:rPr>
              <a:t>1. </a:t>
            </a:r>
            <a:pPr indent="0" marL="0">
              <a:spcAft>
                <a:spcPts val="1200"/>
              </a:spcAft>
              <a:buNone/>
            </a:pPr>
            <a:r>
              <a:rPr lang="en-US" sz="1700" dirty="0">
                <a:solidFill>
                  <a:srgbClr val="FFFFFF"/>
                </a:solidFill>
                <a:latin typeface="Calibri" pitchFamily="34" charset="0"/>
                <a:ea typeface="Calibri" pitchFamily="34" charset="-122"/>
                <a:cs typeface="Calibri" pitchFamily="34" charset="-120"/>
              </a:rPr>
              <a:t>[Close the open legal gap by DATE: action, owner.]</a:t>
            </a:r>
            <a:endParaRPr lang="en-US" sz="1700" dirty="0"/>
          </a:p>
          <a:p>
            <a:pPr indent="0" marL="0">
              <a:spcAft>
                <a:spcPts val="1200"/>
              </a:spcAft>
              <a:buNone/>
            </a:pPr>
            <a:r>
              <a:rPr lang="en-US" sz="1700" b="1" dirty="0">
                <a:solidFill>
                  <a:srgbClr val="C9A227"/>
                </a:solidFill>
                <a:latin typeface="Calibri" pitchFamily="34" charset="0"/>
                <a:ea typeface="Calibri" pitchFamily="34" charset="-122"/>
                <a:cs typeface="Calibri" pitchFamily="34" charset="-120"/>
              </a:rPr>
              <a:t>2. </a:t>
            </a:r>
            <a:pPr indent="0" marL="0">
              <a:spcAft>
                <a:spcPts val="1200"/>
              </a:spcAft>
              <a:buNone/>
            </a:pPr>
            <a:r>
              <a:rPr lang="en-US" sz="1700" dirty="0">
                <a:solidFill>
                  <a:srgbClr val="FFFFFF"/>
                </a:solidFill>
                <a:latin typeface="Calibri" pitchFamily="34" charset="0"/>
                <a:ea typeface="Calibri" pitchFamily="34" charset="-122"/>
                <a:cs typeface="Calibri" pitchFamily="34" charset="-120"/>
              </a:rPr>
              <a:t>[Target the students one domain short of exit with X minutes per week of domain-specific instruction through the ELPT window (March 1 – April 16).]</a:t>
            </a:r>
            <a:endParaRPr lang="en-US" sz="1700" dirty="0"/>
          </a:p>
          <a:p>
            <a:pPr indent="0" marL="0">
              <a:spcAft>
                <a:spcPts val="1200"/>
              </a:spcAft>
              <a:buNone/>
            </a:pPr>
            <a:r>
              <a:rPr lang="en-US" sz="1700" b="1" dirty="0">
                <a:solidFill>
                  <a:srgbClr val="C9A227"/>
                </a:solidFill>
                <a:latin typeface="Calibri" pitchFamily="34" charset="0"/>
                <a:ea typeface="Calibri" pitchFamily="34" charset="-122"/>
                <a:cs typeface="Calibri" pitchFamily="34" charset="-120"/>
              </a:rPr>
              <a:t>3. </a:t>
            </a:r>
            <a:pPr indent="0" marL="0">
              <a:spcAft>
                <a:spcPts val="1200"/>
              </a:spcAft>
              <a:buNone/>
            </a:pPr>
            <a:r>
              <a:rPr lang="en-US" sz="1700" dirty="0">
                <a:solidFill>
                  <a:srgbClr val="FFFFFF"/>
                </a:solidFill>
                <a:latin typeface="Calibri" pitchFamily="34" charset="0"/>
                <a:ea typeface="Calibri" pitchFamily="34" charset="-122"/>
                <a:cs typeface="Calibri" pitchFamily="34" charset="-120"/>
              </a:rPr>
              <a:t>[Move required EL services off Title III in the FY27 budget; keep Title III for supplements.]</a:t>
            </a:r>
            <a:endParaRPr lang="en-US" sz="1700" dirty="0"/>
          </a:p>
        </p:txBody>
      </p:sp>
      <p:sp>
        <p:nvSpPr>
          <p:cNvPr id="6" name="Text 4"/>
          <p:cNvSpPr/>
          <p:nvPr/>
        </p:nvSpPr>
        <p:spPr>
          <a:xfrm>
            <a:off x="457200" y="3749040"/>
            <a:ext cx="8229600" cy="548640"/>
          </a:xfrm>
          <a:prstGeom prst="rect">
            <a:avLst/>
          </a:prstGeom>
          <a:noFill/>
          <a:ln/>
        </p:spPr>
        <p:txBody>
          <a:bodyPr wrap="square" rtlCol="0" anchor="ctr"/>
          <a:lstStyle/>
          <a:p>
            <a:pPr indent="0" marL="0">
              <a:buNone/>
            </a:pPr>
            <a:r>
              <a:rPr lang="en-US" sz="1400" i="1" dirty="0">
                <a:solidFill>
                  <a:srgbClr val="EBD9A0"/>
                </a:solidFill>
                <a:latin typeface="Calibri" pitchFamily="34" charset="0"/>
                <a:ea typeface="Calibri" pitchFamily="34" charset="-122"/>
                <a:cs typeface="Calibri" pitchFamily="34" charset="-120"/>
              </a:rPr>
              <a:t>Decision requested of the board: [approve / receive as information / direct staff to return with ___ by ___].</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9A227"/>
          </a:solidFill>
          <a:ln w="12700">
            <a:solidFill>
              <a:srgbClr val="C9A227"/>
            </a:solidFill>
            <a:prstDash val="solid"/>
          </a:ln>
        </p:spPr>
      </p:sp>
      <p:sp>
        <p:nvSpPr>
          <p:cNvPr id="3" name="Text 1"/>
          <p:cNvSpPr/>
          <p:nvPr/>
        </p:nvSpPr>
        <p:spPr>
          <a:xfrm>
            <a:off x="365760" y="4754880"/>
            <a:ext cx="6400800" cy="274320"/>
          </a:xfrm>
          <a:prstGeom prst="rect">
            <a:avLst/>
          </a:prstGeom>
          <a:noFill/>
          <a:ln/>
        </p:spPr>
        <p:txBody>
          <a:bodyPr wrap="square" rtlCol="0" anchor="ctr"/>
          <a:lstStyle/>
          <a:p>
            <a:pPr indent="0" marL="0">
              <a:buNone/>
            </a:pPr>
            <a:r>
              <a:rPr lang="en-US" sz="900" dirty="0">
                <a:solidFill>
                  <a:srgbClr val="5D6480"/>
                </a:solidFill>
                <a:latin typeface="Calibri" pitchFamily="34" charset="0"/>
                <a:ea typeface="Calibri" pitchFamily="34" charset="-122"/>
                <a:cs typeface="Calibri" pitchFamily="34" charset="-120"/>
              </a:rPr>
              <a:t>[DISTRICT NAME] · State of English Learners · [MONTH YEAR]</a:t>
            </a:r>
            <a:endParaRPr lang="en-US" sz="900" dirty="0"/>
          </a:p>
        </p:txBody>
      </p:sp>
      <p:sp>
        <p:nvSpPr>
          <p:cNvPr id="4" name="Text 2"/>
          <p:cNvSpPr/>
          <p:nvPr/>
        </p:nvSpPr>
        <p:spPr>
          <a:xfrm>
            <a:off x="5669280" y="4754880"/>
            <a:ext cx="3200400" cy="274320"/>
          </a:xfrm>
          <a:prstGeom prst="rect">
            <a:avLst/>
          </a:prstGeom>
          <a:noFill/>
          <a:ln/>
        </p:spPr>
        <p:txBody>
          <a:bodyPr wrap="square" rtlCol="0" anchor="ctr"/>
          <a:lstStyle/>
          <a:p>
            <a:pPr algn="r" indent="0" marL="0">
              <a:buNone/>
            </a:pPr>
            <a:r>
              <a:rPr lang="en-US" sz="900" dirty="0">
                <a:solidFill>
                  <a:srgbClr val="5D6480"/>
                </a:solidFill>
                <a:latin typeface="Calibri" pitchFamily="34" charset="0"/>
                <a:ea typeface="Calibri" pitchFamily="34" charset="-122"/>
                <a:cs typeface="Calibri" pitchFamily="34" charset="-120"/>
              </a:rPr>
              <a:t>Template: EL Publishing · radan55.github.io/everyteacher</a:t>
            </a:r>
            <a:endParaRPr lang="en-US" sz="900" dirty="0"/>
          </a:p>
        </p:txBody>
      </p:sp>
      <p:sp>
        <p:nvSpPr>
          <p:cNvPr id="5" name="Text 3"/>
          <p:cNvSpPr/>
          <p:nvPr/>
        </p:nvSpPr>
        <p:spPr>
          <a:xfrm>
            <a:off x="457200" y="320040"/>
            <a:ext cx="8229600" cy="73152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Appendix: definitions and sources</a:t>
            </a:r>
            <a:endParaRPr lang="en-US" sz="3000" dirty="0"/>
          </a:p>
        </p:txBody>
      </p:sp>
      <p:sp>
        <p:nvSpPr>
          <p:cNvPr id="6" name="Text 4"/>
          <p:cNvSpPr/>
          <p:nvPr/>
        </p:nvSpPr>
        <p:spPr>
          <a:xfrm>
            <a:off x="457200" y="1005840"/>
            <a:ext cx="8229600" cy="365760"/>
          </a:xfrm>
          <a:prstGeom prst="rect">
            <a:avLst/>
          </a:prstGeom>
          <a:noFill/>
          <a:ln/>
        </p:spPr>
        <p:txBody>
          <a:bodyPr wrap="square" rtlCol="0" anchor="ctr"/>
          <a:lstStyle/>
          <a:p>
            <a:pPr indent="0" marL="0">
              <a:buNone/>
            </a:pPr>
            <a:r>
              <a:rPr lang="en-US" sz="1400" dirty="0">
                <a:solidFill>
                  <a:srgbClr val="5D6480"/>
                </a:solidFill>
                <a:latin typeface="Calibri" pitchFamily="34" charset="0"/>
                <a:ea typeface="Calibri" pitchFamily="34" charset="-122"/>
                <a:cs typeface="Calibri" pitchFamily="34" charset="-120"/>
              </a:rPr>
              <a:t>For the record</a:t>
            </a:r>
            <a:endParaRPr lang="en-US" sz="1400" dirty="0"/>
          </a:p>
        </p:txBody>
      </p:sp>
      <p:sp>
        <p:nvSpPr>
          <p:cNvPr id="7" name="Text 5"/>
          <p:cNvSpPr/>
          <p:nvPr/>
        </p:nvSpPr>
        <p:spPr>
          <a:xfrm>
            <a:off x="457200" y="1463040"/>
            <a:ext cx="8229600" cy="3108960"/>
          </a:xfrm>
          <a:prstGeom prst="rect">
            <a:avLst/>
          </a:prstGeom>
          <a:noFill/>
          <a:ln/>
        </p:spPr>
        <p:txBody>
          <a:bodyPr wrap="square" rtlCol="0" anchor="t"/>
          <a:lstStyle/>
          <a:p>
            <a:pPr marL="342900" indent="-342900">
              <a:spcAft>
                <a:spcPts val="600"/>
              </a:spcAft>
              <a:buSzPct val="100000"/>
              <a:buChar char="•"/>
            </a:pPr>
            <a:r>
              <a:rPr lang="en-US" sz="1200" dirty="0">
                <a:solidFill>
                  <a:srgbClr val="1F2330"/>
                </a:solidFill>
                <a:latin typeface="Calibri" pitchFamily="34" charset="0"/>
                <a:ea typeface="Calibri" pitchFamily="34" charset="-122"/>
                <a:cs typeface="Calibri" pitchFamily="34" charset="-120"/>
              </a:rPr>
              <a:t>English learner (EL): a student identified through the Home Language Survey and the ELPA21 screener who has not yet met the state exit standard.</a:t>
            </a:r>
            <a:endParaRPr lang="en-US" sz="1200" dirty="0"/>
          </a:p>
          <a:p>
            <a:pPr marL="342900" indent="-342900">
              <a:spcAft>
                <a:spcPts val="600"/>
              </a:spcAft>
              <a:buSzPct val="100000"/>
              <a:buChar char="•"/>
            </a:pPr>
            <a:r>
              <a:rPr lang="en-US" sz="1200" dirty="0">
                <a:solidFill>
                  <a:srgbClr val="1F2330"/>
                </a:solidFill>
                <a:latin typeface="Calibri" pitchFamily="34" charset="0"/>
                <a:ea typeface="Calibri" pitchFamily="34" charset="-122"/>
                <a:cs typeface="Calibri" pitchFamily="34" charset="-120"/>
              </a:rPr>
              <a:t>Exit standard: Level 4 or higher in each ELPT domain on the same administration (Mississippi State Board of Education, June 19, 2025).</a:t>
            </a:r>
            <a:endParaRPr lang="en-US" sz="1200" dirty="0"/>
          </a:p>
          <a:p>
            <a:pPr marL="342900" indent="-342900">
              <a:spcAft>
                <a:spcPts val="600"/>
              </a:spcAft>
              <a:buSzPct val="100000"/>
              <a:buChar char="•"/>
            </a:pPr>
            <a:r>
              <a:rPr lang="en-US" sz="1200" dirty="0">
                <a:solidFill>
                  <a:srgbClr val="1F2330"/>
                </a:solidFill>
                <a:latin typeface="Calibri" pitchFamily="34" charset="0"/>
                <a:ea typeface="Calibri" pitchFamily="34" charset="-122"/>
                <a:cs typeface="Calibri" pitchFamily="34" charset="-120"/>
              </a:rPr>
              <a:t>Monitoring: four years after exit; grades and assessments reviewed on a schedule.</a:t>
            </a:r>
            <a:endParaRPr lang="en-US" sz="1200" dirty="0"/>
          </a:p>
          <a:p>
            <a:pPr marL="342900" indent="-342900">
              <a:spcAft>
                <a:spcPts val="600"/>
              </a:spcAft>
              <a:buSzPct val="100000"/>
              <a:buChar char="•"/>
            </a:pPr>
            <a:r>
              <a:rPr lang="en-US" sz="1200" dirty="0">
                <a:solidFill>
                  <a:srgbClr val="1F2330"/>
                </a:solidFill>
                <a:latin typeface="Calibri" pitchFamily="34" charset="0"/>
                <a:ea typeface="Calibri" pitchFamily="34" charset="-122"/>
                <a:cs typeface="Calibri" pitchFamily="34" charset="-120"/>
              </a:rPr>
              <a:t>Four lanes: Newcomer (ELPT Level 1), Emerging (1–2), Progressing (3–4), Challenge (4–5).</a:t>
            </a:r>
            <a:endParaRPr lang="en-US" sz="1200" dirty="0"/>
          </a:p>
          <a:p>
            <a:pPr marL="342900" indent="-342900">
              <a:spcAft>
                <a:spcPts val="600"/>
              </a:spcAft>
              <a:buSzPct val="100000"/>
              <a:buChar char="•"/>
            </a:pPr>
            <a:r>
              <a:rPr lang="en-US" sz="1200" dirty="0">
                <a:solidFill>
                  <a:srgbClr val="1F2330"/>
                </a:solidFill>
                <a:latin typeface="Calibri" pitchFamily="34" charset="0"/>
                <a:ea typeface="Calibri" pitchFamily="34" charset="-122"/>
                <a:cs typeface="Calibri" pitchFamily="34" charset="-120"/>
              </a:rPr>
              <a:t>Legal basis: Title VI of the Civil Rights Act; Equal Educational Opportunities Act; Lau v. Nichols; Castañeda v. Pickard; Plyler v. Doe; ESSA Titles I and III; Mississippi Testing Accommodations Manual (Feb. 2026).</a:t>
            </a:r>
            <a:endParaRPr lang="en-US" sz="1200" dirty="0"/>
          </a:p>
          <a:p>
            <a:pPr marL="342900" indent="-342900">
              <a:spcAft>
                <a:spcPts val="600"/>
              </a:spcAft>
              <a:buSzPct val="100000"/>
              <a:buChar char="•"/>
            </a:pPr>
            <a:r>
              <a:rPr lang="en-US" sz="1200" dirty="0">
                <a:solidFill>
                  <a:srgbClr val="1F2330"/>
                </a:solidFill>
                <a:latin typeface="Calibri" pitchFamily="34" charset="0"/>
                <a:ea typeface="Calibri" pitchFamily="34" charset="-122"/>
                <a:cs typeface="Calibri" pitchFamily="34" charset="-120"/>
              </a:rPr>
              <a:t>Tools: EL Outcomes Dashboard, EL Program Self-Audit, Title III Planner, Mississippi EL Policy Brief at radan55.github.io/everyteacher.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2026-10-05T17:44:52Z</dcterms:created>
  <dcterms:modified xsi:type="dcterms:W3CDTF">2026-10-05T17:44:52Z</dcterms:modified>
</cp:coreProperties>
</file>